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55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93D0"/>
          </a:solidFill>
          <a:ln w="12700">
            <a:solidFill>
              <a:srgbClr val="0093D0"/>
            </a:solidFill>
            <a:prstDash val="solid"/>
          </a:ln>
        </p:spPr>
        <p:txBody>
          <a:bodyPr/>
          <a:lstStyle/>
          <a:p>
            <a:endParaRPr lang="en-IN"/>
          </a:p>
        </p:txBody>
      </p:sp>
      <p:sp>
        <p:nvSpPr>
          <p:cNvPr id="3" name="Text 1"/>
          <p:cNvSpPr/>
          <p:nvPr/>
        </p:nvSpPr>
        <p:spPr>
          <a:xfrm>
            <a:off x="594360" y="384048"/>
            <a:ext cx="8229600" cy="219456"/>
          </a:xfrm>
          <a:prstGeom prst="rect">
            <a:avLst/>
          </a:prstGeom>
          <a:noFill/>
          <a:ln/>
        </p:spPr>
        <p:txBody>
          <a:bodyPr wrap="square" lIns="0" tIns="0" rIns="0" bIns="0" rtlCol="0" anchor="ctr"/>
          <a:lstStyle/>
          <a:p>
            <a:pPr marL="0" indent="0">
              <a:buNone/>
            </a:pPr>
            <a:r>
              <a:rPr lang="en-US" sz="850" b="1" kern="0" spc="300" dirty="0">
                <a:solidFill>
                  <a:srgbClr val="3A7A9C"/>
                </a:solidFill>
                <a:latin typeface="Calibri" pitchFamily="34" charset="0"/>
                <a:ea typeface="Calibri" pitchFamily="34" charset="-122"/>
                <a:cs typeface="Calibri" pitchFamily="34" charset="-120"/>
              </a:rPr>
              <a:t>PMM PORTFOLIO PROJECT — PHARMACEUTICAL LAUNCH EXCELLENCE</a:t>
            </a:r>
            <a:endParaRPr lang="en-US" sz="850" dirty="0"/>
          </a:p>
        </p:txBody>
      </p:sp>
      <p:sp>
        <p:nvSpPr>
          <p:cNvPr id="4" name="Text 2"/>
          <p:cNvSpPr/>
          <p:nvPr/>
        </p:nvSpPr>
        <p:spPr>
          <a:xfrm>
            <a:off x="594360" y="749808"/>
            <a:ext cx="8321040" cy="777240"/>
          </a:xfrm>
          <a:prstGeom prst="rect">
            <a:avLst/>
          </a:prstGeom>
          <a:noFill/>
          <a:ln/>
        </p:spPr>
        <p:txBody>
          <a:bodyPr wrap="square" lIns="0" tIns="0" rIns="0" bIns="0" rtlCol="0" anchor="ctr"/>
          <a:lstStyle/>
          <a:p>
            <a:pPr marL="0" indent="0">
              <a:buNone/>
            </a:pPr>
            <a:r>
              <a:rPr lang="en-US" sz="4400" dirty="0">
                <a:solidFill>
                  <a:srgbClr val="FFFFFF"/>
                </a:solidFill>
                <a:latin typeface="Georgia" pitchFamily="34" charset="0"/>
                <a:ea typeface="Georgia" pitchFamily="34" charset="-122"/>
                <a:cs typeface="Georgia" pitchFamily="34" charset="-120"/>
              </a:rPr>
              <a:t>Padcev First-Line:</a:t>
            </a:r>
            <a:endParaRPr lang="en-US" sz="4400" dirty="0"/>
          </a:p>
        </p:txBody>
      </p:sp>
      <p:sp>
        <p:nvSpPr>
          <p:cNvPr id="5" name="Text 3"/>
          <p:cNvSpPr/>
          <p:nvPr/>
        </p:nvSpPr>
        <p:spPr>
          <a:xfrm>
            <a:off x="594360" y="1481328"/>
            <a:ext cx="8321040" cy="685800"/>
          </a:xfrm>
          <a:prstGeom prst="rect">
            <a:avLst/>
          </a:prstGeom>
          <a:noFill/>
          <a:ln/>
        </p:spPr>
        <p:txBody>
          <a:bodyPr wrap="square" lIns="0" tIns="0" rIns="0" bIns="0" rtlCol="0" anchor="ctr"/>
          <a:lstStyle/>
          <a:p>
            <a:pPr marL="0" indent="0">
              <a:buNone/>
            </a:pPr>
            <a:r>
              <a:rPr lang="en-US" sz="2200" i="1" dirty="0">
                <a:solidFill>
                  <a:srgbClr val="7DD3F0"/>
                </a:solidFill>
                <a:latin typeface="Georgia" pitchFamily="34" charset="0"/>
                <a:ea typeface="Georgia" pitchFamily="34" charset="-122"/>
                <a:cs typeface="Georgia" pitchFamily="34" charset="-120"/>
              </a:rPr>
              <a:t>Turning the $43B Seagen Bet Into Market Leadership</a:t>
            </a:r>
            <a:endParaRPr lang="en-US" sz="2200" dirty="0"/>
          </a:p>
        </p:txBody>
      </p:sp>
      <p:sp>
        <p:nvSpPr>
          <p:cNvPr id="6" name="Shape 4"/>
          <p:cNvSpPr/>
          <p:nvPr/>
        </p:nvSpPr>
        <p:spPr>
          <a:xfrm>
            <a:off x="594360" y="2359152"/>
            <a:ext cx="8046720" cy="18288"/>
          </a:xfrm>
          <a:prstGeom prst="rect">
            <a:avLst/>
          </a:prstGeom>
          <a:solidFill>
            <a:srgbClr val="0E2E5A"/>
          </a:solidFill>
          <a:ln w="12700">
            <a:solidFill>
              <a:srgbClr val="0E2E5A"/>
            </a:solidFill>
            <a:prstDash val="solid"/>
          </a:ln>
        </p:spPr>
        <p:txBody>
          <a:bodyPr/>
          <a:lstStyle/>
          <a:p>
            <a:endParaRPr lang="en-IN"/>
          </a:p>
        </p:txBody>
      </p:sp>
      <p:sp>
        <p:nvSpPr>
          <p:cNvPr id="7" name="Text 5"/>
          <p:cNvSpPr/>
          <p:nvPr/>
        </p:nvSpPr>
        <p:spPr>
          <a:xfrm>
            <a:off x="594360" y="2514600"/>
            <a:ext cx="1920240" cy="182880"/>
          </a:xfrm>
          <a:prstGeom prst="rect">
            <a:avLst/>
          </a:prstGeom>
          <a:noFill/>
          <a:ln/>
        </p:spPr>
        <p:txBody>
          <a:bodyPr wrap="square" lIns="0" tIns="0" rIns="0" bIns="0" rtlCol="0" anchor="ctr"/>
          <a:lstStyle/>
          <a:p>
            <a:pPr marL="0" indent="0">
              <a:buNone/>
            </a:pPr>
            <a:r>
              <a:rPr lang="en-US" sz="750" b="1" kern="0" spc="200" dirty="0">
                <a:solidFill>
                  <a:srgbClr val="3A7A9C"/>
                </a:solidFill>
                <a:latin typeface="Calibri" pitchFamily="34" charset="0"/>
                <a:ea typeface="Calibri" pitchFamily="34" charset="-122"/>
                <a:cs typeface="Calibri" pitchFamily="34" charset="-120"/>
              </a:rPr>
              <a:t>COMPANY</a:t>
            </a:r>
            <a:endParaRPr lang="en-US" sz="750" dirty="0"/>
          </a:p>
        </p:txBody>
      </p:sp>
      <p:sp>
        <p:nvSpPr>
          <p:cNvPr id="8" name="Text 6"/>
          <p:cNvSpPr/>
          <p:nvPr/>
        </p:nvSpPr>
        <p:spPr>
          <a:xfrm>
            <a:off x="594360" y="2697480"/>
            <a:ext cx="192024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Pfizer / Astellas</a:t>
            </a:r>
            <a:endParaRPr lang="en-US" sz="1200" dirty="0"/>
          </a:p>
        </p:txBody>
      </p:sp>
      <p:sp>
        <p:nvSpPr>
          <p:cNvPr id="9" name="Text 7"/>
          <p:cNvSpPr/>
          <p:nvPr/>
        </p:nvSpPr>
        <p:spPr>
          <a:xfrm>
            <a:off x="2651760" y="2514600"/>
            <a:ext cx="1920240" cy="182880"/>
          </a:xfrm>
          <a:prstGeom prst="rect">
            <a:avLst/>
          </a:prstGeom>
          <a:noFill/>
          <a:ln/>
        </p:spPr>
        <p:txBody>
          <a:bodyPr wrap="square" lIns="0" tIns="0" rIns="0" bIns="0" rtlCol="0" anchor="ctr"/>
          <a:lstStyle/>
          <a:p>
            <a:pPr marL="0" indent="0">
              <a:buNone/>
            </a:pPr>
            <a:r>
              <a:rPr lang="en-US" sz="750" b="1" kern="0" spc="200" dirty="0">
                <a:solidFill>
                  <a:srgbClr val="3A7A9C"/>
                </a:solidFill>
                <a:latin typeface="Calibri" pitchFamily="34" charset="0"/>
                <a:ea typeface="Calibri" pitchFamily="34" charset="-122"/>
                <a:cs typeface="Calibri" pitchFamily="34" charset="-120"/>
              </a:rPr>
              <a:t>PRODUCT</a:t>
            </a:r>
            <a:endParaRPr lang="en-US" sz="750" dirty="0"/>
          </a:p>
        </p:txBody>
      </p:sp>
      <p:sp>
        <p:nvSpPr>
          <p:cNvPr id="10" name="Text 8"/>
          <p:cNvSpPr/>
          <p:nvPr/>
        </p:nvSpPr>
        <p:spPr>
          <a:xfrm>
            <a:off x="2651760" y="2697480"/>
            <a:ext cx="192024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Padcev + Keytruda</a:t>
            </a:r>
            <a:endParaRPr lang="en-US" sz="1200" dirty="0"/>
          </a:p>
        </p:txBody>
      </p:sp>
      <p:sp>
        <p:nvSpPr>
          <p:cNvPr id="11" name="Text 9"/>
          <p:cNvSpPr/>
          <p:nvPr/>
        </p:nvSpPr>
        <p:spPr>
          <a:xfrm>
            <a:off x="4709160" y="2514600"/>
            <a:ext cx="1920240" cy="182880"/>
          </a:xfrm>
          <a:prstGeom prst="rect">
            <a:avLst/>
          </a:prstGeom>
          <a:noFill/>
          <a:ln/>
        </p:spPr>
        <p:txBody>
          <a:bodyPr wrap="square" lIns="0" tIns="0" rIns="0" bIns="0" rtlCol="0" anchor="ctr"/>
          <a:lstStyle/>
          <a:p>
            <a:pPr marL="0" indent="0">
              <a:buNone/>
            </a:pPr>
            <a:r>
              <a:rPr lang="en-US" sz="750" b="1" kern="0" spc="200" dirty="0">
                <a:solidFill>
                  <a:srgbClr val="3A7A9C"/>
                </a:solidFill>
                <a:latin typeface="Calibri" pitchFamily="34" charset="0"/>
                <a:ea typeface="Calibri" pitchFamily="34" charset="-122"/>
                <a:cs typeface="Calibri" pitchFamily="34" charset="-120"/>
              </a:rPr>
              <a:t>FDA APPROVAL</a:t>
            </a:r>
            <a:endParaRPr lang="en-US" sz="750" dirty="0"/>
          </a:p>
        </p:txBody>
      </p:sp>
      <p:sp>
        <p:nvSpPr>
          <p:cNvPr id="12" name="Text 10"/>
          <p:cNvSpPr/>
          <p:nvPr/>
        </p:nvSpPr>
        <p:spPr>
          <a:xfrm>
            <a:off x="4709160" y="2697480"/>
            <a:ext cx="192024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April 3, 2024</a:t>
            </a:r>
            <a:endParaRPr lang="en-US" sz="1200" dirty="0"/>
          </a:p>
        </p:txBody>
      </p:sp>
      <p:sp>
        <p:nvSpPr>
          <p:cNvPr id="13" name="Text 11"/>
          <p:cNvSpPr/>
          <p:nvPr/>
        </p:nvSpPr>
        <p:spPr>
          <a:xfrm>
            <a:off x="6766560" y="2514600"/>
            <a:ext cx="1920240" cy="182880"/>
          </a:xfrm>
          <a:prstGeom prst="rect">
            <a:avLst/>
          </a:prstGeom>
          <a:noFill/>
          <a:ln/>
        </p:spPr>
        <p:txBody>
          <a:bodyPr wrap="square" lIns="0" tIns="0" rIns="0" bIns="0" rtlCol="0" anchor="ctr"/>
          <a:lstStyle/>
          <a:p>
            <a:pPr marL="0" indent="0">
              <a:buNone/>
            </a:pPr>
            <a:r>
              <a:rPr lang="en-US" sz="750" b="1" kern="0" spc="200" dirty="0">
                <a:solidFill>
                  <a:srgbClr val="3A7A9C"/>
                </a:solidFill>
                <a:latin typeface="Calibri" pitchFamily="34" charset="0"/>
                <a:ea typeface="Calibri" pitchFamily="34" charset="-122"/>
                <a:cs typeface="Calibri" pitchFamily="34" charset="-120"/>
              </a:rPr>
              <a:t>DELIVERABLES</a:t>
            </a:r>
            <a:endParaRPr lang="en-US" sz="750" dirty="0"/>
          </a:p>
        </p:txBody>
      </p:sp>
      <p:sp>
        <p:nvSpPr>
          <p:cNvPr id="14" name="Text 12"/>
          <p:cNvSpPr/>
          <p:nvPr/>
        </p:nvSpPr>
        <p:spPr>
          <a:xfrm>
            <a:off x="6766560" y="2697480"/>
            <a:ext cx="1920240" cy="25603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7 Documents</a:t>
            </a:r>
            <a:endParaRPr lang="en-US" sz="1200" dirty="0"/>
          </a:p>
        </p:txBody>
      </p:sp>
      <p:sp>
        <p:nvSpPr>
          <p:cNvPr id="15" name="Text 13"/>
          <p:cNvSpPr/>
          <p:nvPr/>
        </p:nvSpPr>
        <p:spPr>
          <a:xfrm>
            <a:off x="594360" y="3154680"/>
            <a:ext cx="8229600" cy="621792"/>
          </a:xfrm>
          <a:prstGeom prst="rect">
            <a:avLst/>
          </a:prstGeom>
          <a:noFill/>
          <a:ln/>
        </p:spPr>
        <p:txBody>
          <a:bodyPr wrap="square" lIns="0" tIns="0" rIns="0" bIns="0" rtlCol="0" anchor="ctr"/>
          <a:lstStyle/>
          <a:p>
            <a:pPr marL="0" indent="0">
              <a:buNone/>
            </a:pPr>
            <a:r>
              <a:rPr lang="en-US" sz="1100" i="1" dirty="0">
                <a:solidFill>
                  <a:srgbClr val="4A7A9A"/>
                </a:solidFill>
                <a:latin typeface="Calibri" pitchFamily="34" charset="0"/>
                <a:ea typeface="Calibri" pitchFamily="34" charset="-122"/>
                <a:cs typeface="Calibri" pitchFamily="34" charset="-120"/>
              </a:rPr>
              <a:t>In December 2023 Pfizer closed its acquisition of Seagen for $43 billion — the largest in its 175-year history. Padcev's first-line approval is the first commercial validation of that bet. This package builds the complete launch strategy to turn a landmark clinical trial into market leadership.</a:t>
            </a:r>
            <a:endParaRPr lang="en-US" sz="1100" dirty="0"/>
          </a:p>
        </p:txBody>
      </p:sp>
      <p:sp>
        <p:nvSpPr>
          <p:cNvPr id="16" name="Shape 14"/>
          <p:cNvSpPr/>
          <p:nvPr/>
        </p:nvSpPr>
        <p:spPr>
          <a:xfrm>
            <a:off x="7132320" y="4553712"/>
            <a:ext cx="1600200" cy="347472"/>
          </a:xfrm>
          <a:prstGeom prst="rect">
            <a:avLst/>
          </a:prstGeom>
          <a:solidFill>
            <a:srgbClr val="006BA6"/>
          </a:solidFill>
          <a:ln w="12700">
            <a:solidFill>
              <a:srgbClr val="006BA6"/>
            </a:solidFill>
            <a:prstDash val="solid"/>
          </a:ln>
        </p:spPr>
        <p:txBody>
          <a:bodyPr/>
          <a:lstStyle/>
          <a:p>
            <a:endParaRPr lang="en-IN"/>
          </a:p>
        </p:txBody>
      </p:sp>
      <p:sp>
        <p:nvSpPr>
          <p:cNvPr id="17" name="Text 15"/>
          <p:cNvSpPr/>
          <p:nvPr/>
        </p:nvSpPr>
        <p:spPr>
          <a:xfrm>
            <a:off x="7132320" y="4553712"/>
            <a:ext cx="1600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1L LAUNCH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240"/>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5BAFCF"/>
                </a:solidFill>
                <a:latin typeface="Calibri" pitchFamily="34" charset="0"/>
                <a:ea typeface="Calibri" pitchFamily="34" charset="-122"/>
                <a:cs typeface="Calibri" pitchFamily="34" charset="-120"/>
              </a:rPr>
              <a:t>THE INVESTMENT THESIS</a:t>
            </a:r>
            <a:endParaRPr lang="en-US" sz="850" dirty="0"/>
          </a:p>
        </p:txBody>
      </p:sp>
      <p:sp>
        <p:nvSpPr>
          <p:cNvPr id="3" name="Shape 1"/>
          <p:cNvSpPr/>
          <p:nvPr/>
        </p:nvSpPr>
        <p:spPr>
          <a:xfrm>
            <a:off x="502920" y="530352"/>
            <a:ext cx="8229600" cy="18288"/>
          </a:xfrm>
          <a:prstGeom prst="rect">
            <a:avLst/>
          </a:prstGeom>
          <a:solidFill>
            <a:srgbClr val="0E2E5A"/>
          </a:solidFill>
          <a:ln w="12700">
            <a:solidFill>
              <a:srgbClr val="0E2E5A"/>
            </a:solidFill>
            <a:prstDash val="solid"/>
          </a:ln>
        </p:spPr>
        <p:txBody>
          <a:bodyPr/>
          <a:lstStyle/>
          <a:p>
            <a:endParaRPr lang="en-IN"/>
          </a:p>
        </p:txBody>
      </p:sp>
      <p:sp>
        <p:nvSpPr>
          <p:cNvPr id="4" name="Text 2"/>
          <p:cNvSpPr/>
          <p:nvPr/>
        </p:nvSpPr>
        <p:spPr>
          <a:xfrm>
            <a:off x="502920" y="685800"/>
            <a:ext cx="3657600" cy="2011680"/>
          </a:xfrm>
          <a:prstGeom prst="rect">
            <a:avLst/>
          </a:prstGeom>
          <a:noFill/>
          <a:ln/>
        </p:spPr>
        <p:txBody>
          <a:bodyPr wrap="square" lIns="0" tIns="0" rIns="0" bIns="0" rtlCol="0" anchor="ctr"/>
          <a:lstStyle/>
          <a:p>
            <a:pPr marL="0" indent="0">
              <a:buNone/>
            </a:pPr>
            <a:r>
              <a:rPr lang="en-US" sz="12000" dirty="0">
                <a:solidFill>
                  <a:srgbClr val="7DD3F0"/>
                </a:solidFill>
                <a:latin typeface="Georgia" pitchFamily="34" charset="0"/>
                <a:ea typeface="Georgia" pitchFamily="34" charset="-122"/>
                <a:cs typeface="Georgia" pitchFamily="34" charset="-120"/>
              </a:rPr>
              <a:t>$43</a:t>
            </a:r>
            <a:endParaRPr lang="en-US" sz="12000" dirty="0"/>
          </a:p>
        </p:txBody>
      </p:sp>
      <p:sp>
        <p:nvSpPr>
          <p:cNvPr id="5" name="Text 3"/>
          <p:cNvSpPr/>
          <p:nvPr/>
        </p:nvSpPr>
        <p:spPr>
          <a:xfrm>
            <a:off x="502920" y="2542032"/>
            <a:ext cx="3200400" cy="411480"/>
          </a:xfrm>
          <a:prstGeom prst="rect">
            <a:avLst/>
          </a:prstGeom>
          <a:noFill/>
          <a:ln/>
        </p:spPr>
        <p:txBody>
          <a:bodyPr wrap="square" lIns="0" tIns="0" rIns="0" bIns="0" rtlCol="0" anchor="ctr"/>
          <a:lstStyle/>
          <a:p>
            <a:pPr marL="0" indent="0">
              <a:buNone/>
            </a:pPr>
            <a:r>
              <a:rPr lang="en-US" sz="1800" b="1" kern="0" spc="600" dirty="0">
                <a:solidFill>
                  <a:srgbClr val="3A7A9C"/>
                </a:solidFill>
                <a:latin typeface="Calibri" pitchFamily="34" charset="0"/>
                <a:ea typeface="Calibri" pitchFamily="34" charset="-122"/>
                <a:cs typeface="Calibri" pitchFamily="34" charset="-120"/>
              </a:rPr>
              <a:t>BILLION</a:t>
            </a:r>
            <a:endParaRPr lang="en-US" sz="1800" dirty="0"/>
          </a:p>
        </p:txBody>
      </p:sp>
      <p:sp>
        <p:nvSpPr>
          <p:cNvPr id="6" name="Text 4"/>
          <p:cNvSpPr/>
          <p:nvPr/>
        </p:nvSpPr>
        <p:spPr>
          <a:xfrm>
            <a:off x="502920" y="2999232"/>
            <a:ext cx="3200400" cy="457200"/>
          </a:xfrm>
          <a:prstGeom prst="rect">
            <a:avLst/>
          </a:prstGeom>
          <a:noFill/>
          <a:ln/>
        </p:spPr>
        <p:txBody>
          <a:bodyPr wrap="square" lIns="0" tIns="0" rIns="0" bIns="0" rtlCol="0" anchor="ctr"/>
          <a:lstStyle/>
          <a:p>
            <a:pPr marL="0" indent="0">
              <a:buNone/>
            </a:pPr>
            <a:r>
              <a:rPr lang="en-US" sz="1200" dirty="0">
                <a:solidFill>
                  <a:srgbClr val="5A8A9A"/>
                </a:solidFill>
                <a:latin typeface="Calibri" pitchFamily="34" charset="0"/>
                <a:ea typeface="Calibri" pitchFamily="34" charset="-122"/>
                <a:cs typeface="Calibri" pitchFamily="34" charset="-120"/>
              </a:rPr>
              <a:t>Pfizer acquired Seagen</a:t>
            </a:r>
            <a:endParaRPr lang="en-US" sz="1200" dirty="0"/>
          </a:p>
          <a:p>
            <a:pPr marL="0" indent="0">
              <a:buNone/>
            </a:pPr>
            <a:r>
              <a:rPr lang="en-US" sz="1200" dirty="0">
                <a:solidFill>
                  <a:srgbClr val="5A8A9A"/>
                </a:solidFill>
                <a:latin typeface="Calibri" pitchFamily="34" charset="0"/>
                <a:ea typeface="Calibri" pitchFamily="34" charset="-122"/>
                <a:cs typeface="Calibri" pitchFamily="34" charset="-120"/>
              </a:rPr>
              <a:t>December 2023</a:t>
            </a:r>
            <a:endParaRPr lang="en-US" sz="1200" dirty="0"/>
          </a:p>
        </p:txBody>
      </p:sp>
      <p:sp>
        <p:nvSpPr>
          <p:cNvPr id="7" name="Shape 5"/>
          <p:cNvSpPr/>
          <p:nvPr/>
        </p:nvSpPr>
        <p:spPr>
          <a:xfrm>
            <a:off x="4389120" y="685800"/>
            <a:ext cx="18288" cy="4023360"/>
          </a:xfrm>
          <a:prstGeom prst="rect">
            <a:avLst/>
          </a:prstGeom>
          <a:solidFill>
            <a:srgbClr val="0E2E5A"/>
          </a:solidFill>
          <a:ln w="12700">
            <a:solidFill>
              <a:srgbClr val="0E2E5A"/>
            </a:solidFill>
            <a:prstDash val="solid"/>
          </a:ln>
        </p:spPr>
        <p:txBody>
          <a:bodyPr/>
          <a:lstStyle/>
          <a:p>
            <a:endParaRPr lang="en-IN"/>
          </a:p>
        </p:txBody>
      </p:sp>
      <p:sp>
        <p:nvSpPr>
          <p:cNvPr id="8" name="Shape 6"/>
          <p:cNvSpPr/>
          <p:nvPr/>
        </p:nvSpPr>
        <p:spPr>
          <a:xfrm>
            <a:off x="4617720" y="777240"/>
            <a:ext cx="4114800" cy="749808"/>
          </a:xfrm>
          <a:prstGeom prst="rect">
            <a:avLst/>
          </a:prstGeom>
          <a:solidFill>
            <a:srgbClr val="0E2E5A"/>
          </a:solidFill>
          <a:ln w="12700">
            <a:solidFill>
              <a:srgbClr val="0E2E5A"/>
            </a:solidFill>
            <a:prstDash val="solid"/>
          </a:ln>
        </p:spPr>
        <p:txBody>
          <a:bodyPr/>
          <a:lstStyle/>
          <a:p>
            <a:endParaRPr lang="en-IN"/>
          </a:p>
        </p:txBody>
      </p:sp>
      <p:sp>
        <p:nvSpPr>
          <p:cNvPr id="9" name="Text 7"/>
          <p:cNvSpPr/>
          <p:nvPr/>
        </p:nvSpPr>
        <p:spPr>
          <a:xfrm>
            <a:off x="4773168" y="868680"/>
            <a:ext cx="3749040" cy="182880"/>
          </a:xfrm>
          <a:prstGeom prst="rect">
            <a:avLst/>
          </a:prstGeom>
          <a:noFill/>
          <a:ln/>
        </p:spPr>
        <p:txBody>
          <a:bodyPr wrap="square" lIns="0" tIns="0" rIns="0" bIns="0" rtlCol="0" anchor="ctr"/>
          <a:lstStyle/>
          <a:p>
            <a:pPr marL="0" indent="0">
              <a:buNone/>
            </a:pPr>
            <a:r>
              <a:rPr lang="en-US" sz="800" b="1" kern="0" spc="150" dirty="0">
                <a:solidFill>
                  <a:srgbClr val="7DD3F0"/>
                </a:solidFill>
                <a:latin typeface="Calibri" pitchFamily="34" charset="0"/>
                <a:ea typeface="Calibri" pitchFamily="34" charset="-122"/>
                <a:cs typeface="Calibri" pitchFamily="34" charset="-120"/>
              </a:rPr>
              <a:t>WHAT PFIZER BET ON</a:t>
            </a:r>
            <a:endParaRPr lang="en-US" sz="800" dirty="0"/>
          </a:p>
        </p:txBody>
      </p:sp>
      <p:sp>
        <p:nvSpPr>
          <p:cNvPr id="10" name="Text 8"/>
          <p:cNvSpPr/>
          <p:nvPr/>
        </p:nvSpPr>
        <p:spPr>
          <a:xfrm>
            <a:off x="4773168" y="1069848"/>
            <a:ext cx="3749040" cy="411480"/>
          </a:xfrm>
          <a:prstGeom prst="rect">
            <a:avLst/>
          </a:prstGeom>
          <a:noFill/>
          <a:ln/>
        </p:spPr>
        <p:txBody>
          <a:bodyPr wrap="square" lIns="0" tIns="0" rIns="0" bIns="0" rtlCol="0" anchor="ctr"/>
          <a:lstStyle/>
          <a:p>
            <a:pPr marL="0" indent="0">
              <a:buNone/>
            </a:pPr>
            <a:r>
              <a:rPr lang="en-US" sz="1000" dirty="0">
                <a:solidFill>
                  <a:srgbClr val="7AADC8"/>
                </a:solidFill>
                <a:latin typeface="Calibri" pitchFamily="34" charset="0"/>
                <a:ea typeface="Calibri" pitchFamily="34" charset="-122"/>
                <a:cs typeface="Calibri" pitchFamily="34" charset="-120"/>
              </a:rPr>
              <a:t>ADCs would become the dominant oncology treatment modality and Seagen's platform would make Pfizer the undisputed ADC leader globally.</a:t>
            </a:r>
            <a:endParaRPr lang="en-US" sz="1000" dirty="0"/>
          </a:p>
        </p:txBody>
      </p:sp>
      <p:sp>
        <p:nvSpPr>
          <p:cNvPr id="11" name="Shape 9"/>
          <p:cNvSpPr/>
          <p:nvPr/>
        </p:nvSpPr>
        <p:spPr>
          <a:xfrm>
            <a:off x="4617720" y="1673352"/>
            <a:ext cx="4114800" cy="749808"/>
          </a:xfrm>
          <a:prstGeom prst="rect">
            <a:avLst/>
          </a:prstGeom>
          <a:solidFill>
            <a:srgbClr val="0E2E5A"/>
          </a:solidFill>
          <a:ln w="12700">
            <a:solidFill>
              <a:srgbClr val="0E2E5A"/>
            </a:solidFill>
            <a:prstDash val="solid"/>
          </a:ln>
        </p:spPr>
        <p:txBody>
          <a:bodyPr/>
          <a:lstStyle/>
          <a:p>
            <a:endParaRPr lang="en-IN"/>
          </a:p>
        </p:txBody>
      </p:sp>
      <p:sp>
        <p:nvSpPr>
          <p:cNvPr id="12" name="Text 10"/>
          <p:cNvSpPr/>
          <p:nvPr/>
        </p:nvSpPr>
        <p:spPr>
          <a:xfrm>
            <a:off x="4773168" y="1764792"/>
            <a:ext cx="3749040" cy="182880"/>
          </a:xfrm>
          <a:prstGeom prst="rect">
            <a:avLst/>
          </a:prstGeom>
          <a:noFill/>
          <a:ln/>
        </p:spPr>
        <p:txBody>
          <a:bodyPr wrap="square" lIns="0" tIns="0" rIns="0" bIns="0" rtlCol="0" anchor="ctr"/>
          <a:lstStyle/>
          <a:p>
            <a:pPr marL="0" indent="0">
              <a:buNone/>
            </a:pPr>
            <a:r>
              <a:rPr lang="en-US" sz="800" b="1" kern="0" spc="150" dirty="0">
                <a:solidFill>
                  <a:srgbClr val="7DD3F0"/>
                </a:solidFill>
                <a:latin typeface="Calibri" pitchFamily="34" charset="0"/>
                <a:ea typeface="Calibri" pitchFamily="34" charset="-122"/>
                <a:cs typeface="Calibri" pitchFamily="34" charset="-120"/>
              </a:rPr>
              <a:t>WHAT HAD TO HAPPEN FIRST</a:t>
            </a:r>
            <a:endParaRPr lang="en-US" sz="800" dirty="0"/>
          </a:p>
        </p:txBody>
      </p:sp>
      <p:sp>
        <p:nvSpPr>
          <p:cNvPr id="13" name="Text 11"/>
          <p:cNvSpPr/>
          <p:nvPr/>
        </p:nvSpPr>
        <p:spPr>
          <a:xfrm>
            <a:off x="4773168" y="1965960"/>
            <a:ext cx="3749040" cy="411480"/>
          </a:xfrm>
          <a:prstGeom prst="rect">
            <a:avLst/>
          </a:prstGeom>
          <a:noFill/>
          <a:ln/>
        </p:spPr>
        <p:txBody>
          <a:bodyPr wrap="square" lIns="0" tIns="0" rIns="0" bIns="0" rtlCol="0" anchor="ctr"/>
          <a:lstStyle/>
          <a:p>
            <a:pPr marL="0" indent="0">
              <a:buNone/>
            </a:pPr>
            <a:r>
              <a:rPr lang="en-US" sz="1000" dirty="0">
                <a:solidFill>
                  <a:srgbClr val="7AADC8"/>
                </a:solidFill>
                <a:latin typeface="Calibri" pitchFamily="34" charset="0"/>
                <a:ea typeface="Calibri" pitchFamily="34" charset="-122"/>
                <a:cs typeface="Calibri" pitchFamily="34" charset="-120"/>
              </a:rPr>
              <a:t>A phase 3 trial had to prove an ADC could outperform the decades-old chemotherapy standard in a major solid tumor cancer. EV-302 proved it.</a:t>
            </a:r>
            <a:endParaRPr lang="en-US" sz="1000" dirty="0"/>
          </a:p>
        </p:txBody>
      </p:sp>
      <p:sp>
        <p:nvSpPr>
          <p:cNvPr id="14" name="Shape 12"/>
          <p:cNvSpPr/>
          <p:nvPr/>
        </p:nvSpPr>
        <p:spPr>
          <a:xfrm>
            <a:off x="4617720" y="2569464"/>
            <a:ext cx="4114800" cy="749808"/>
          </a:xfrm>
          <a:prstGeom prst="rect">
            <a:avLst/>
          </a:prstGeom>
          <a:solidFill>
            <a:srgbClr val="0E2E5A"/>
          </a:solidFill>
          <a:ln w="12700">
            <a:solidFill>
              <a:srgbClr val="0E2E5A"/>
            </a:solidFill>
            <a:prstDash val="solid"/>
          </a:ln>
        </p:spPr>
        <p:txBody>
          <a:bodyPr/>
          <a:lstStyle/>
          <a:p>
            <a:endParaRPr lang="en-IN"/>
          </a:p>
        </p:txBody>
      </p:sp>
      <p:sp>
        <p:nvSpPr>
          <p:cNvPr id="15" name="Text 13"/>
          <p:cNvSpPr/>
          <p:nvPr/>
        </p:nvSpPr>
        <p:spPr>
          <a:xfrm>
            <a:off x="4773168" y="2660904"/>
            <a:ext cx="3749040" cy="182880"/>
          </a:xfrm>
          <a:prstGeom prst="rect">
            <a:avLst/>
          </a:prstGeom>
          <a:noFill/>
          <a:ln/>
        </p:spPr>
        <p:txBody>
          <a:bodyPr wrap="square" lIns="0" tIns="0" rIns="0" bIns="0" rtlCol="0" anchor="ctr"/>
          <a:lstStyle/>
          <a:p>
            <a:pPr marL="0" indent="0">
              <a:buNone/>
            </a:pPr>
            <a:r>
              <a:rPr lang="en-US" sz="800" b="1" kern="0" spc="150" dirty="0">
                <a:solidFill>
                  <a:srgbClr val="7DD3F0"/>
                </a:solidFill>
                <a:latin typeface="Calibri" pitchFamily="34" charset="0"/>
                <a:ea typeface="Calibri" pitchFamily="34" charset="-122"/>
                <a:cs typeface="Calibri" pitchFamily="34" charset="-120"/>
              </a:rPr>
              <a:t>WHAT THE FIRST-LINE APPROVAL MEANS</a:t>
            </a:r>
            <a:endParaRPr lang="en-US" sz="800" dirty="0"/>
          </a:p>
        </p:txBody>
      </p:sp>
      <p:sp>
        <p:nvSpPr>
          <p:cNvPr id="16" name="Text 14"/>
          <p:cNvSpPr/>
          <p:nvPr/>
        </p:nvSpPr>
        <p:spPr>
          <a:xfrm>
            <a:off x="4773168" y="2862072"/>
            <a:ext cx="3749040" cy="411480"/>
          </a:xfrm>
          <a:prstGeom prst="rect">
            <a:avLst/>
          </a:prstGeom>
          <a:noFill/>
          <a:ln/>
        </p:spPr>
        <p:txBody>
          <a:bodyPr wrap="square" lIns="0" tIns="0" rIns="0" bIns="0" rtlCol="0" anchor="ctr"/>
          <a:lstStyle/>
          <a:p>
            <a:pPr marL="0" indent="0">
              <a:buNone/>
            </a:pPr>
            <a:r>
              <a:rPr lang="en-US" sz="1000" dirty="0">
                <a:solidFill>
                  <a:srgbClr val="7AADC8"/>
                </a:solidFill>
                <a:latin typeface="Calibri" pitchFamily="34" charset="0"/>
                <a:ea typeface="Calibri" pitchFamily="34" charset="-122"/>
                <a:cs typeface="Calibri" pitchFamily="34" charset="-120"/>
              </a:rPr>
              <a:t>Padcev's 1L FDA approval on April 3, 2024 is the first major commercial validation of the $43B thesis. At peak penetration, this indication alone is a $4.5B+ annual revenue opportunity for Pfizer's share.</a:t>
            </a:r>
            <a:endParaRPr lang="en-US" sz="1000" dirty="0"/>
          </a:p>
        </p:txBody>
      </p:sp>
      <p:sp>
        <p:nvSpPr>
          <p:cNvPr id="17" name="Shape 15"/>
          <p:cNvSpPr/>
          <p:nvPr/>
        </p:nvSpPr>
        <p:spPr>
          <a:xfrm>
            <a:off x="4617720" y="3465576"/>
            <a:ext cx="4114800" cy="749808"/>
          </a:xfrm>
          <a:prstGeom prst="rect">
            <a:avLst/>
          </a:prstGeom>
          <a:solidFill>
            <a:srgbClr val="0E2E5A"/>
          </a:solidFill>
          <a:ln w="12700">
            <a:solidFill>
              <a:srgbClr val="0E2E5A"/>
            </a:solidFill>
            <a:prstDash val="solid"/>
          </a:ln>
        </p:spPr>
        <p:txBody>
          <a:bodyPr/>
          <a:lstStyle/>
          <a:p>
            <a:endParaRPr lang="en-IN"/>
          </a:p>
        </p:txBody>
      </p:sp>
      <p:sp>
        <p:nvSpPr>
          <p:cNvPr id="18" name="Text 16"/>
          <p:cNvSpPr/>
          <p:nvPr/>
        </p:nvSpPr>
        <p:spPr>
          <a:xfrm>
            <a:off x="4773168" y="3557016"/>
            <a:ext cx="3749040" cy="182880"/>
          </a:xfrm>
          <a:prstGeom prst="rect">
            <a:avLst/>
          </a:prstGeom>
          <a:noFill/>
          <a:ln/>
        </p:spPr>
        <p:txBody>
          <a:bodyPr wrap="square" lIns="0" tIns="0" rIns="0" bIns="0" rtlCol="0" anchor="ctr"/>
          <a:lstStyle/>
          <a:p>
            <a:pPr marL="0" indent="0">
              <a:buNone/>
            </a:pPr>
            <a:r>
              <a:rPr lang="en-US" sz="800" b="1" kern="0" spc="150" dirty="0">
                <a:solidFill>
                  <a:srgbClr val="7DD3F0"/>
                </a:solidFill>
                <a:latin typeface="Calibri" pitchFamily="34" charset="0"/>
                <a:ea typeface="Calibri" pitchFamily="34" charset="-122"/>
                <a:cs typeface="Calibri" pitchFamily="34" charset="-120"/>
              </a:rPr>
              <a:t>WHAT FAILURE WOULD MEAN</a:t>
            </a:r>
            <a:endParaRPr lang="en-US" sz="800" dirty="0"/>
          </a:p>
        </p:txBody>
      </p:sp>
      <p:sp>
        <p:nvSpPr>
          <p:cNvPr id="19" name="Text 17"/>
          <p:cNvSpPr/>
          <p:nvPr/>
        </p:nvSpPr>
        <p:spPr>
          <a:xfrm>
            <a:off x="4773168" y="3758184"/>
            <a:ext cx="3749040" cy="411480"/>
          </a:xfrm>
          <a:prstGeom prst="rect">
            <a:avLst/>
          </a:prstGeom>
          <a:noFill/>
          <a:ln/>
        </p:spPr>
        <p:txBody>
          <a:bodyPr wrap="square" lIns="0" tIns="0" rIns="0" bIns="0" rtlCol="0" anchor="ctr"/>
          <a:lstStyle/>
          <a:p>
            <a:pPr marL="0" indent="0">
              <a:buNone/>
            </a:pPr>
            <a:r>
              <a:rPr lang="en-US" sz="1000" dirty="0">
                <a:solidFill>
                  <a:srgbClr val="7AADC8"/>
                </a:solidFill>
                <a:latin typeface="Calibri" pitchFamily="34" charset="0"/>
                <a:ea typeface="Calibri" pitchFamily="34" charset="-122"/>
                <a:cs typeface="Calibri" pitchFamily="34" charset="-120"/>
              </a:rPr>
              <a:t>Seagen was acquired at 22x revenue. If the ADC portfolio underperforms, every quarterly earnings call becomes a liability for Pfizer's executive team.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PRODUCT OVERVIEW</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What is Padcev? The ADC Mechanism Explained</a:t>
            </a:r>
            <a:endParaRPr lang="en-US" sz="2300" dirty="0"/>
          </a:p>
        </p:txBody>
      </p:sp>
      <p:sp>
        <p:nvSpPr>
          <p:cNvPr id="4" name="Text 2"/>
          <p:cNvSpPr/>
          <p:nvPr/>
        </p:nvSpPr>
        <p:spPr>
          <a:xfrm>
            <a:off x="502920" y="1371600"/>
            <a:ext cx="8229600" cy="36576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Padcev (enfortumab vedotin-ejfv) is an antibody-drug conjugate. It combines targeted precision of a monoclonal antibody with the killing power of a cytotoxic agent, delivering chemotherapy directly inside urothelial cancer cells.</a:t>
            </a:r>
            <a:endParaRPr lang="en-US" sz="1150" dirty="0"/>
          </a:p>
        </p:txBody>
      </p:sp>
      <p:sp>
        <p:nvSpPr>
          <p:cNvPr id="5" name="Shape 3"/>
          <p:cNvSpPr/>
          <p:nvPr/>
        </p:nvSpPr>
        <p:spPr>
          <a:xfrm>
            <a:off x="457200" y="1874520"/>
            <a:ext cx="4187952" cy="1508760"/>
          </a:xfrm>
          <a:prstGeom prst="rect">
            <a:avLst/>
          </a:prstGeom>
          <a:solidFill>
            <a:srgbClr val="F8FAFC"/>
          </a:solidFill>
          <a:ln w="6350">
            <a:solidFill>
              <a:srgbClr val="E2E8F0"/>
            </a:solidFill>
            <a:prstDash val="solid"/>
          </a:ln>
        </p:spPr>
        <p:txBody>
          <a:bodyPr/>
          <a:lstStyle/>
          <a:p>
            <a:endParaRPr lang="en-IN"/>
          </a:p>
        </p:txBody>
      </p:sp>
      <p:sp>
        <p:nvSpPr>
          <p:cNvPr id="6" name="Shape 4"/>
          <p:cNvSpPr/>
          <p:nvPr/>
        </p:nvSpPr>
        <p:spPr>
          <a:xfrm>
            <a:off x="457200" y="1874520"/>
            <a:ext cx="54864" cy="1508760"/>
          </a:xfrm>
          <a:prstGeom prst="rect">
            <a:avLst/>
          </a:prstGeom>
          <a:solidFill>
            <a:srgbClr val="0093D0"/>
          </a:solidFill>
          <a:ln w="12700">
            <a:solidFill>
              <a:srgbClr val="0093D0"/>
            </a:solidFill>
            <a:prstDash val="solid"/>
          </a:ln>
        </p:spPr>
        <p:txBody>
          <a:bodyPr/>
          <a:lstStyle/>
          <a:p>
            <a:endParaRPr lang="en-IN"/>
          </a:p>
        </p:txBody>
      </p:sp>
      <p:sp>
        <p:nvSpPr>
          <p:cNvPr id="7" name="Shape 5"/>
          <p:cNvSpPr/>
          <p:nvPr/>
        </p:nvSpPr>
        <p:spPr>
          <a:xfrm>
            <a:off x="621792" y="1984248"/>
            <a:ext cx="347472" cy="256032"/>
          </a:xfrm>
          <a:prstGeom prst="rect">
            <a:avLst/>
          </a:prstGeom>
          <a:solidFill>
            <a:srgbClr val="0093D0"/>
          </a:solidFill>
          <a:ln w="12700">
            <a:solidFill>
              <a:srgbClr val="0093D0"/>
            </a:solidFill>
            <a:prstDash val="solid"/>
          </a:ln>
        </p:spPr>
        <p:txBody>
          <a:bodyPr/>
          <a:lstStyle/>
          <a:p>
            <a:endParaRPr lang="en-IN"/>
          </a:p>
        </p:txBody>
      </p:sp>
      <p:sp>
        <p:nvSpPr>
          <p:cNvPr id="8" name="Text 6"/>
          <p:cNvSpPr/>
          <p:nvPr/>
        </p:nvSpPr>
        <p:spPr>
          <a:xfrm>
            <a:off x="621792" y="1984248"/>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1097280" y="1984248"/>
            <a:ext cx="3383280" cy="292608"/>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The Antibody: Enfortumab</a:t>
            </a:r>
            <a:endParaRPr lang="en-US" sz="1200" dirty="0"/>
          </a:p>
        </p:txBody>
      </p:sp>
      <p:sp>
        <p:nvSpPr>
          <p:cNvPr id="10" name="Text 8"/>
          <p:cNvSpPr/>
          <p:nvPr/>
        </p:nvSpPr>
        <p:spPr>
          <a:xfrm>
            <a:off x="621792" y="2350008"/>
            <a:ext cx="3858768" cy="80467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Targets Nectin-4, a cell adhesion protein expressed in 97%+ of urothelial carcinomas. The antibody circulates, finds Nectin-4-expressing cancer cells, and binds to their surface.</a:t>
            </a:r>
            <a:endParaRPr lang="en-US" sz="1050" dirty="0"/>
          </a:p>
        </p:txBody>
      </p:sp>
      <p:sp>
        <p:nvSpPr>
          <p:cNvPr id="11" name="Shape 9"/>
          <p:cNvSpPr/>
          <p:nvPr/>
        </p:nvSpPr>
        <p:spPr>
          <a:xfrm>
            <a:off x="4818888" y="1874520"/>
            <a:ext cx="4187952" cy="1508760"/>
          </a:xfrm>
          <a:prstGeom prst="rect">
            <a:avLst/>
          </a:prstGeom>
          <a:solidFill>
            <a:srgbClr val="F8FAFC"/>
          </a:solidFill>
          <a:ln w="6350">
            <a:solidFill>
              <a:srgbClr val="E2E8F0"/>
            </a:solidFill>
            <a:prstDash val="solid"/>
          </a:ln>
        </p:spPr>
        <p:txBody>
          <a:bodyPr/>
          <a:lstStyle/>
          <a:p>
            <a:endParaRPr lang="en-IN"/>
          </a:p>
        </p:txBody>
      </p:sp>
      <p:sp>
        <p:nvSpPr>
          <p:cNvPr id="12" name="Shape 10"/>
          <p:cNvSpPr/>
          <p:nvPr/>
        </p:nvSpPr>
        <p:spPr>
          <a:xfrm>
            <a:off x="4818888" y="1874520"/>
            <a:ext cx="54864" cy="1508760"/>
          </a:xfrm>
          <a:prstGeom prst="rect">
            <a:avLst/>
          </a:prstGeom>
          <a:solidFill>
            <a:srgbClr val="1A7A4A"/>
          </a:solidFill>
          <a:ln w="12700">
            <a:solidFill>
              <a:srgbClr val="1A7A4A"/>
            </a:solidFill>
            <a:prstDash val="solid"/>
          </a:ln>
        </p:spPr>
        <p:txBody>
          <a:bodyPr/>
          <a:lstStyle/>
          <a:p>
            <a:endParaRPr lang="en-IN"/>
          </a:p>
        </p:txBody>
      </p:sp>
      <p:sp>
        <p:nvSpPr>
          <p:cNvPr id="13" name="Shape 11"/>
          <p:cNvSpPr/>
          <p:nvPr/>
        </p:nvSpPr>
        <p:spPr>
          <a:xfrm>
            <a:off x="4983480" y="1984248"/>
            <a:ext cx="347472" cy="256032"/>
          </a:xfrm>
          <a:prstGeom prst="rect">
            <a:avLst/>
          </a:prstGeom>
          <a:solidFill>
            <a:srgbClr val="1A7A4A"/>
          </a:solidFill>
          <a:ln w="12700">
            <a:solidFill>
              <a:srgbClr val="1A7A4A"/>
            </a:solidFill>
            <a:prstDash val="solid"/>
          </a:ln>
        </p:spPr>
        <p:txBody>
          <a:bodyPr/>
          <a:lstStyle/>
          <a:p>
            <a:endParaRPr lang="en-IN"/>
          </a:p>
        </p:txBody>
      </p:sp>
      <p:sp>
        <p:nvSpPr>
          <p:cNvPr id="14" name="Text 12"/>
          <p:cNvSpPr/>
          <p:nvPr/>
        </p:nvSpPr>
        <p:spPr>
          <a:xfrm>
            <a:off x="4983480" y="1984248"/>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5" name="Text 13"/>
          <p:cNvSpPr/>
          <p:nvPr/>
        </p:nvSpPr>
        <p:spPr>
          <a:xfrm>
            <a:off x="5458968" y="1984248"/>
            <a:ext cx="3383280" cy="292608"/>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The Linker</a:t>
            </a:r>
            <a:endParaRPr lang="en-US" sz="1200" dirty="0"/>
          </a:p>
        </p:txBody>
      </p:sp>
      <p:sp>
        <p:nvSpPr>
          <p:cNvPr id="16" name="Text 14"/>
          <p:cNvSpPr/>
          <p:nvPr/>
        </p:nvSpPr>
        <p:spPr>
          <a:xfrm>
            <a:off x="4983480" y="2350008"/>
            <a:ext cx="3858768" cy="80467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 stable chemical linker connects the antibody to the payload. It is designed to remain intact in circulation but cleave after the ADC complex is internalized inside the cancer cell.</a:t>
            </a:r>
            <a:endParaRPr lang="en-US" sz="1050" dirty="0"/>
          </a:p>
        </p:txBody>
      </p:sp>
      <p:sp>
        <p:nvSpPr>
          <p:cNvPr id="17" name="Shape 15"/>
          <p:cNvSpPr/>
          <p:nvPr/>
        </p:nvSpPr>
        <p:spPr>
          <a:xfrm>
            <a:off x="457200" y="3538728"/>
            <a:ext cx="4187952" cy="1508760"/>
          </a:xfrm>
          <a:prstGeom prst="rect">
            <a:avLst/>
          </a:prstGeom>
          <a:solidFill>
            <a:srgbClr val="F8FAFC"/>
          </a:solidFill>
          <a:ln w="6350">
            <a:solidFill>
              <a:srgbClr val="E2E8F0"/>
            </a:solidFill>
            <a:prstDash val="solid"/>
          </a:ln>
        </p:spPr>
        <p:txBody>
          <a:bodyPr/>
          <a:lstStyle/>
          <a:p>
            <a:endParaRPr lang="en-IN"/>
          </a:p>
        </p:txBody>
      </p:sp>
      <p:sp>
        <p:nvSpPr>
          <p:cNvPr id="18" name="Shape 16"/>
          <p:cNvSpPr/>
          <p:nvPr/>
        </p:nvSpPr>
        <p:spPr>
          <a:xfrm>
            <a:off x="457200" y="3538728"/>
            <a:ext cx="54864" cy="1508760"/>
          </a:xfrm>
          <a:prstGeom prst="rect">
            <a:avLst/>
          </a:prstGeom>
          <a:solidFill>
            <a:srgbClr val="B45309"/>
          </a:solidFill>
          <a:ln w="12700">
            <a:solidFill>
              <a:srgbClr val="B45309"/>
            </a:solidFill>
            <a:prstDash val="solid"/>
          </a:ln>
        </p:spPr>
        <p:txBody>
          <a:bodyPr/>
          <a:lstStyle/>
          <a:p>
            <a:endParaRPr lang="en-IN"/>
          </a:p>
        </p:txBody>
      </p:sp>
      <p:sp>
        <p:nvSpPr>
          <p:cNvPr id="19" name="Shape 17"/>
          <p:cNvSpPr/>
          <p:nvPr/>
        </p:nvSpPr>
        <p:spPr>
          <a:xfrm>
            <a:off x="621792" y="3648456"/>
            <a:ext cx="347472" cy="256032"/>
          </a:xfrm>
          <a:prstGeom prst="rect">
            <a:avLst/>
          </a:prstGeom>
          <a:solidFill>
            <a:srgbClr val="B45309"/>
          </a:solidFill>
          <a:ln w="12700">
            <a:solidFill>
              <a:srgbClr val="B45309"/>
            </a:solidFill>
            <a:prstDash val="solid"/>
          </a:ln>
        </p:spPr>
        <p:txBody>
          <a:bodyPr/>
          <a:lstStyle/>
          <a:p>
            <a:endParaRPr lang="en-IN"/>
          </a:p>
        </p:txBody>
      </p:sp>
      <p:sp>
        <p:nvSpPr>
          <p:cNvPr id="20" name="Text 18"/>
          <p:cNvSpPr/>
          <p:nvPr/>
        </p:nvSpPr>
        <p:spPr>
          <a:xfrm>
            <a:off x="621792" y="3648456"/>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1" name="Text 19"/>
          <p:cNvSpPr/>
          <p:nvPr/>
        </p:nvSpPr>
        <p:spPr>
          <a:xfrm>
            <a:off x="1097280" y="3648456"/>
            <a:ext cx="3383280" cy="292608"/>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The Payload: MMAE</a:t>
            </a:r>
            <a:endParaRPr lang="en-US" sz="1200" dirty="0"/>
          </a:p>
        </p:txBody>
      </p:sp>
      <p:sp>
        <p:nvSpPr>
          <p:cNvPr id="22" name="Text 20"/>
          <p:cNvSpPr/>
          <p:nvPr/>
        </p:nvSpPr>
        <p:spPr>
          <a:xfrm>
            <a:off x="621792" y="4014216"/>
            <a:ext cx="3858768" cy="80467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Monomethyl auristatin E (MMAE) is a potent microtubule-disrupting cytotoxic agent. Too toxic to give systemically, but lethal to cancer cells when delivered directly by the antibody.</a:t>
            </a:r>
            <a:endParaRPr lang="en-US" sz="1050" dirty="0"/>
          </a:p>
        </p:txBody>
      </p:sp>
      <p:sp>
        <p:nvSpPr>
          <p:cNvPr id="23" name="Shape 21"/>
          <p:cNvSpPr/>
          <p:nvPr/>
        </p:nvSpPr>
        <p:spPr>
          <a:xfrm>
            <a:off x="4818888" y="3538728"/>
            <a:ext cx="4187952" cy="1508760"/>
          </a:xfrm>
          <a:prstGeom prst="rect">
            <a:avLst/>
          </a:prstGeom>
          <a:solidFill>
            <a:srgbClr val="F8FAFC"/>
          </a:solidFill>
          <a:ln w="6350">
            <a:solidFill>
              <a:srgbClr val="E2E8F0"/>
            </a:solidFill>
            <a:prstDash val="solid"/>
          </a:ln>
        </p:spPr>
        <p:txBody>
          <a:bodyPr/>
          <a:lstStyle/>
          <a:p>
            <a:endParaRPr lang="en-IN"/>
          </a:p>
        </p:txBody>
      </p:sp>
      <p:sp>
        <p:nvSpPr>
          <p:cNvPr id="24" name="Shape 22"/>
          <p:cNvSpPr/>
          <p:nvPr/>
        </p:nvSpPr>
        <p:spPr>
          <a:xfrm>
            <a:off x="4818888" y="3538728"/>
            <a:ext cx="54864" cy="1508760"/>
          </a:xfrm>
          <a:prstGeom prst="rect">
            <a:avLst/>
          </a:prstGeom>
          <a:solidFill>
            <a:srgbClr val="6D28D9"/>
          </a:solidFill>
          <a:ln w="12700">
            <a:solidFill>
              <a:srgbClr val="6D28D9"/>
            </a:solidFill>
            <a:prstDash val="solid"/>
          </a:ln>
        </p:spPr>
        <p:txBody>
          <a:bodyPr/>
          <a:lstStyle/>
          <a:p>
            <a:endParaRPr lang="en-IN"/>
          </a:p>
        </p:txBody>
      </p:sp>
      <p:sp>
        <p:nvSpPr>
          <p:cNvPr id="25" name="Shape 23"/>
          <p:cNvSpPr/>
          <p:nvPr/>
        </p:nvSpPr>
        <p:spPr>
          <a:xfrm>
            <a:off x="4983480" y="3648456"/>
            <a:ext cx="347472" cy="256032"/>
          </a:xfrm>
          <a:prstGeom prst="rect">
            <a:avLst/>
          </a:prstGeom>
          <a:solidFill>
            <a:srgbClr val="6D28D9"/>
          </a:solidFill>
          <a:ln w="12700">
            <a:solidFill>
              <a:srgbClr val="6D28D9"/>
            </a:solidFill>
            <a:prstDash val="solid"/>
          </a:ln>
        </p:spPr>
        <p:txBody>
          <a:bodyPr/>
          <a:lstStyle/>
          <a:p>
            <a:endParaRPr lang="en-IN"/>
          </a:p>
        </p:txBody>
      </p:sp>
      <p:sp>
        <p:nvSpPr>
          <p:cNvPr id="26" name="Text 24"/>
          <p:cNvSpPr/>
          <p:nvPr/>
        </p:nvSpPr>
        <p:spPr>
          <a:xfrm>
            <a:off x="4983480" y="3648456"/>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7" name="Text 25"/>
          <p:cNvSpPr/>
          <p:nvPr/>
        </p:nvSpPr>
        <p:spPr>
          <a:xfrm>
            <a:off x="5458968" y="3648456"/>
            <a:ext cx="3383280" cy="292608"/>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The Bystander Effect</a:t>
            </a:r>
            <a:endParaRPr lang="en-US" sz="1200" dirty="0"/>
          </a:p>
        </p:txBody>
      </p:sp>
      <p:sp>
        <p:nvSpPr>
          <p:cNvPr id="28" name="Text 26"/>
          <p:cNvSpPr/>
          <p:nvPr/>
        </p:nvSpPr>
        <p:spPr>
          <a:xfrm>
            <a:off x="4983480" y="4014216"/>
            <a:ext cx="3858768" cy="80467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MMAE released inside the tumor microenvironment diffuses into neighboring cancer cells even if those cells do not express Nectin-4. This bystander killing addresses tumor heterogeneity.</a:t>
            </a:r>
            <a:endParaRPr lang="en-US" sz="1050" dirty="0"/>
          </a:p>
        </p:txBody>
      </p:sp>
      <p:sp>
        <p:nvSpPr>
          <p:cNvPr id="29" name="Shape 27"/>
          <p:cNvSpPr/>
          <p:nvPr/>
        </p:nvSpPr>
        <p:spPr>
          <a:xfrm>
            <a:off x="457200" y="4800600"/>
            <a:ext cx="8275320" cy="164592"/>
          </a:xfrm>
          <a:prstGeom prst="rect">
            <a:avLst/>
          </a:prstGeom>
          <a:solidFill>
            <a:srgbClr val="E8F4FB"/>
          </a:solidFill>
          <a:ln w="12700">
            <a:solidFill>
              <a:srgbClr val="E8F4FB"/>
            </a:solidFill>
            <a:prstDash val="solid"/>
          </a:ln>
        </p:spPr>
        <p:txBody>
          <a:bodyPr/>
          <a:lstStyle/>
          <a:p>
            <a:endParaRPr lang="en-IN"/>
          </a:p>
        </p:txBody>
      </p:sp>
      <p:sp>
        <p:nvSpPr>
          <p:cNvPr id="30" name="Text 28"/>
          <p:cNvSpPr/>
          <p:nvPr/>
        </p:nvSpPr>
        <p:spPr>
          <a:xfrm>
            <a:off x="594360" y="4818888"/>
            <a:ext cx="8001000" cy="146304"/>
          </a:xfrm>
          <a:prstGeom prst="rect">
            <a:avLst/>
          </a:prstGeom>
          <a:noFill/>
          <a:ln/>
        </p:spPr>
        <p:txBody>
          <a:bodyPr wrap="square" lIns="0" tIns="0" rIns="0" bIns="0" rtlCol="0" anchor="ctr"/>
          <a:lstStyle/>
          <a:p>
            <a:pPr marL="0" indent="0">
              <a:buNone/>
            </a:pPr>
            <a:r>
              <a:rPr lang="en-US" sz="950" dirty="0">
                <a:solidFill>
                  <a:srgbClr val="006BA6"/>
                </a:solidFill>
                <a:latin typeface="Calibri" pitchFamily="34" charset="0"/>
                <a:ea typeface="Calibri" pitchFamily="34" charset="-122"/>
                <a:cs typeface="Calibri" pitchFamily="34" charset="-120"/>
              </a:rPr>
              <a:t>Combined with pembrolizumab (Keytruda): MMAE-driven tumor cell killing creates immunogenic cell death, releasing antigens that activate the immune system. Keytruda amplifies and sustains that immune response. This is why the combination outperforms either agent alone.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CLINICAL FOUNDATION: EV-302 / KEYNOTE-A39</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Numbers That Change the Standard of Care</a:t>
            </a:r>
            <a:endParaRPr lang="en-US" sz="2300" dirty="0"/>
          </a:p>
        </p:txBody>
      </p:sp>
      <p:sp>
        <p:nvSpPr>
          <p:cNvPr id="4" name="Text 2"/>
          <p:cNvSpPr/>
          <p:nvPr/>
        </p:nvSpPr>
        <p:spPr>
          <a:xfrm>
            <a:off x="502920" y="1353312"/>
            <a:ext cx="822960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886 patients. All-comers regardless of PD-L1 status or cisplatin eligibility. Open-label randomized phase 3 vs. platinum-based chemotherapy.</a:t>
            </a:r>
            <a:endParaRPr lang="en-US" sz="1100" dirty="0"/>
          </a:p>
        </p:txBody>
      </p:sp>
      <p:sp>
        <p:nvSpPr>
          <p:cNvPr id="5" name="Shape 3"/>
          <p:cNvSpPr/>
          <p:nvPr/>
        </p:nvSpPr>
        <p:spPr>
          <a:xfrm>
            <a:off x="457200" y="1828800"/>
            <a:ext cx="2029968" cy="1783080"/>
          </a:xfrm>
          <a:prstGeom prst="rect">
            <a:avLst/>
          </a:prstGeom>
          <a:solidFill>
            <a:srgbClr val="F8FAFC"/>
          </a:solidFill>
          <a:ln w="6350">
            <a:solidFill>
              <a:srgbClr val="E2E8F0"/>
            </a:solidFill>
            <a:prstDash val="solid"/>
          </a:ln>
        </p:spPr>
        <p:txBody>
          <a:bodyPr/>
          <a:lstStyle/>
          <a:p>
            <a:endParaRPr lang="en-IN"/>
          </a:p>
        </p:txBody>
      </p:sp>
      <p:sp>
        <p:nvSpPr>
          <p:cNvPr id="6" name="Shape 4"/>
          <p:cNvSpPr/>
          <p:nvPr/>
        </p:nvSpPr>
        <p:spPr>
          <a:xfrm>
            <a:off x="457200" y="1828800"/>
            <a:ext cx="2029968" cy="36576"/>
          </a:xfrm>
          <a:prstGeom prst="rect">
            <a:avLst/>
          </a:prstGeom>
          <a:solidFill>
            <a:srgbClr val="0093D0"/>
          </a:solidFill>
          <a:ln w="12700">
            <a:solidFill>
              <a:srgbClr val="0093D0"/>
            </a:solidFill>
            <a:prstDash val="solid"/>
          </a:ln>
        </p:spPr>
        <p:txBody>
          <a:bodyPr/>
          <a:lstStyle/>
          <a:p>
            <a:endParaRPr lang="en-IN"/>
          </a:p>
        </p:txBody>
      </p:sp>
      <p:sp>
        <p:nvSpPr>
          <p:cNvPr id="7" name="Text 5"/>
          <p:cNvSpPr/>
          <p:nvPr/>
        </p:nvSpPr>
        <p:spPr>
          <a:xfrm>
            <a:off x="594360" y="1938528"/>
            <a:ext cx="1737360" cy="34747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Median Overall Survival (EV+K)</a:t>
            </a:r>
            <a:endParaRPr lang="en-US" sz="1000" dirty="0"/>
          </a:p>
        </p:txBody>
      </p:sp>
      <p:sp>
        <p:nvSpPr>
          <p:cNvPr id="8" name="Text 6"/>
          <p:cNvSpPr/>
          <p:nvPr/>
        </p:nvSpPr>
        <p:spPr>
          <a:xfrm>
            <a:off x="594360" y="2304288"/>
            <a:ext cx="1737360" cy="658368"/>
          </a:xfrm>
          <a:prstGeom prst="rect">
            <a:avLst/>
          </a:prstGeom>
          <a:noFill/>
          <a:ln/>
        </p:spPr>
        <p:txBody>
          <a:bodyPr wrap="square" lIns="0" tIns="0" rIns="0" bIns="0" rtlCol="0" anchor="ctr"/>
          <a:lstStyle/>
          <a:p>
            <a:pPr marL="0" indent="0">
              <a:buNone/>
            </a:pPr>
            <a:r>
              <a:rPr lang="en-US" sz="3800" b="1" dirty="0">
                <a:solidFill>
                  <a:srgbClr val="0093D0"/>
                </a:solidFill>
                <a:latin typeface="Georgia" pitchFamily="34" charset="0"/>
                <a:ea typeface="Georgia" pitchFamily="34" charset="-122"/>
                <a:cs typeface="Georgia" pitchFamily="34" charset="-120"/>
              </a:rPr>
              <a:t>31.5</a:t>
            </a:r>
            <a:endParaRPr lang="en-US" sz="3800" dirty="0"/>
          </a:p>
        </p:txBody>
      </p:sp>
      <p:sp>
        <p:nvSpPr>
          <p:cNvPr id="9" name="Text 7"/>
          <p:cNvSpPr/>
          <p:nvPr/>
        </p:nvSpPr>
        <p:spPr>
          <a:xfrm>
            <a:off x="594360" y="2907792"/>
            <a:ext cx="1737360" cy="201168"/>
          </a:xfrm>
          <a:prstGeom prst="rect">
            <a:avLst/>
          </a:prstGeom>
          <a:noFill/>
          <a:ln/>
        </p:spPr>
        <p:txBody>
          <a:bodyPr wrap="square" lIns="0" tIns="0" rIns="0" bIns="0" rtlCol="0" anchor="ctr"/>
          <a:lstStyle/>
          <a:p>
            <a:pPr marL="0" indent="0">
              <a:buNone/>
            </a:pPr>
            <a:r>
              <a:rPr lang="en-US" sz="1000" dirty="0">
                <a:solidFill>
                  <a:srgbClr val="0093D0"/>
                </a:solidFill>
                <a:latin typeface="Calibri" pitchFamily="34" charset="0"/>
                <a:ea typeface="Calibri" pitchFamily="34" charset="-122"/>
                <a:cs typeface="Calibri" pitchFamily="34" charset="-120"/>
              </a:rPr>
              <a:t>months</a:t>
            </a:r>
            <a:endParaRPr lang="en-US" sz="1000" dirty="0"/>
          </a:p>
        </p:txBody>
      </p:sp>
      <p:sp>
        <p:nvSpPr>
          <p:cNvPr id="10" name="Text 8"/>
          <p:cNvSpPr/>
          <p:nvPr/>
        </p:nvSpPr>
        <p:spPr>
          <a:xfrm>
            <a:off x="594360" y="3127248"/>
            <a:ext cx="173736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vs. 16.1 mo chemotherapy</a:t>
            </a:r>
            <a:endParaRPr lang="en-US" sz="900" dirty="0"/>
          </a:p>
        </p:txBody>
      </p:sp>
      <p:sp>
        <p:nvSpPr>
          <p:cNvPr id="11" name="Shape 9"/>
          <p:cNvSpPr/>
          <p:nvPr/>
        </p:nvSpPr>
        <p:spPr>
          <a:xfrm>
            <a:off x="2624328" y="1828800"/>
            <a:ext cx="2029968" cy="1783080"/>
          </a:xfrm>
          <a:prstGeom prst="rect">
            <a:avLst/>
          </a:prstGeom>
          <a:solidFill>
            <a:srgbClr val="F8FAFC"/>
          </a:solidFill>
          <a:ln w="6350">
            <a:solidFill>
              <a:srgbClr val="E2E8F0"/>
            </a:solidFill>
            <a:prstDash val="solid"/>
          </a:ln>
        </p:spPr>
        <p:txBody>
          <a:bodyPr/>
          <a:lstStyle/>
          <a:p>
            <a:endParaRPr lang="en-IN"/>
          </a:p>
        </p:txBody>
      </p:sp>
      <p:sp>
        <p:nvSpPr>
          <p:cNvPr id="12" name="Shape 10"/>
          <p:cNvSpPr/>
          <p:nvPr/>
        </p:nvSpPr>
        <p:spPr>
          <a:xfrm>
            <a:off x="2624328" y="1828800"/>
            <a:ext cx="2029968" cy="36576"/>
          </a:xfrm>
          <a:prstGeom prst="rect">
            <a:avLst/>
          </a:prstGeom>
          <a:solidFill>
            <a:srgbClr val="1A7A4A"/>
          </a:solidFill>
          <a:ln w="12700">
            <a:solidFill>
              <a:srgbClr val="1A7A4A"/>
            </a:solidFill>
            <a:prstDash val="solid"/>
          </a:ln>
        </p:spPr>
        <p:txBody>
          <a:bodyPr/>
          <a:lstStyle/>
          <a:p>
            <a:endParaRPr lang="en-IN"/>
          </a:p>
        </p:txBody>
      </p:sp>
      <p:sp>
        <p:nvSpPr>
          <p:cNvPr id="13" name="Text 11"/>
          <p:cNvSpPr/>
          <p:nvPr/>
        </p:nvSpPr>
        <p:spPr>
          <a:xfrm>
            <a:off x="2761488" y="1938528"/>
            <a:ext cx="1737360" cy="34747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Reduction in Risk of Death</a:t>
            </a:r>
            <a:endParaRPr lang="en-US" sz="1000" dirty="0"/>
          </a:p>
        </p:txBody>
      </p:sp>
      <p:sp>
        <p:nvSpPr>
          <p:cNvPr id="14" name="Text 12"/>
          <p:cNvSpPr/>
          <p:nvPr/>
        </p:nvSpPr>
        <p:spPr>
          <a:xfrm>
            <a:off x="2761488" y="2304288"/>
            <a:ext cx="1737360" cy="658368"/>
          </a:xfrm>
          <a:prstGeom prst="rect">
            <a:avLst/>
          </a:prstGeom>
          <a:noFill/>
          <a:ln/>
        </p:spPr>
        <p:txBody>
          <a:bodyPr wrap="square" lIns="0" tIns="0" rIns="0" bIns="0" rtlCol="0" anchor="ctr"/>
          <a:lstStyle/>
          <a:p>
            <a:pPr marL="0" indent="0">
              <a:buNone/>
            </a:pPr>
            <a:r>
              <a:rPr lang="en-US" sz="3800" b="1" dirty="0">
                <a:solidFill>
                  <a:srgbClr val="1A7A4A"/>
                </a:solidFill>
                <a:latin typeface="Georgia" pitchFamily="34" charset="0"/>
                <a:ea typeface="Georgia" pitchFamily="34" charset="-122"/>
                <a:cs typeface="Georgia" pitchFamily="34" charset="-120"/>
              </a:rPr>
              <a:t>53%</a:t>
            </a:r>
            <a:endParaRPr lang="en-US" sz="3800" dirty="0"/>
          </a:p>
        </p:txBody>
      </p:sp>
      <p:sp>
        <p:nvSpPr>
          <p:cNvPr id="15" name="Text 13"/>
          <p:cNvSpPr/>
          <p:nvPr/>
        </p:nvSpPr>
        <p:spPr>
          <a:xfrm>
            <a:off x="2761488" y="3127248"/>
            <a:ext cx="173736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HR 0.47 (p less than 0.00001)</a:t>
            </a:r>
            <a:endParaRPr lang="en-US" sz="900" dirty="0"/>
          </a:p>
        </p:txBody>
      </p:sp>
      <p:sp>
        <p:nvSpPr>
          <p:cNvPr id="16" name="Shape 14"/>
          <p:cNvSpPr/>
          <p:nvPr/>
        </p:nvSpPr>
        <p:spPr>
          <a:xfrm>
            <a:off x="4791456" y="1828800"/>
            <a:ext cx="2029968" cy="1783080"/>
          </a:xfrm>
          <a:prstGeom prst="rect">
            <a:avLst/>
          </a:prstGeom>
          <a:solidFill>
            <a:srgbClr val="F8FAFC"/>
          </a:solidFill>
          <a:ln w="6350">
            <a:solidFill>
              <a:srgbClr val="E2E8F0"/>
            </a:solidFill>
            <a:prstDash val="solid"/>
          </a:ln>
        </p:spPr>
        <p:txBody>
          <a:bodyPr/>
          <a:lstStyle/>
          <a:p>
            <a:endParaRPr lang="en-IN"/>
          </a:p>
        </p:txBody>
      </p:sp>
      <p:sp>
        <p:nvSpPr>
          <p:cNvPr id="17" name="Shape 15"/>
          <p:cNvSpPr/>
          <p:nvPr/>
        </p:nvSpPr>
        <p:spPr>
          <a:xfrm>
            <a:off x="4791456" y="1828800"/>
            <a:ext cx="2029968" cy="36576"/>
          </a:xfrm>
          <a:prstGeom prst="rect">
            <a:avLst/>
          </a:prstGeom>
          <a:solidFill>
            <a:srgbClr val="B45309"/>
          </a:solidFill>
          <a:ln w="12700">
            <a:solidFill>
              <a:srgbClr val="B45309"/>
            </a:solidFill>
            <a:prstDash val="solid"/>
          </a:ln>
        </p:spPr>
        <p:txBody>
          <a:bodyPr/>
          <a:lstStyle/>
          <a:p>
            <a:endParaRPr lang="en-IN"/>
          </a:p>
        </p:txBody>
      </p:sp>
      <p:sp>
        <p:nvSpPr>
          <p:cNvPr id="18" name="Text 16"/>
          <p:cNvSpPr/>
          <p:nvPr/>
        </p:nvSpPr>
        <p:spPr>
          <a:xfrm>
            <a:off x="4928616" y="1938528"/>
            <a:ext cx="1737360" cy="34747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Complete Response Rate</a:t>
            </a:r>
            <a:endParaRPr lang="en-US" sz="1000" dirty="0"/>
          </a:p>
        </p:txBody>
      </p:sp>
      <p:sp>
        <p:nvSpPr>
          <p:cNvPr id="19" name="Text 17"/>
          <p:cNvSpPr/>
          <p:nvPr/>
        </p:nvSpPr>
        <p:spPr>
          <a:xfrm>
            <a:off x="4928616" y="2304288"/>
            <a:ext cx="1737360" cy="658368"/>
          </a:xfrm>
          <a:prstGeom prst="rect">
            <a:avLst/>
          </a:prstGeom>
          <a:noFill/>
          <a:ln/>
        </p:spPr>
        <p:txBody>
          <a:bodyPr wrap="square" lIns="0" tIns="0" rIns="0" bIns="0" rtlCol="0" anchor="ctr"/>
          <a:lstStyle/>
          <a:p>
            <a:pPr marL="0" indent="0">
              <a:buNone/>
            </a:pPr>
            <a:r>
              <a:rPr lang="en-US" sz="3800" b="1" dirty="0">
                <a:solidFill>
                  <a:srgbClr val="B45309"/>
                </a:solidFill>
                <a:latin typeface="Georgia" pitchFamily="34" charset="0"/>
                <a:ea typeface="Georgia" pitchFamily="34" charset="-122"/>
                <a:cs typeface="Georgia" pitchFamily="34" charset="-120"/>
              </a:rPr>
              <a:t>29.1%</a:t>
            </a:r>
            <a:endParaRPr lang="en-US" sz="3800" dirty="0"/>
          </a:p>
        </p:txBody>
      </p:sp>
      <p:sp>
        <p:nvSpPr>
          <p:cNvPr id="20" name="Text 18"/>
          <p:cNvSpPr/>
          <p:nvPr/>
        </p:nvSpPr>
        <p:spPr>
          <a:xfrm>
            <a:off x="4928616" y="3127248"/>
            <a:ext cx="173736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vs. 12.5% for chemotherapy</a:t>
            </a:r>
            <a:endParaRPr lang="en-US" sz="900" dirty="0"/>
          </a:p>
        </p:txBody>
      </p:sp>
      <p:sp>
        <p:nvSpPr>
          <p:cNvPr id="21" name="Shape 19"/>
          <p:cNvSpPr/>
          <p:nvPr/>
        </p:nvSpPr>
        <p:spPr>
          <a:xfrm>
            <a:off x="6958584" y="1828800"/>
            <a:ext cx="2029968" cy="1783080"/>
          </a:xfrm>
          <a:prstGeom prst="rect">
            <a:avLst/>
          </a:prstGeom>
          <a:solidFill>
            <a:srgbClr val="F8FAFC"/>
          </a:solidFill>
          <a:ln w="6350">
            <a:solidFill>
              <a:srgbClr val="E2E8F0"/>
            </a:solidFill>
            <a:prstDash val="solid"/>
          </a:ln>
        </p:spPr>
        <p:txBody>
          <a:bodyPr/>
          <a:lstStyle/>
          <a:p>
            <a:endParaRPr lang="en-IN"/>
          </a:p>
        </p:txBody>
      </p:sp>
      <p:sp>
        <p:nvSpPr>
          <p:cNvPr id="22" name="Shape 20"/>
          <p:cNvSpPr/>
          <p:nvPr/>
        </p:nvSpPr>
        <p:spPr>
          <a:xfrm>
            <a:off x="6958584" y="1828800"/>
            <a:ext cx="2029968" cy="36576"/>
          </a:xfrm>
          <a:prstGeom prst="rect">
            <a:avLst/>
          </a:prstGeom>
          <a:solidFill>
            <a:srgbClr val="7C3AED"/>
          </a:solidFill>
          <a:ln w="12700">
            <a:solidFill>
              <a:srgbClr val="7C3AED"/>
            </a:solidFill>
            <a:prstDash val="solid"/>
          </a:ln>
        </p:spPr>
        <p:txBody>
          <a:bodyPr/>
          <a:lstStyle/>
          <a:p>
            <a:endParaRPr lang="en-IN"/>
          </a:p>
        </p:txBody>
      </p:sp>
      <p:sp>
        <p:nvSpPr>
          <p:cNvPr id="23" name="Text 21"/>
          <p:cNvSpPr/>
          <p:nvPr/>
        </p:nvSpPr>
        <p:spPr>
          <a:xfrm>
            <a:off x="7095744" y="1938528"/>
            <a:ext cx="1737360" cy="34747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Objective Response Rate</a:t>
            </a:r>
            <a:endParaRPr lang="en-US" sz="1000" dirty="0"/>
          </a:p>
        </p:txBody>
      </p:sp>
      <p:sp>
        <p:nvSpPr>
          <p:cNvPr id="24" name="Text 22"/>
          <p:cNvSpPr/>
          <p:nvPr/>
        </p:nvSpPr>
        <p:spPr>
          <a:xfrm>
            <a:off x="7095744" y="2304288"/>
            <a:ext cx="1737360" cy="658368"/>
          </a:xfrm>
          <a:prstGeom prst="rect">
            <a:avLst/>
          </a:prstGeom>
          <a:noFill/>
          <a:ln/>
        </p:spPr>
        <p:txBody>
          <a:bodyPr wrap="square" lIns="0" tIns="0" rIns="0" bIns="0" rtlCol="0" anchor="ctr"/>
          <a:lstStyle/>
          <a:p>
            <a:pPr marL="0" indent="0">
              <a:buNone/>
            </a:pPr>
            <a:r>
              <a:rPr lang="en-US" sz="3800" b="1" dirty="0">
                <a:solidFill>
                  <a:srgbClr val="7C3AED"/>
                </a:solidFill>
                <a:latin typeface="Georgia" pitchFamily="34" charset="0"/>
                <a:ea typeface="Georgia" pitchFamily="34" charset="-122"/>
                <a:cs typeface="Georgia" pitchFamily="34" charset="-120"/>
              </a:rPr>
              <a:t>67.7%</a:t>
            </a:r>
            <a:endParaRPr lang="en-US" sz="3800" dirty="0"/>
          </a:p>
        </p:txBody>
      </p:sp>
      <p:sp>
        <p:nvSpPr>
          <p:cNvPr id="25" name="Text 23"/>
          <p:cNvSpPr/>
          <p:nvPr/>
        </p:nvSpPr>
        <p:spPr>
          <a:xfrm>
            <a:off x="7095744" y="3127248"/>
            <a:ext cx="173736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vs. 44.4% for chemotherapy</a:t>
            </a:r>
            <a:endParaRPr lang="en-US" sz="900" dirty="0"/>
          </a:p>
        </p:txBody>
      </p:sp>
      <p:sp>
        <p:nvSpPr>
          <p:cNvPr id="26" name="Text 24"/>
          <p:cNvSpPr/>
          <p:nvPr/>
        </p:nvSpPr>
        <p:spPr>
          <a:xfrm>
            <a:off x="502920" y="3749040"/>
            <a:ext cx="365760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KEY SUBGROUP HIGHLIGHTS</a:t>
            </a:r>
            <a:endParaRPr lang="en-US" sz="850" dirty="0"/>
          </a:p>
        </p:txBody>
      </p:sp>
      <p:sp>
        <p:nvSpPr>
          <p:cNvPr id="27" name="Text 25"/>
          <p:cNvSpPr/>
          <p:nvPr/>
        </p:nvSpPr>
        <p:spPr>
          <a:xfrm>
            <a:off x="502920" y="4005072"/>
            <a:ext cx="8229600" cy="1005840"/>
          </a:xfrm>
          <a:prstGeom prst="rect">
            <a:avLst/>
          </a:prstGeom>
          <a:noFill/>
          <a:ln/>
        </p:spPr>
        <p:txBody>
          <a:bodyPr wrap="square" rtlCol="0" anchor="ctr"/>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Cisplatin-ineligible patients: HR 0.52 for OS — benefit in patients with NO prior proven survival-extending option</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PD-L1 CPS below 10: HR 0.45 — benefit regardless of PD-L1 status, unlike Keytruda monotherapy approval</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Liver metastases subgroup: consistent benefit maintained in this historically poor-prognosis group</a:t>
            </a:r>
            <a:endParaRPr lang="en-US" sz="1050" dirty="0"/>
          </a:p>
        </p:txBody>
      </p:sp>
      <p:sp>
        <p:nvSpPr>
          <p:cNvPr id="28" name="Text 26"/>
          <p:cNvSpPr/>
          <p:nvPr/>
        </p:nvSpPr>
        <p:spPr>
          <a:xfrm>
            <a:off x="502920" y="4956048"/>
            <a:ext cx="8229600"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Source: EV-302/KEYNOTE-A39. New England Journal of Medicine, 2024. Powles et al.</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CLINICAL FOUNDATION: EV-302</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EV-302 Survival Comparison vs. Platinum Chemotherapy</a:t>
            </a:r>
            <a:endParaRPr lang="en-US" sz="2300" dirty="0"/>
          </a:p>
        </p:txBody>
      </p:sp>
      <p:sp>
        <p:nvSpPr>
          <p:cNvPr id="4" name="Text 2"/>
          <p:cNvSpPr/>
          <p:nvPr/>
        </p:nvSpPr>
        <p:spPr>
          <a:xfrm>
            <a:off x="502920" y="1371600"/>
            <a:ext cx="457200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OVERALL SURVIVAL (MEDIAN MONTHS)</a:t>
            </a:r>
            <a:endParaRPr lang="en-US" sz="850" dirty="0"/>
          </a:p>
        </p:txBody>
      </p:sp>
      <p:sp>
        <p:nvSpPr>
          <p:cNvPr id="5" name="Text 3"/>
          <p:cNvSpPr/>
          <p:nvPr/>
        </p:nvSpPr>
        <p:spPr>
          <a:xfrm>
            <a:off x="502920" y="1691640"/>
            <a:ext cx="2743200" cy="256032"/>
          </a:xfrm>
          <a:prstGeom prst="rect">
            <a:avLst/>
          </a:prstGeom>
          <a:noFill/>
          <a:ln/>
        </p:spPr>
        <p:txBody>
          <a:bodyPr wrap="square" lIns="0" tIns="0" rIns="0" bIns="0" rtlCol="0" anchor="ctr"/>
          <a:lstStyle/>
          <a:p>
            <a:pPr marL="0" indent="0">
              <a:buNone/>
            </a:pPr>
            <a:r>
              <a:rPr lang="en-US" sz="1100" dirty="0">
                <a:solidFill>
                  <a:srgbClr val="1E3A5F"/>
                </a:solidFill>
                <a:latin typeface="Calibri" pitchFamily="34" charset="0"/>
                <a:ea typeface="Calibri" pitchFamily="34" charset="-122"/>
                <a:cs typeface="Calibri" pitchFamily="34" charset="-120"/>
              </a:rPr>
              <a:t>Padcev + Keytruda (EV+K)</a:t>
            </a:r>
            <a:endParaRPr lang="en-US" sz="1100" dirty="0"/>
          </a:p>
        </p:txBody>
      </p:sp>
      <p:sp>
        <p:nvSpPr>
          <p:cNvPr id="6" name="Shape 4"/>
          <p:cNvSpPr/>
          <p:nvPr/>
        </p:nvSpPr>
        <p:spPr>
          <a:xfrm>
            <a:off x="502920" y="1984248"/>
            <a:ext cx="7406640" cy="347472"/>
          </a:xfrm>
          <a:prstGeom prst="rect">
            <a:avLst/>
          </a:prstGeom>
          <a:solidFill>
            <a:srgbClr val="0093D0"/>
          </a:solidFill>
          <a:ln w="12700">
            <a:solidFill>
              <a:srgbClr val="0093D0"/>
            </a:solidFill>
            <a:prstDash val="solid"/>
          </a:ln>
        </p:spPr>
        <p:txBody>
          <a:bodyPr/>
          <a:lstStyle/>
          <a:p>
            <a:endParaRPr lang="en-IN"/>
          </a:p>
        </p:txBody>
      </p:sp>
      <p:sp>
        <p:nvSpPr>
          <p:cNvPr id="7" name="Text 5"/>
          <p:cNvSpPr/>
          <p:nvPr/>
        </p:nvSpPr>
        <p:spPr>
          <a:xfrm>
            <a:off x="8028432" y="1984248"/>
            <a:ext cx="1645920" cy="347472"/>
          </a:xfrm>
          <a:prstGeom prst="rect">
            <a:avLst/>
          </a:prstGeom>
          <a:noFill/>
          <a:ln/>
        </p:spPr>
        <p:txBody>
          <a:bodyPr wrap="square" lIns="0" tIns="0" rIns="0" bIns="0" rtlCol="0" anchor="ctr"/>
          <a:lstStyle/>
          <a:p>
            <a:pPr marL="0" indent="0">
              <a:buNone/>
            </a:pPr>
            <a:r>
              <a:rPr lang="en-US" sz="1200" b="1" dirty="0">
                <a:solidFill>
                  <a:srgbClr val="0093D0"/>
                </a:solidFill>
                <a:latin typeface="Georgia" pitchFamily="34" charset="0"/>
                <a:ea typeface="Georgia" pitchFamily="34" charset="-122"/>
                <a:cs typeface="Georgia" pitchFamily="34" charset="-120"/>
              </a:rPr>
              <a:t>31.5 months</a:t>
            </a:r>
            <a:endParaRPr lang="en-US" sz="1200" dirty="0"/>
          </a:p>
        </p:txBody>
      </p:sp>
      <p:sp>
        <p:nvSpPr>
          <p:cNvPr id="8" name="Text 6"/>
          <p:cNvSpPr/>
          <p:nvPr/>
        </p:nvSpPr>
        <p:spPr>
          <a:xfrm>
            <a:off x="502920" y="2496312"/>
            <a:ext cx="2743200" cy="256032"/>
          </a:xfrm>
          <a:prstGeom prst="rect">
            <a:avLst/>
          </a:prstGeom>
          <a:noFill/>
          <a:ln/>
        </p:spPr>
        <p:txBody>
          <a:bodyPr wrap="square" lIns="0" tIns="0" rIns="0" bIns="0" rtlCol="0" anchor="ctr"/>
          <a:lstStyle/>
          <a:p>
            <a:pPr marL="0" indent="0">
              <a:buNone/>
            </a:pPr>
            <a:r>
              <a:rPr lang="en-US" sz="1100" dirty="0">
                <a:solidFill>
                  <a:srgbClr val="1E3A5F"/>
                </a:solidFill>
                <a:latin typeface="Calibri" pitchFamily="34" charset="0"/>
                <a:ea typeface="Calibri" pitchFamily="34" charset="-122"/>
                <a:cs typeface="Calibri" pitchFamily="34" charset="-120"/>
              </a:rPr>
              <a:t>Platinum-Based Chemotherapy</a:t>
            </a:r>
            <a:endParaRPr lang="en-US" sz="1100" dirty="0"/>
          </a:p>
        </p:txBody>
      </p:sp>
      <p:sp>
        <p:nvSpPr>
          <p:cNvPr id="9" name="Shape 7"/>
          <p:cNvSpPr/>
          <p:nvPr/>
        </p:nvSpPr>
        <p:spPr>
          <a:xfrm>
            <a:off x="502920" y="2788920"/>
            <a:ext cx="3794760" cy="347472"/>
          </a:xfrm>
          <a:prstGeom prst="rect">
            <a:avLst/>
          </a:prstGeom>
          <a:solidFill>
            <a:srgbClr val="CBD5E1"/>
          </a:solidFill>
          <a:ln w="12700">
            <a:solidFill>
              <a:srgbClr val="CBD5E1"/>
            </a:solidFill>
            <a:prstDash val="solid"/>
          </a:ln>
        </p:spPr>
        <p:txBody>
          <a:bodyPr/>
          <a:lstStyle/>
          <a:p>
            <a:endParaRPr lang="en-IN"/>
          </a:p>
        </p:txBody>
      </p:sp>
      <p:sp>
        <p:nvSpPr>
          <p:cNvPr id="10" name="Text 8"/>
          <p:cNvSpPr/>
          <p:nvPr/>
        </p:nvSpPr>
        <p:spPr>
          <a:xfrm>
            <a:off x="4416552" y="2788920"/>
            <a:ext cx="1645920" cy="347472"/>
          </a:xfrm>
          <a:prstGeom prst="rect">
            <a:avLst/>
          </a:prstGeom>
          <a:noFill/>
          <a:ln/>
        </p:spPr>
        <p:txBody>
          <a:bodyPr wrap="square" lIns="0" tIns="0" rIns="0" bIns="0" rtlCol="0" anchor="ctr"/>
          <a:lstStyle/>
          <a:p>
            <a:pPr marL="0" indent="0">
              <a:buNone/>
            </a:pPr>
            <a:r>
              <a:rPr lang="en-US" sz="1200" b="1" dirty="0">
                <a:solidFill>
                  <a:srgbClr val="CBD5E1"/>
                </a:solidFill>
                <a:latin typeface="Georgia" pitchFamily="34" charset="0"/>
                <a:ea typeface="Georgia" pitchFamily="34" charset="-122"/>
                <a:cs typeface="Georgia" pitchFamily="34" charset="-120"/>
              </a:rPr>
              <a:t>16.1 months</a:t>
            </a:r>
            <a:endParaRPr lang="en-US" sz="1200" dirty="0"/>
          </a:p>
        </p:txBody>
      </p:sp>
      <p:sp>
        <p:nvSpPr>
          <p:cNvPr id="11" name="Shape 9"/>
          <p:cNvSpPr/>
          <p:nvPr/>
        </p:nvSpPr>
        <p:spPr>
          <a:xfrm>
            <a:off x="502920" y="3401568"/>
            <a:ext cx="8229600" cy="18288"/>
          </a:xfrm>
          <a:prstGeom prst="rect">
            <a:avLst/>
          </a:prstGeom>
          <a:solidFill>
            <a:srgbClr val="E2E8F0"/>
          </a:solidFill>
          <a:ln w="12700">
            <a:solidFill>
              <a:srgbClr val="E2E8F0"/>
            </a:solidFill>
            <a:prstDash val="solid"/>
          </a:ln>
        </p:spPr>
        <p:txBody>
          <a:bodyPr/>
          <a:lstStyle/>
          <a:p>
            <a:endParaRPr lang="en-IN"/>
          </a:p>
        </p:txBody>
      </p:sp>
      <p:sp>
        <p:nvSpPr>
          <p:cNvPr id="12" name="Text 10"/>
          <p:cNvSpPr/>
          <p:nvPr/>
        </p:nvSpPr>
        <p:spPr>
          <a:xfrm>
            <a:off x="502920" y="3547872"/>
            <a:ext cx="457200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RESPONSE RATE COMPARISON</a:t>
            </a:r>
            <a:endParaRPr lang="en-US" sz="850" dirty="0"/>
          </a:p>
        </p:txBody>
      </p:sp>
      <p:sp>
        <p:nvSpPr>
          <p:cNvPr id="13" name="Text 11"/>
          <p:cNvSpPr/>
          <p:nvPr/>
        </p:nvSpPr>
        <p:spPr>
          <a:xfrm>
            <a:off x="502920" y="3822192"/>
            <a:ext cx="25603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ORR: Padcev + Keytruda</a:t>
            </a:r>
            <a:endParaRPr lang="en-US" sz="1000" dirty="0"/>
          </a:p>
        </p:txBody>
      </p:sp>
      <p:sp>
        <p:nvSpPr>
          <p:cNvPr id="14" name="Shape 12"/>
          <p:cNvSpPr/>
          <p:nvPr/>
        </p:nvSpPr>
        <p:spPr>
          <a:xfrm>
            <a:off x="3154680" y="3858768"/>
            <a:ext cx="5596128" cy="228600"/>
          </a:xfrm>
          <a:prstGeom prst="rect">
            <a:avLst/>
          </a:prstGeom>
          <a:solidFill>
            <a:srgbClr val="0093D0"/>
          </a:solidFill>
          <a:ln w="12700">
            <a:solidFill>
              <a:srgbClr val="0093D0"/>
            </a:solidFill>
            <a:prstDash val="solid"/>
          </a:ln>
        </p:spPr>
        <p:txBody>
          <a:bodyPr/>
          <a:lstStyle/>
          <a:p>
            <a:endParaRPr lang="en-IN"/>
          </a:p>
        </p:txBody>
      </p:sp>
      <p:sp>
        <p:nvSpPr>
          <p:cNvPr id="15" name="Text 13"/>
          <p:cNvSpPr/>
          <p:nvPr/>
        </p:nvSpPr>
        <p:spPr>
          <a:xfrm>
            <a:off x="8842248" y="3822192"/>
            <a:ext cx="1097280" cy="292608"/>
          </a:xfrm>
          <a:prstGeom prst="rect">
            <a:avLst/>
          </a:prstGeom>
          <a:noFill/>
          <a:ln/>
        </p:spPr>
        <p:txBody>
          <a:bodyPr wrap="square" lIns="0" tIns="0" rIns="0" bIns="0" rtlCol="0" anchor="ctr"/>
          <a:lstStyle/>
          <a:p>
            <a:pPr marL="0" indent="0">
              <a:buNone/>
            </a:pPr>
            <a:r>
              <a:rPr lang="en-US" sz="1100" b="1" dirty="0">
                <a:solidFill>
                  <a:srgbClr val="0093D0"/>
                </a:solidFill>
                <a:latin typeface="Georgia" pitchFamily="34" charset="0"/>
                <a:ea typeface="Georgia" pitchFamily="34" charset="-122"/>
                <a:cs typeface="Georgia" pitchFamily="34" charset="-120"/>
              </a:rPr>
              <a:t>67.7%</a:t>
            </a:r>
            <a:endParaRPr lang="en-US" sz="1100" dirty="0"/>
          </a:p>
        </p:txBody>
      </p:sp>
      <p:sp>
        <p:nvSpPr>
          <p:cNvPr id="16" name="Text 14"/>
          <p:cNvSpPr/>
          <p:nvPr/>
        </p:nvSpPr>
        <p:spPr>
          <a:xfrm>
            <a:off x="502920" y="4224528"/>
            <a:ext cx="25603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Complete Response: EV+K</a:t>
            </a:r>
            <a:endParaRPr lang="en-US" sz="1000" dirty="0"/>
          </a:p>
        </p:txBody>
      </p:sp>
      <p:sp>
        <p:nvSpPr>
          <p:cNvPr id="17" name="Shape 15"/>
          <p:cNvSpPr/>
          <p:nvPr/>
        </p:nvSpPr>
        <p:spPr>
          <a:xfrm>
            <a:off x="3154680" y="4261104"/>
            <a:ext cx="2404872" cy="228600"/>
          </a:xfrm>
          <a:prstGeom prst="rect">
            <a:avLst/>
          </a:prstGeom>
          <a:solidFill>
            <a:srgbClr val="1A7A4A"/>
          </a:solidFill>
          <a:ln w="12700">
            <a:solidFill>
              <a:srgbClr val="1A7A4A"/>
            </a:solidFill>
            <a:prstDash val="solid"/>
          </a:ln>
        </p:spPr>
        <p:txBody>
          <a:bodyPr/>
          <a:lstStyle/>
          <a:p>
            <a:endParaRPr lang="en-IN"/>
          </a:p>
        </p:txBody>
      </p:sp>
      <p:sp>
        <p:nvSpPr>
          <p:cNvPr id="18" name="Text 16"/>
          <p:cNvSpPr/>
          <p:nvPr/>
        </p:nvSpPr>
        <p:spPr>
          <a:xfrm>
            <a:off x="5650992" y="4224528"/>
            <a:ext cx="1097280" cy="292608"/>
          </a:xfrm>
          <a:prstGeom prst="rect">
            <a:avLst/>
          </a:prstGeom>
          <a:noFill/>
          <a:ln/>
        </p:spPr>
        <p:txBody>
          <a:bodyPr wrap="square" lIns="0" tIns="0" rIns="0" bIns="0" rtlCol="0" anchor="ctr"/>
          <a:lstStyle/>
          <a:p>
            <a:pPr marL="0" indent="0">
              <a:buNone/>
            </a:pPr>
            <a:r>
              <a:rPr lang="en-US" sz="1100" b="1" dirty="0">
                <a:solidFill>
                  <a:srgbClr val="1A7A4A"/>
                </a:solidFill>
                <a:latin typeface="Georgia" pitchFamily="34" charset="0"/>
                <a:ea typeface="Georgia" pitchFamily="34" charset="-122"/>
                <a:cs typeface="Georgia" pitchFamily="34" charset="-120"/>
              </a:rPr>
              <a:t>29.1%</a:t>
            </a:r>
            <a:endParaRPr lang="en-US" sz="1100" dirty="0"/>
          </a:p>
        </p:txBody>
      </p:sp>
      <p:sp>
        <p:nvSpPr>
          <p:cNvPr id="19" name="Text 17"/>
          <p:cNvSpPr/>
          <p:nvPr/>
        </p:nvSpPr>
        <p:spPr>
          <a:xfrm>
            <a:off x="502920" y="4626864"/>
            <a:ext cx="2560320" cy="25603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ORR: Chemotherapy</a:t>
            </a:r>
            <a:endParaRPr lang="en-US" sz="1000" dirty="0"/>
          </a:p>
        </p:txBody>
      </p:sp>
      <p:sp>
        <p:nvSpPr>
          <p:cNvPr id="20" name="Shape 18"/>
          <p:cNvSpPr/>
          <p:nvPr/>
        </p:nvSpPr>
        <p:spPr>
          <a:xfrm>
            <a:off x="3154680" y="4663440"/>
            <a:ext cx="3657600" cy="228600"/>
          </a:xfrm>
          <a:prstGeom prst="rect">
            <a:avLst/>
          </a:prstGeom>
          <a:solidFill>
            <a:srgbClr val="CBD5E1"/>
          </a:solidFill>
          <a:ln w="12700">
            <a:solidFill>
              <a:srgbClr val="CBD5E1"/>
            </a:solidFill>
            <a:prstDash val="solid"/>
          </a:ln>
        </p:spPr>
        <p:txBody>
          <a:bodyPr/>
          <a:lstStyle/>
          <a:p>
            <a:endParaRPr lang="en-IN"/>
          </a:p>
        </p:txBody>
      </p:sp>
      <p:sp>
        <p:nvSpPr>
          <p:cNvPr id="21" name="Text 19"/>
          <p:cNvSpPr/>
          <p:nvPr/>
        </p:nvSpPr>
        <p:spPr>
          <a:xfrm>
            <a:off x="6903720" y="4626864"/>
            <a:ext cx="1097280" cy="292608"/>
          </a:xfrm>
          <a:prstGeom prst="rect">
            <a:avLst/>
          </a:prstGeom>
          <a:noFill/>
          <a:ln/>
        </p:spPr>
        <p:txBody>
          <a:bodyPr wrap="square" lIns="0" tIns="0" rIns="0" bIns="0" rtlCol="0" anchor="ctr"/>
          <a:lstStyle/>
          <a:p>
            <a:pPr marL="0" indent="0">
              <a:buNone/>
            </a:pPr>
            <a:r>
              <a:rPr lang="en-US" sz="1100" b="1" dirty="0">
                <a:solidFill>
                  <a:srgbClr val="CBD5E1"/>
                </a:solidFill>
                <a:latin typeface="Georgia" pitchFamily="34" charset="0"/>
                <a:ea typeface="Georgia" pitchFamily="34" charset="-122"/>
                <a:cs typeface="Georgia" pitchFamily="34" charset="-120"/>
              </a:rPr>
              <a:t>44.4%</a:t>
            </a:r>
            <a:endParaRPr lang="en-US" sz="1100" dirty="0"/>
          </a:p>
        </p:txBody>
      </p:sp>
      <p:sp>
        <p:nvSpPr>
          <p:cNvPr id="22" name="Shape 20"/>
          <p:cNvSpPr/>
          <p:nvPr/>
        </p:nvSpPr>
        <p:spPr>
          <a:xfrm>
            <a:off x="502920" y="4937760"/>
            <a:ext cx="2286000" cy="18288"/>
          </a:xfrm>
          <a:prstGeom prst="rect">
            <a:avLst/>
          </a:prstGeom>
          <a:solidFill>
            <a:srgbClr val="0093D0"/>
          </a:solidFill>
          <a:ln w="12700">
            <a:solidFill>
              <a:srgbClr val="0093D0"/>
            </a:solidFill>
            <a:prstDash val="solid"/>
          </a:ln>
        </p:spPr>
        <p:txBody>
          <a:bodyPr/>
          <a:lstStyle/>
          <a:p>
            <a:endParaRPr lang="en-IN"/>
          </a:p>
        </p:txBody>
      </p:sp>
      <p:sp>
        <p:nvSpPr>
          <p:cNvPr id="23" name="Text 21"/>
          <p:cNvSpPr/>
          <p:nvPr/>
        </p:nvSpPr>
        <p:spPr>
          <a:xfrm>
            <a:off x="502920" y="4983480"/>
            <a:ext cx="8229600" cy="164592"/>
          </a:xfrm>
          <a:prstGeom prst="rect">
            <a:avLst/>
          </a:prstGeom>
          <a:noFill/>
          <a:ln/>
        </p:spPr>
        <p:txBody>
          <a:bodyPr wrap="square" lIns="0" tIns="0" rIns="0" bIns="0" rtlCol="0" anchor="ctr"/>
          <a:lstStyle/>
          <a:p>
            <a:pPr marL="0" indent="0">
              <a:buNone/>
            </a:pPr>
            <a:r>
              <a:rPr lang="en-US" sz="950" dirty="0">
                <a:solidFill>
                  <a:srgbClr val="006BA6"/>
                </a:solidFill>
                <a:latin typeface="Calibri" pitchFamily="34" charset="0"/>
                <a:ea typeface="Calibri" pitchFamily="34" charset="-122"/>
                <a:cs typeface="Calibri" pitchFamily="34" charset="-120"/>
              </a:rPr>
              <a:t>The 15.4-month OS improvement is among the largest ever demonstrated in a 1L solid tumor phase 3 trial.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93D0"/>
          </a:solidFill>
          <a:ln w="12700">
            <a:solidFill>
              <a:srgbClr val="0093D0"/>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082040"/>
                </a:solidFill>
                <a:latin typeface="Georgia" pitchFamily="34" charset="0"/>
                <a:ea typeface="Georgia" pitchFamily="34" charset="-122"/>
                <a:cs typeface="Georgia" pitchFamily="34" charset="-120"/>
              </a:rPr>
              <a:t>01</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Market</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Landscape</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7DD3F0"/>
                </a:solidFill>
                <a:latin typeface="Calibri" pitchFamily="34" charset="0"/>
                <a:ea typeface="Calibri" pitchFamily="34" charset="-122"/>
                <a:cs typeface="Calibri" pitchFamily="34" charset="-120"/>
              </a:rPr>
              <a:t>Epidemiology  |  Cisplatin Eligibility  |  TAM Model  |  Treatment History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01 / MARKET LANDSCAPE</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Bladder Cancer Market Opportunity</a:t>
            </a:r>
            <a:endParaRPr lang="en-US" sz="2300" dirty="0"/>
          </a:p>
        </p:txBody>
      </p:sp>
      <p:sp>
        <p:nvSpPr>
          <p:cNvPr id="4" name="Shape 2"/>
          <p:cNvSpPr/>
          <p:nvPr/>
        </p:nvSpPr>
        <p:spPr>
          <a:xfrm>
            <a:off x="457200" y="1371600"/>
            <a:ext cx="2029968" cy="1481328"/>
          </a:xfrm>
          <a:prstGeom prst="rect">
            <a:avLst/>
          </a:prstGeom>
          <a:solidFill>
            <a:srgbClr val="F8FAFC"/>
          </a:solidFill>
          <a:ln w="6350">
            <a:solidFill>
              <a:srgbClr val="E2E8F0"/>
            </a:solidFill>
            <a:prstDash val="solid"/>
          </a:ln>
        </p:spPr>
        <p:txBody>
          <a:bodyPr/>
          <a:lstStyle/>
          <a:p>
            <a:endParaRPr lang="en-IN"/>
          </a:p>
        </p:txBody>
      </p:sp>
      <p:sp>
        <p:nvSpPr>
          <p:cNvPr id="5" name="Text 3"/>
          <p:cNvSpPr/>
          <p:nvPr/>
        </p:nvSpPr>
        <p:spPr>
          <a:xfrm>
            <a:off x="594360" y="1463040"/>
            <a:ext cx="1737360" cy="685800"/>
          </a:xfrm>
          <a:prstGeom prst="rect">
            <a:avLst/>
          </a:prstGeom>
          <a:noFill/>
          <a:ln/>
        </p:spPr>
        <p:txBody>
          <a:bodyPr wrap="square" lIns="0" tIns="0" rIns="0" bIns="0" rtlCol="0" anchor="ctr"/>
          <a:lstStyle/>
          <a:p>
            <a:pPr marL="0" indent="0">
              <a:buNone/>
            </a:pPr>
            <a:r>
              <a:rPr lang="en-US" sz="3600" b="1" dirty="0">
                <a:solidFill>
                  <a:srgbClr val="0093D0"/>
                </a:solidFill>
                <a:latin typeface="Georgia" pitchFamily="34" charset="0"/>
                <a:ea typeface="Georgia" pitchFamily="34" charset="-122"/>
                <a:cs typeface="Georgia" pitchFamily="34" charset="-120"/>
              </a:rPr>
              <a:t>83K+</a:t>
            </a:r>
            <a:endParaRPr lang="en-US" sz="3600" dirty="0"/>
          </a:p>
        </p:txBody>
      </p:sp>
      <p:sp>
        <p:nvSpPr>
          <p:cNvPr id="6" name="Text 4"/>
          <p:cNvSpPr/>
          <p:nvPr/>
        </p:nvSpPr>
        <p:spPr>
          <a:xfrm>
            <a:off x="594360" y="2121408"/>
            <a:ext cx="1737360" cy="56692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New US bladder cancer</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diagnoses annually</a:t>
            </a:r>
            <a:endParaRPr lang="en-US" sz="1000" dirty="0"/>
          </a:p>
        </p:txBody>
      </p:sp>
      <p:sp>
        <p:nvSpPr>
          <p:cNvPr id="7" name="Shape 5"/>
          <p:cNvSpPr/>
          <p:nvPr/>
        </p:nvSpPr>
        <p:spPr>
          <a:xfrm>
            <a:off x="2624328" y="1371600"/>
            <a:ext cx="2029968" cy="1481328"/>
          </a:xfrm>
          <a:prstGeom prst="rect">
            <a:avLst/>
          </a:prstGeom>
          <a:solidFill>
            <a:srgbClr val="F8FAFC"/>
          </a:solidFill>
          <a:ln w="6350">
            <a:solidFill>
              <a:srgbClr val="E2E8F0"/>
            </a:solidFill>
            <a:prstDash val="solid"/>
          </a:ln>
        </p:spPr>
        <p:txBody>
          <a:bodyPr/>
          <a:lstStyle/>
          <a:p>
            <a:endParaRPr lang="en-IN"/>
          </a:p>
        </p:txBody>
      </p:sp>
      <p:sp>
        <p:nvSpPr>
          <p:cNvPr id="8" name="Text 6"/>
          <p:cNvSpPr/>
          <p:nvPr/>
        </p:nvSpPr>
        <p:spPr>
          <a:xfrm>
            <a:off x="2761488" y="1463040"/>
            <a:ext cx="1737360" cy="685800"/>
          </a:xfrm>
          <a:prstGeom prst="rect">
            <a:avLst/>
          </a:prstGeom>
          <a:noFill/>
          <a:ln/>
        </p:spPr>
        <p:txBody>
          <a:bodyPr wrap="square" lIns="0" tIns="0" rIns="0" bIns="0" rtlCol="0" anchor="ctr"/>
          <a:lstStyle/>
          <a:p>
            <a:pPr marL="0" indent="0">
              <a:buNone/>
            </a:pPr>
            <a:r>
              <a:rPr lang="en-US" sz="3600" b="1" dirty="0">
                <a:solidFill>
                  <a:srgbClr val="1A7A4A"/>
                </a:solidFill>
                <a:latin typeface="Georgia" pitchFamily="34" charset="0"/>
                <a:ea typeface="Georgia" pitchFamily="34" charset="-122"/>
                <a:cs typeface="Georgia" pitchFamily="34" charset="-120"/>
              </a:rPr>
              <a:t>23K</a:t>
            </a:r>
            <a:endParaRPr lang="en-US" sz="3600" dirty="0"/>
          </a:p>
        </p:txBody>
      </p:sp>
      <p:sp>
        <p:nvSpPr>
          <p:cNvPr id="9" name="Text 7"/>
          <p:cNvSpPr/>
          <p:nvPr/>
        </p:nvSpPr>
        <p:spPr>
          <a:xfrm>
            <a:off x="2761488" y="2121408"/>
            <a:ext cx="1737360" cy="56692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Patients with locally</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advanced or metastatic disease</a:t>
            </a:r>
            <a:endParaRPr lang="en-US" sz="1000" dirty="0"/>
          </a:p>
        </p:txBody>
      </p:sp>
      <p:sp>
        <p:nvSpPr>
          <p:cNvPr id="10" name="Shape 8"/>
          <p:cNvSpPr/>
          <p:nvPr/>
        </p:nvSpPr>
        <p:spPr>
          <a:xfrm>
            <a:off x="4791456" y="1371600"/>
            <a:ext cx="2029968" cy="1481328"/>
          </a:xfrm>
          <a:prstGeom prst="rect">
            <a:avLst/>
          </a:prstGeom>
          <a:solidFill>
            <a:srgbClr val="F8FAFC"/>
          </a:solidFill>
          <a:ln w="6350">
            <a:solidFill>
              <a:srgbClr val="E2E8F0"/>
            </a:solidFill>
            <a:prstDash val="solid"/>
          </a:ln>
        </p:spPr>
        <p:txBody>
          <a:bodyPr/>
          <a:lstStyle/>
          <a:p>
            <a:endParaRPr lang="en-IN"/>
          </a:p>
        </p:txBody>
      </p:sp>
      <p:sp>
        <p:nvSpPr>
          <p:cNvPr id="11" name="Text 9"/>
          <p:cNvSpPr/>
          <p:nvPr/>
        </p:nvSpPr>
        <p:spPr>
          <a:xfrm>
            <a:off x="4928616" y="1463040"/>
            <a:ext cx="1737360" cy="685800"/>
          </a:xfrm>
          <a:prstGeom prst="rect">
            <a:avLst/>
          </a:prstGeom>
          <a:noFill/>
          <a:ln/>
        </p:spPr>
        <p:txBody>
          <a:bodyPr wrap="square" lIns="0" tIns="0" rIns="0" bIns="0" rtlCol="0" anchor="ctr"/>
          <a:lstStyle/>
          <a:p>
            <a:pPr marL="0" indent="0">
              <a:buNone/>
            </a:pPr>
            <a:r>
              <a:rPr lang="en-US" sz="3600" b="1" dirty="0">
                <a:solidFill>
                  <a:srgbClr val="B45309"/>
                </a:solidFill>
                <a:latin typeface="Georgia" pitchFamily="34" charset="0"/>
                <a:ea typeface="Georgia" pitchFamily="34" charset="-122"/>
                <a:cs typeface="Georgia" pitchFamily="34" charset="-120"/>
              </a:rPr>
              <a:t>73</a:t>
            </a:r>
            <a:endParaRPr lang="en-US" sz="3600" dirty="0"/>
          </a:p>
        </p:txBody>
      </p:sp>
      <p:sp>
        <p:nvSpPr>
          <p:cNvPr id="12" name="Text 10"/>
          <p:cNvSpPr/>
          <p:nvPr/>
        </p:nvSpPr>
        <p:spPr>
          <a:xfrm>
            <a:off x="4928616" y="2121408"/>
            <a:ext cx="1737360" cy="56692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Median age at diagnosis</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(predominantly male)</a:t>
            </a:r>
            <a:endParaRPr lang="en-US" sz="1000" dirty="0"/>
          </a:p>
        </p:txBody>
      </p:sp>
      <p:sp>
        <p:nvSpPr>
          <p:cNvPr id="13" name="Shape 11"/>
          <p:cNvSpPr/>
          <p:nvPr/>
        </p:nvSpPr>
        <p:spPr>
          <a:xfrm>
            <a:off x="6958584" y="1371600"/>
            <a:ext cx="2029968" cy="1481328"/>
          </a:xfrm>
          <a:prstGeom prst="rect">
            <a:avLst/>
          </a:prstGeom>
          <a:solidFill>
            <a:srgbClr val="F8FAFC"/>
          </a:solidFill>
          <a:ln w="6350">
            <a:solidFill>
              <a:srgbClr val="E2E8F0"/>
            </a:solidFill>
            <a:prstDash val="solid"/>
          </a:ln>
        </p:spPr>
        <p:txBody>
          <a:bodyPr/>
          <a:lstStyle/>
          <a:p>
            <a:endParaRPr lang="en-IN"/>
          </a:p>
        </p:txBody>
      </p:sp>
      <p:sp>
        <p:nvSpPr>
          <p:cNvPr id="14" name="Text 12"/>
          <p:cNvSpPr/>
          <p:nvPr/>
        </p:nvSpPr>
        <p:spPr>
          <a:xfrm>
            <a:off x="7095744" y="1463040"/>
            <a:ext cx="1737360" cy="685800"/>
          </a:xfrm>
          <a:prstGeom prst="rect">
            <a:avLst/>
          </a:prstGeom>
          <a:noFill/>
          <a:ln/>
        </p:spPr>
        <p:txBody>
          <a:bodyPr wrap="square" lIns="0" tIns="0" rIns="0" bIns="0" rtlCol="0" anchor="ctr"/>
          <a:lstStyle/>
          <a:p>
            <a:pPr marL="0" indent="0">
              <a:buNone/>
            </a:pPr>
            <a:r>
              <a:rPr lang="en-US" sz="3600" b="1" dirty="0">
                <a:solidFill>
                  <a:srgbClr val="7C3AED"/>
                </a:solidFill>
                <a:latin typeface="Georgia" pitchFamily="34" charset="0"/>
                <a:ea typeface="Georgia" pitchFamily="34" charset="-122"/>
                <a:cs typeface="Georgia" pitchFamily="34" charset="-120"/>
              </a:rPr>
              <a:t>$4.5B+</a:t>
            </a:r>
            <a:endParaRPr lang="en-US" sz="3600" dirty="0"/>
          </a:p>
        </p:txBody>
      </p:sp>
      <p:sp>
        <p:nvSpPr>
          <p:cNvPr id="15" name="Text 13"/>
          <p:cNvSpPr/>
          <p:nvPr/>
        </p:nvSpPr>
        <p:spPr>
          <a:xfrm>
            <a:off x="7095744" y="2121408"/>
            <a:ext cx="1737360" cy="56692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Pfizer peak annual revenue</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opportunity from 1L indication</a:t>
            </a:r>
            <a:endParaRPr lang="en-US" sz="1000" dirty="0"/>
          </a:p>
        </p:txBody>
      </p:sp>
      <p:sp>
        <p:nvSpPr>
          <p:cNvPr id="16" name="Shape 14"/>
          <p:cNvSpPr/>
          <p:nvPr/>
        </p:nvSpPr>
        <p:spPr>
          <a:xfrm>
            <a:off x="457200" y="2999232"/>
            <a:ext cx="8275320" cy="18288"/>
          </a:xfrm>
          <a:prstGeom prst="rect">
            <a:avLst/>
          </a:prstGeom>
          <a:solidFill>
            <a:srgbClr val="E2E8F0"/>
          </a:solidFill>
          <a:ln w="12700">
            <a:solidFill>
              <a:srgbClr val="E2E8F0"/>
            </a:solidFill>
            <a:prstDash val="solid"/>
          </a:ln>
        </p:spPr>
        <p:txBody>
          <a:bodyPr/>
          <a:lstStyle/>
          <a:p>
            <a:endParaRPr lang="en-IN"/>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127248"/>
          <a:ext cx="8275320" cy="1944624"/>
        </p:xfrm>
        <a:graphic>
          <a:graphicData uri="http://schemas.openxmlformats.org/drawingml/2006/table">
            <a:tbl>
              <a:tblPr/>
              <a:tblGrid>
                <a:gridCol w="18288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8404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Patient Attribute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Profile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Commercial Implication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Age distribution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Median age 73, predominantly male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Medicare Part B is primary payer for 55-60% of patients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Histology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90%+ urothelial carcinoma</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Padcev's Nectin-4 target is expressed in 97%+ of urothelial cases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Cisplatin eligibility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~50% ineligible due to renal function, neuropathy, PS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Largest underserved segment — no prior proven survival-extending option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Geographic concentration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10-15 academic centers treat disproportionate share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Academic center adoption drives community adoption in 12-24 months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01 / MARKET LANDSCAPE</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Cisplatin Eligibility: The Critical Commercial Segmentation Variable</a:t>
            </a:r>
            <a:endParaRPr lang="en-US" sz="2300" dirty="0"/>
          </a:p>
        </p:txBody>
      </p:sp>
      <p:sp>
        <p:nvSpPr>
          <p:cNvPr id="4" name="Text 2"/>
          <p:cNvSpPr/>
          <p:nvPr/>
        </p:nvSpPr>
        <p:spPr>
          <a:xfrm>
            <a:off x="502920" y="1371600"/>
            <a:ext cx="8229600" cy="34747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Approximately 50% of la/mUC patients cannot receive cisplatin. This population is the highest commercial priority because they had no approved survival-extending option before Padcev plus Keytruda.</a:t>
            </a:r>
            <a:endParaRPr lang="en-US" sz="1150" dirty="0"/>
          </a:p>
        </p:txBody>
      </p:sp>
      <p:sp>
        <p:nvSpPr>
          <p:cNvPr id="5" name="Shape 3"/>
          <p:cNvSpPr/>
          <p:nvPr/>
        </p:nvSpPr>
        <p:spPr>
          <a:xfrm>
            <a:off x="457200" y="1874520"/>
            <a:ext cx="4069080" cy="2926080"/>
          </a:xfrm>
          <a:prstGeom prst="rect">
            <a:avLst/>
          </a:prstGeom>
          <a:solidFill>
            <a:srgbClr val="F8FAFC"/>
          </a:solidFill>
          <a:ln w="6350">
            <a:solidFill>
              <a:srgbClr val="E2E8F0"/>
            </a:solidFill>
            <a:prstDash val="solid"/>
          </a:ln>
        </p:spPr>
        <p:txBody>
          <a:bodyPr/>
          <a:lstStyle/>
          <a:p>
            <a:endParaRPr lang="en-IN"/>
          </a:p>
        </p:txBody>
      </p:sp>
      <p:sp>
        <p:nvSpPr>
          <p:cNvPr id="6" name="Shape 4"/>
          <p:cNvSpPr/>
          <p:nvPr/>
        </p:nvSpPr>
        <p:spPr>
          <a:xfrm>
            <a:off x="457200" y="1874520"/>
            <a:ext cx="54864" cy="2926080"/>
          </a:xfrm>
          <a:prstGeom prst="rect">
            <a:avLst/>
          </a:prstGeom>
          <a:solidFill>
            <a:srgbClr val="0093D0"/>
          </a:solidFill>
          <a:ln w="12700">
            <a:solidFill>
              <a:srgbClr val="0093D0"/>
            </a:solidFill>
            <a:prstDash val="solid"/>
          </a:ln>
        </p:spPr>
        <p:txBody>
          <a:bodyPr/>
          <a:lstStyle/>
          <a:p>
            <a:endParaRPr lang="en-IN"/>
          </a:p>
        </p:txBody>
      </p:sp>
      <p:sp>
        <p:nvSpPr>
          <p:cNvPr id="7" name="Text 5"/>
          <p:cNvSpPr/>
          <p:nvPr/>
        </p:nvSpPr>
        <p:spPr>
          <a:xfrm>
            <a:off x="658368" y="1993392"/>
            <a:ext cx="3474720" cy="201168"/>
          </a:xfrm>
          <a:prstGeom prst="rect">
            <a:avLst/>
          </a:prstGeom>
          <a:noFill/>
          <a:ln/>
        </p:spPr>
        <p:txBody>
          <a:bodyPr wrap="square" lIns="0" tIns="0" rIns="0" bIns="0" rtlCol="0" anchor="ctr"/>
          <a:lstStyle/>
          <a:p>
            <a:pPr marL="0" indent="0">
              <a:buNone/>
            </a:pPr>
            <a:r>
              <a:rPr lang="en-US" sz="850" b="1" kern="0" spc="150" dirty="0">
                <a:solidFill>
                  <a:srgbClr val="0093D0"/>
                </a:solidFill>
                <a:latin typeface="Calibri" pitchFamily="34" charset="0"/>
                <a:ea typeface="Calibri" pitchFamily="34" charset="-122"/>
                <a:cs typeface="Calibri" pitchFamily="34" charset="-120"/>
              </a:rPr>
              <a:t>CISPLATIN ELIGIBLE (~50%)</a:t>
            </a:r>
            <a:endParaRPr lang="en-US" sz="850" dirty="0"/>
          </a:p>
        </p:txBody>
      </p:sp>
      <p:sp>
        <p:nvSpPr>
          <p:cNvPr id="8" name="Text 6"/>
          <p:cNvSpPr/>
          <p:nvPr/>
        </p:nvSpPr>
        <p:spPr>
          <a:xfrm>
            <a:off x="658368" y="2231136"/>
            <a:ext cx="356616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CrCl above 60 mL/min, adequate PS, no peripheral neuropathy</a:t>
            </a:r>
            <a:endParaRPr lang="en-US" sz="1000" dirty="0"/>
          </a:p>
        </p:txBody>
      </p:sp>
      <p:sp>
        <p:nvSpPr>
          <p:cNvPr id="9" name="Shape 7"/>
          <p:cNvSpPr/>
          <p:nvPr/>
        </p:nvSpPr>
        <p:spPr>
          <a:xfrm>
            <a:off x="658368" y="2606040"/>
            <a:ext cx="3566160" cy="9144"/>
          </a:xfrm>
          <a:prstGeom prst="rect">
            <a:avLst/>
          </a:prstGeom>
          <a:solidFill>
            <a:srgbClr val="CBD5E1"/>
          </a:solidFill>
          <a:ln w="12700">
            <a:solidFill>
              <a:srgbClr val="CBD5E1"/>
            </a:solidFill>
            <a:prstDash val="solid"/>
          </a:ln>
        </p:spPr>
        <p:txBody>
          <a:bodyPr/>
          <a:lstStyle/>
          <a:p>
            <a:endParaRPr lang="en-IN"/>
          </a:p>
        </p:txBody>
      </p:sp>
      <p:sp>
        <p:nvSpPr>
          <p:cNvPr id="10" name="Text 8"/>
          <p:cNvSpPr/>
          <p:nvPr/>
        </p:nvSpPr>
        <p:spPr>
          <a:xfrm>
            <a:off x="658368" y="2697480"/>
            <a:ext cx="3200400" cy="201168"/>
          </a:xfrm>
          <a:prstGeom prst="rect">
            <a:avLst/>
          </a:prstGeom>
          <a:noFill/>
          <a:ln/>
        </p:spPr>
        <p:txBody>
          <a:bodyPr wrap="square" lIns="0" tIns="0" rIns="0" bIns="0" rtlCol="0" anchor="ctr"/>
          <a:lstStyle/>
          <a:p>
            <a:pPr marL="0" indent="0">
              <a:buNone/>
            </a:pPr>
            <a:r>
              <a:rPr lang="en-US" sz="900" b="1" dirty="0">
                <a:solidFill>
                  <a:srgbClr val="94A3B8"/>
                </a:solidFill>
                <a:latin typeface="Calibri" pitchFamily="34" charset="0"/>
                <a:ea typeface="Calibri" pitchFamily="34" charset="-122"/>
                <a:cs typeface="Calibri" pitchFamily="34" charset="-120"/>
              </a:rPr>
              <a:t>Prior options:</a:t>
            </a:r>
            <a:endParaRPr lang="en-US" sz="900" dirty="0"/>
          </a:p>
        </p:txBody>
      </p:sp>
      <p:sp>
        <p:nvSpPr>
          <p:cNvPr id="11" name="Text 9"/>
          <p:cNvSpPr/>
          <p:nvPr/>
        </p:nvSpPr>
        <p:spPr>
          <a:xfrm>
            <a:off x="658368" y="2926080"/>
            <a:ext cx="3566160" cy="1508760"/>
          </a:xfrm>
          <a:prstGeom prst="rect">
            <a:avLst/>
          </a:prstGeom>
          <a:noFill/>
          <a:ln/>
        </p:spPr>
        <p:txBody>
          <a:bodyPr wrap="square" rtlCol="0" anchor="ctr"/>
          <a:lstStyle/>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Gem/Cis — historical standard of care (generic)</a:t>
            </a:r>
            <a:endParaRPr lang="en-US" sz="1050" dirty="0"/>
          </a:p>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EV plus Keytruda — NCCN Category 1 preferred (Padcev 1L approved)</a:t>
            </a:r>
            <a:endParaRPr lang="en-US" sz="1050" dirty="0"/>
          </a:p>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Opdivo plus Gem/Cis — CheckMate 901 approval August 2024</a:t>
            </a:r>
            <a:endParaRPr lang="en-US" sz="1050" dirty="0"/>
          </a:p>
        </p:txBody>
      </p:sp>
      <p:sp>
        <p:nvSpPr>
          <p:cNvPr id="12" name="Shape 10"/>
          <p:cNvSpPr/>
          <p:nvPr/>
        </p:nvSpPr>
        <p:spPr>
          <a:xfrm>
            <a:off x="4663440" y="1874520"/>
            <a:ext cx="4069080" cy="2926080"/>
          </a:xfrm>
          <a:prstGeom prst="rect">
            <a:avLst/>
          </a:prstGeom>
          <a:solidFill>
            <a:srgbClr val="FFFBEB"/>
          </a:solidFill>
          <a:ln w="6350">
            <a:solidFill>
              <a:srgbClr val="E2E8F0"/>
            </a:solidFill>
            <a:prstDash val="solid"/>
          </a:ln>
        </p:spPr>
        <p:txBody>
          <a:bodyPr/>
          <a:lstStyle/>
          <a:p>
            <a:endParaRPr lang="en-IN"/>
          </a:p>
        </p:txBody>
      </p:sp>
      <p:sp>
        <p:nvSpPr>
          <p:cNvPr id="13" name="Shape 11"/>
          <p:cNvSpPr/>
          <p:nvPr/>
        </p:nvSpPr>
        <p:spPr>
          <a:xfrm>
            <a:off x="4663440" y="1874520"/>
            <a:ext cx="54864" cy="2926080"/>
          </a:xfrm>
          <a:prstGeom prst="rect">
            <a:avLst/>
          </a:prstGeom>
          <a:solidFill>
            <a:srgbClr val="B45309"/>
          </a:solidFill>
          <a:ln w="12700">
            <a:solidFill>
              <a:srgbClr val="B45309"/>
            </a:solidFill>
            <a:prstDash val="solid"/>
          </a:ln>
        </p:spPr>
        <p:txBody>
          <a:bodyPr/>
          <a:lstStyle/>
          <a:p>
            <a:endParaRPr lang="en-IN"/>
          </a:p>
        </p:txBody>
      </p:sp>
      <p:sp>
        <p:nvSpPr>
          <p:cNvPr id="14" name="Text 12"/>
          <p:cNvSpPr/>
          <p:nvPr/>
        </p:nvSpPr>
        <p:spPr>
          <a:xfrm>
            <a:off x="4864608" y="1993392"/>
            <a:ext cx="3474720" cy="201168"/>
          </a:xfrm>
          <a:prstGeom prst="rect">
            <a:avLst/>
          </a:prstGeom>
          <a:noFill/>
          <a:ln/>
        </p:spPr>
        <p:txBody>
          <a:bodyPr wrap="square" lIns="0" tIns="0" rIns="0" bIns="0" rtlCol="0" anchor="ctr"/>
          <a:lstStyle/>
          <a:p>
            <a:pPr marL="0" indent="0">
              <a:buNone/>
            </a:pPr>
            <a:r>
              <a:rPr lang="en-US" sz="850" b="1" kern="0" spc="150" dirty="0">
                <a:solidFill>
                  <a:srgbClr val="B45309"/>
                </a:solidFill>
                <a:latin typeface="Calibri" pitchFamily="34" charset="0"/>
                <a:ea typeface="Calibri" pitchFamily="34" charset="-122"/>
                <a:cs typeface="Calibri" pitchFamily="34" charset="-120"/>
              </a:rPr>
              <a:t>CISPLATIN INELIGIBLE (~50%)</a:t>
            </a:r>
            <a:endParaRPr lang="en-US" sz="850" dirty="0"/>
          </a:p>
        </p:txBody>
      </p:sp>
      <p:sp>
        <p:nvSpPr>
          <p:cNvPr id="15" name="Text 13"/>
          <p:cNvSpPr/>
          <p:nvPr/>
        </p:nvSpPr>
        <p:spPr>
          <a:xfrm>
            <a:off x="4864608" y="2231136"/>
            <a:ext cx="3566160" cy="34747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CrCl below 60 mL/min, pre-existing neuropathy, hearing loss, or poor performance status</a:t>
            </a:r>
            <a:endParaRPr lang="en-US" sz="1000" dirty="0"/>
          </a:p>
        </p:txBody>
      </p:sp>
      <p:sp>
        <p:nvSpPr>
          <p:cNvPr id="16" name="Shape 14"/>
          <p:cNvSpPr/>
          <p:nvPr/>
        </p:nvSpPr>
        <p:spPr>
          <a:xfrm>
            <a:off x="4864608" y="2606040"/>
            <a:ext cx="3566160" cy="9144"/>
          </a:xfrm>
          <a:prstGeom prst="rect">
            <a:avLst/>
          </a:prstGeom>
          <a:solidFill>
            <a:srgbClr val="CBD5E1"/>
          </a:solidFill>
          <a:ln w="12700">
            <a:solidFill>
              <a:srgbClr val="CBD5E1"/>
            </a:solidFill>
            <a:prstDash val="solid"/>
          </a:ln>
        </p:spPr>
        <p:txBody>
          <a:bodyPr/>
          <a:lstStyle/>
          <a:p>
            <a:endParaRPr lang="en-IN"/>
          </a:p>
        </p:txBody>
      </p:sp>
      <p:sp>
        <p:nvSpPr>
          <p:cNvPr id="17" name="Text 15"/>
          <p:cNvSpPr/>
          <p:nvPr/>
        </p:nvSpPr>
        <p:spPr>
          <a:xfrm>
            <a:off x="4864608" y="2697480"/>
            <a:ext cx="3200400" cy="201168"/>
          </a:xfrm>
          <a:prstGeom prst="rect">
            <a:avLst/>
          </a:prstGeom>
          <a:noFill/>
          <a:ln/>
        </p:spPr>
        <p:txBody>
          <a:bodyPr wrap="square" lIns="0" tIns="0" rIns="0" bIns="0" rtlCol="0" anchor="ctr"/>
          <a:lstStyle/>
          <a:p>
            <a:pPr marL="0" indent="0">
              <a:buNone/>
            </a:pPr>
            <a:r>
              <a:rPr lang="en-US" sz="900" b="1" dirty="0">
                <a:solidFill>
                  <a:srgbClr val="94A3B8"/>
                </a:solidFill>
                <a:latin typeface="Calibri" pitchFamily="34" charset="0"/>
                <a:ea typeface="Calibri" pitchFamily="34" charset="-122"/>
                <a:cs typeface="Calibri" pitchFamily="34" charset="-120"/>
              </a:rPr>
              <a:t>Prior options:</a:t>
            </a:r>
            <a:endParaRPr lang="en-US" sz="900" dirty="0"/>
          </a:p>
        </p:txBody>
      </p:sp>
      <p:sp>
        <p:nvSpPr>
          <p:cNvPr id="18" name="Text 16"/>
          <p:cNvSpPr/>
          <p:nvPr/>
        </p:nvSpPr>
        <p:spPr>
          <a:xfrm>
            <a:off x="4864608" y="2926080"/>
            <a:ext cx="3566160" cy="1508760"/>
          </a:xfrm>
          <a:prstGeom prst="rect">
            <a:avLst/>
          </a:prstGeom>
          <a:noFill/>
          <a:ln/>
        </p:spPr>
        <p:txBody>
          <a:bodyPr wrap="square" rtlCol="0" anchor="ctr"/>
          <a:lstStyle/>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Gem/Carbo — default for decades, median OS ~9-10 months, no survival benefit vs. standard</a:t>
            </a:r>
            <a:endParaRPr lang="en-US" sz="1050" dirty="0"/>
          </a:p>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Keytruda monotherapy — approved only for PD-L1 CPS 10+ subset</a:t>
            </a:r>
            <a:endParaRPr lang="en-US" sz="1050" dirty="0"/>
          </a:p>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EV plus Keytruda — FIRST regimen with proven OS benefit in ALL cisplatin-ineligible patients regardless of PD-L1</a:t>
            </a:r>
            <a:endParaRPr lang="en-US" sz="1050" dirty="0"/>
          </a:p>
        </p:txBody>
      </p:sp>
      <p:sp>
        <p:nvSpPr>
          <p:cNvPr id="19" name="Shape 17"/>
          <p:cNvSpPr/>
          <p:nvPr/>
        </p:nvSpPr>
        <p:spPr>
          <a:xfrm>
            <a:off x="457200" y="4937760"/>
            <a:ext cx="8275320" cy="164592"/>
          </a:xfrm>
          <a:prstGeom prst="rect">
            <a:avLst/>
          </a:prstGeom>
          <a:solidFill>
            <a:srgbClr val="E8F4FB"/>
          </a:solidFill>
          <a:ln w="12700">
            <a:solidFill>
              <a:srgbClr val="E8F4FB"/>
            </a:solidFill>
            <a:prstDash val="solid"/>
          </a:ln>
        </p:spPr>
        <p:txBody>
          <a:bodyPr/>
          <a:lstStyle/>
          <a:p>
            <a:endParaRPr lang="en-IN"/>
          </a:p>
        </p:txBody>
      </p:sp>
      <p:sp>
        <p:nvSpPr>
          <p:cNvPr id="20" name="Text 18"/>
          <p:cNvSpPr/>
          <p:nvPr/>
        </p:nvSpPr>
        <p:spPr>
          <a:xfrm>
            <a:off x="594360" y="4956048"/>
            <a:ext cx="8046720" cy="146304"/>
          </a:xfrm>
          <a:prstGeom prst="rect">
            <a:avLst/>
          </a:prstGeom>
          <a:noFill/>
          <a:ln/>
        </p:spPr>
        <p:txBody>
          <a:bodyPr wrap="square" lIns="0" tIns="0" rIns="0" bIns="0" rtlCol="0" anchor="ctr"/>
          <a:lstStyle/>
          <a:p>
            <a:pPr marL="0" indent="0">
              <a:buNone/>
            </a:pPr>
            <a:r>
              <a:rPr lang="en-US" sz="950" dirty="0">
                <a:solidFill>
                  <a:srgbClr val="006BA6"/>
                </a:solidFill>
                <a:latin typeface="Calibri" pitchFamily="34" charset="0"/>
                <a:ea typeface="Calibri" pitchFamily="34" charset="-122"/>
                <a:cs typeface="Calibri" pitchFamily="34" charset="-120"/>
              </a:rPr>
              <a:t>The cisplatin-ineligible population is the launch priority. No competitive alternative has proven OS benefit in this population regardless of PD-L1 status. This is the cleanest clinical case in the entire portfolio.</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A7A4A"/>
          </a:solidFill>
          <a:ln w="12700">
            <a:solidFill>
              <a:srgbClr val="1A7A4A"/>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082018"/>
                </a:solidFill>
                <a:latin typeface="Georgia" pitchFamily="34" charset="0"/>
                <a:ea typeface="Georgia" pitchFamily="34" charset="-122"/>
                <a:cs typeface="Georgia" pitchFamily="34" charset="-120"/>
              </a:rPr>
              <a:t>02</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Competitive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Analysis</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6EE7B7"/>
                </a:solidFill>
                <a:latin typeface="Calibri" pitchFamily="34" charset="0"/>
                <a:ea typeface="Calibri" pitchFamily="34" charset="-122"/>
                <a:cs typeface="Calibri" pitchFamily="34" charset="-120"/>
              </a:rPr>
              <a:t>Competitive Hierarchy  |  The Merck Paradox  |  Battle Cards  |  Pipeline Watch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02 / COMPETITIVE ANALYSIS</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Competitive Hierarchy: Not All Threats Are Equal</a:t>
            </a:r>
            <a:endParaRPr lang="en-US" sz="2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8275320" cy="3511296"/>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58521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Competitor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Threat Level</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Basis for Competition</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Primary Battleground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extLst>
                  <a:ext uri="{0D108BD9-81ED-4DB2-BD59-A6C34878D82A}">
                    <a16:rowId xmlns:a16="http://schemas.microsoft.com/office/drawing/2014/main" val="10000"/>
                  </a:ext>
                </a:extLst>
              </a:tr>
              <a:tr h="58521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Keytruda (Merck)</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78350F"/>
                          </a:solidFill>
                          <a:latin typeface="Calibri" pitchFamily="34" charset="0"/>
                          <a:ea typeface="Calibri" pitchFamily="34" charset="-122"/>
                          <a:cs typeface="Calibri" pitchFamily="34" charset="-120"/>
                        </a:rPr>
                        <a:t>COMPLEX: Partner + Competitor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Approved 1L cisplatin-ineligible CPS 10+</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PD-L1-high, cisplatin-ineligible patients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Gem/Cis chemotherapy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B91C1C"/>
                          </a:solidFill>
                          <a:latin typeface="Calibri" pitchFamily="34" charset="0"/>
                          <a:ea typeface="Calibri" pitchFamily="34" charset="-122"/>
                          <a:cs typeface="Calibri" pitchFamily="34" charset="-120"/>
                        </a:rPr>
                        <a:t>HIGH: Inertia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30 years of prescribing familiarity, generic cost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Cisplatin-eligible patients at academic centers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Gem/Carbo chemotherapy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B91C1C"/>
                          </a:solidFill>
                          <a:latin typeface="Calibri" pitchFamily="34" charset="0"/>
                          <a:ea typeface="Calibri" pitchFamily="34" charset="-122"/>
                          <a:cs typeface="Calibri" pitchFamily="34" charset="-120"/>
                        </a:rPr>
                        <a:t>HIGH: Default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Decades-old community default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Cisplatin-ineligible patients in community settings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Opdivo + Gem/Cis (BMS)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6BA6"/>
                          </a:solidFill>
                          <a:latin typeface="Calibri" pitchFamily="34" charset="0"/>
                          <a:ea typeface="Calibri" pitchFamily="34" charset="-122"/>
                          <a:cs typeface="Calibri" pitchFamily="34" charset="-120"/>
                        </a:rPr>
                        <a:t>EMERGING</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CheckMate 901 approval August 2024</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Cisplatin-eligible patients seeking IO backbone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521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Enhertu (AZ/Daiichi Sankyo)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INDIRECT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Different indication but shapes ADC perceptions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ADC class narrative and oncologist mindshare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02 / COMPETITIVE ANALYSIS</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Merck Paradox: Your Partner Is Also Your Competitor</a:t>
            </a:r>
            <a:endParaRPr lang="en-US" sz="2300" dirty="0"/>
          </a:p>
        </p:txBody>
      </p:sp>
      <p:sp>
        <p:nvSpPr>
          <p:cNvPr id="4" name="Text 2"/>
          <p:cNvSpPr/>
          <p:nvPr/>
        </p:nvSpPr>
        <p:spPr>
          <a:xfrm>
            <a:off x="502920" y="1389888"/>
            <a:ext cx="8229600" cy="347472"/>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Keytruda is the combination partner for Padcev AND the incumbent brand oncologists already use in first-line bladder cancer. This creates the most commercially important tension in the entire launch.</a:t>
            </a:r>
            <a:endParaRPr lang="en-US" sz="1150" dirty="0"/>
          </a:p>
        </p:txBody>
      </p:sp>
      <p:sp>
        <p:nvSpPr>
          <p:cNvPr id="5" name="Shape 3"/>
          <p:cNvSpPr/>
          <p:nvPr/>
        </p:nvSpPr>
        <p:spPr>
          <a:xfrm>
            <a:off x="457200" y="1901952"/>
            <a:ext cx="4069080" cy="2926080"/>
          </a:xfrm>
          <a:prstGeom prst="rect">
            <a:avLst/>
          </a:prstGeom>
          <a:solidFill>
            <a:srgbClr val="F8FAFC"/>
          </a:solidFill>
          <a:ln w="6350">
            <a:solidFill>
              <a:srgbClr val="E2E8F0"/>
            </a:solidFill>
            <a:prstDash val="solid"/>
          </a:ln>
        </p:spPr>
        <p:txBody>
          <a:bodyPr/>
          <a:lstStyle/>
          <a:p>
            <a:endParaRPr lang="en-IN"/>
          </a:p>
        </p:txBody>
      </p:sp>
      <p:sp>
        <p:nvSpPr>
          <p:cNvPr id="6" name="Shape 4"/>
          <p:cNvSpPr/>
          <p:nvPr/>
        </p:nvSpPr>
        <p:spPr>
          <a:xfrm>
            <a:off x="457200" y="1901952"/>
            <a:ext cx="54864" cy="2926080"/>
          </a:xfrm>
          <a:prstGeom prst="rect">
            <a:avLst/>
          </a:prstGeom>
          <a:solidFill>
            <a:srgbClr val="B45309"/>
          </a:solidFill>
          <a:ln w="12700">
            <a:solidFill>
              <a:srgbClr val="B45309"/>
            </a:solidFill>
            <a:prstDash val="solid"/>
          </a:ln>
        </p:spPr>
        <p:txBody>
          <a:bodyPr/>
          <a:lstStyle/>
          <a:p>
            <a:endParaRPr lang="en-IN"/>
          </a:p>
        </p:txBody>
      </p:sp>
      <p:sp>
        <p:nvSpPr>
          <p:cNvPr id="7" name="Text 5"/>
          <p:cNvSpPr/>
          <p:nvPr/>
        </p:nvSpPr>
        <p:spPr>
          <a:xfrm>
            <a:off x="658368" y="2011680"/>
            <a:ext cx="3474720" cy="201168"/>
          </a:xfrm>
          <a:prstGeom prst="rect">
            <a:avLst/>
          </a:prstGeom>
          <a:noFill/>
          <a:ln/>
        </p:spPr>
        <p:txBody>
          <a:bodyPr wrap="square" lIns="0" tIns="0" rIns="0" bIns="0" rtlCol="0" anchor="ctr"/>
          <a:lstStyle/>
          <a:p>
            <a:pPr marL="0" indent="0">
              <a:buNone/>
            </a:pPr>
            <a:r>
              <a:rPr lang="en-US" sz="850" b="1" kern="0" spc="150" dirty="0">
                <a:solidFill>
                  <a:srgbClr val="B45309"/>
                </a:solidFill>
                <a:latin typeface="Calibri" pitchFamily="34" charset="0"/>
                <a:ea typeface="Calibri" pitchFamily="34" charset="-122"/>
                <a:cs typeface="Calibri" pitchFamily="34" charset="-120"/>
              </a:rPr>
              <a:t>THE RISK: KEYTRUDA WINS THE FRAME</a:t>
            </a:r>
            <a:endParaRPr lang="en-US" sz="850" dirty="0"/>
          </a:p>
        </p:txBody>
      </p:sp>
      <p:sp>
        <p:nvSpPr>
          <p:cNvPr id="8" name="Text 6"/>
          <p:cNvSpPr/>
          <p:nvPr/>
        </p:nvSpPr>
        <p:spPr>
          <a:xfrm>
            <a:off x="658368" y="2267712"/>
            <a:ext cx="3566160" cy="292608"/>
          </a:xfrm>
          <a:prstGeom prst="rect">
            <a:avLst/>
          </a:prstGeom>
          <a:noFill/>
          <a:ln/>
        </p:spPr>
        <p:txBody>
          <a:bodyPr wrap="square" lIns="0" tIns="0" rIns="0" bIns="0" rtlCol="0" anchor="ctr"/>
          <a:lstStyle/>
          <a:p>
            <a:pPr marL="0" indent="0">
              <a:buNone/>
            </a:pPr>
            <a:r>
              <a:rPr lang="en-US" sz="1100" i="1" dirty="0">
                <a:solidFill>
                  <a:srgbClr val="1E3A5F"/>
                </a:solidFill>
                <a:latin typeface="Georgia" pitchFamily="34" charset="0"/>
                <a:ea typeface="Georgia" pitchFamily="34" charset="-122"/>
                <a:cs typeface="Georgia" pitchFamily="34" charset="-120"/>
              </a:rPr>
              <a:t>Oncologist defaults to thinking: "Keytruda with Padcev"</a:t>
            </a:r>
            <a:endParaRPr lang="en-US" sz="1100" dirty="0"/>
          </a:p>
        </p:txBody>
      </p:sp>
      <p:sp>
        <p:nvSpPr>
          <p:cNvPr id="9" name="Text 7"/>
          <p:cNvSpPr/>
          <p:nvPr/>
        </p:nvSpPr>
        <p:spPr>
          <a:xfrm>
            <a:off x="658368" y="2633472"/>
            <a:ext cx="3566160" cy="1938528"/>
          </a:xfrm>
          <a:prstGeom prst="rect">
            <a:avLst/>
          </a:prstGeom>
          <a:noFill/>
          <a:ln/>
        </p:spPr>
        <p:txBody>
          <a:bodyPr wrap="square" rtlCol="0" anchor="ctr"/>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Merck's established oncologist relationships and patient support infrastructure pre-empt Pfizer</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prescriber's mental model positions Keytruda as the anchor drug, relegating Padcev to a companion role</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Long-term brand equity and data ownership accrue to Merck, not Pfizer</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Any future Keytruda-based combination from Merck displaces Padcev more easily</a:t>
            </a:r>
            <a:endParaRPr lang="en-US" sz="1000" dirty="0"/>
          </a:p>
        </p:txBody>
      </p:sp>
      <p:sp>
        <p:nvSpPr>
          <p:cNvPr id="10" name="Shape 8"/>
          <p:cNvSpPr/>
          <p:nvPr/>
        </p:nvSpPr>
        <p:spPr>
          <a:xfrm>
            <a:off x="4663440" y="1901952"/>
            <a:ext cx="4069080" cy="2926080"/>
          </a:xfrm>
          <a:prstGeom prst="rect">
            <a:avLst/>
          </a:prstGeom>
          <a:solidFill>
            <a:srgbClr val="E8F4FB"/>
          </a:solidFill>
          <a:ln w="6350">
            <a:solidFill>
              <a:srgbClr val="E2E8F0"/>
            </a:solidFill>
            <a:prstDash val="solid"/>
          </a:ln>
        </p:spPr>
        <p:txBody>
          <a:bodyPr/>
          <a:lstStyle/>
          <a:p>
            <a:endParaRPr lang="en-IN"/>
          </a:p>
        </p:txBody>
      </p:sp>
      <p:sp>
        <p:nvSpPr>
          <p:cNvPr id="11" name="Shape 9"/>
          <p:cNvSpPr/>
          <p:nvPr/>
        </p:nvSpPr>
        <p:spPr>
          <a:xfrm>
            <a:off x="4663440" y="1901952"/>
            <a:ext cx="54864" cy="2926080"/>
          </a:xfrm>
          <a:prstGeom prst="rect">
            <a:avLst/>
          </a:prstGeom>
          <a:solidFill>
            <a:srgbClr val="0093D0"/>
          </a:solidFill>
          <a:ln w="12700">
            <a:solidFill>
              <a:srgbClr val="0093D0"/>
            </a:solidFill>
            <a:prstDash val="solid"/>
          </a:ln>
        </p:spPr>
        <p:txBody>
          <a:bodyPr/>
          <a:lstStyle/>
          <a:p>
            <a:endParaRPr lang="en-IN"/>
          </a:p>
        </p:txBody>
      </p:sp>
      <p:sp>
        <p:nvSpPr>
          <p:cNvPr id="12" name="Text 10"/>
          <p:cNvSpPr/>
          <p:nvPr/>
        </p:nvSpPr>
        <p:spPr>
          <a:xfrm>
            <a:off x="4864608" y="2011680"/>
            <a:ext cx="3474720" cy="201168"/>
          </a:xfrm>
          <a:prstGeom prst="rect">
            <a:avLst/>
          </a:prstGeom>
          <a:noFill/>
          <a:ln/>
        </p:spPr>
        <p:txBody>
          <a:bodyPr wrap="square" lIns="0" tIns="0" rIns="0" bIns="0" rtlCol="0" anchor="ctr"/>
          <a:lstStyle/>
          <a:p>
            <a:pPr marL="0" indent="0">
              <a:buNone/>
            </a:pPr>
            <a:r>
              <a:rPr lang="en-US" sz="850" b="1" kern="0" spc="150" dirty="0">
                <a:solidFill>
                  <a:srgbClr val="0093D0"/>
                </a:solidFill>
                <a:latin typeface="Calibri" pitchFamily="34" charset="0"/>
                <a:ea typeface="Calibri" pitchFamily="34" charset="-122"/>
                <a:cs typeface="Calibri" pitchFamily="34" charset="-120"/>
              </a:rPr>
              <a:t>THE SOLUTION: PADCEV LEADS THE FRAME</a:t>
            </a:r>
            <a:endParaRPr lang="en-US" sz="850" dirty="0"/>
          </a:p>
        </p:txBody>
      </p:sp>
      <p:sp>
        <p:nvSpPr>
          <p:cNvPr id="13" name="Text 11"/>
          <p:cNvSpPr/>
          <p:nvPr/>
        </p:nvSpPr>
        <p:spPr>
          <a:xfrm>
            <a:off x="4864608" y="2267712"/>
            <a:ext cx="3566160" cy="292608"/>
          </a:xfrm>
          <a:prstGeom prst="rect">
            <a:avLst/>
          </a:prstGeom>
          <a:noFill/>
          <a:ln/>
        </p:spPr>
        <p:txBody>
          <a:bodyPr wrap="square" lIns="0" tIns="0" rIns="0" bIns="0" rtlCol="0" anchor="ctr"/>
          <a:lstStyle/>
          <a:p>
            <a:pPr marL="0" indent="0">
              <a:buNone/>
            </a:pPr>
            <a:r>
              <a:rPr lang="en-US" sz="1100" i="1" dirty="0">
                <a:solidFill>
                  <a:srgbClr val="1E3A5F"/>
                </a:solidFill>
                <a:latin typeface="Georgia" pitchFamily="34" charset="0"/>
                <a:ea typeface="Georgia" pitchFamily="34" charset="-122"/>
                <a:cs typeface="Georgia" pitchFamily="34" charset="-120"/>
              </a:rPr>
              <a:t>Oncologist thinks: "Padcev with Keytruda"</a:t>
            </a:r>
            <a:endParaRPr lang="en-US" sz="1100" dirty="0"/>
          </a:p>
        </p:txBody>
      </p:sp>
      <p:sp>
        <p:nvSpPr>
          <p:cNvPr id="14" name="Text 12"/>
          <p:cNvSpPr/>
          <p:nvPr/>
        </p:nvSpPr>
        <p:spPr>
          <a:xfrm>
            <a:off x="4864608" y="2633472"/>
            <a:ext cx="3566160" cy="1938528"/>
          </a:xfrm>
          <a:prstGeom prst="rect">
            <a:avLst/>
          </a:prstGeom>
          <a:noFill/>
          <a:ln/>
        </p:spPr>
        <p:txBody>
          <a:bodyPr wrap="square" rtlCol="0" anchor="ctr"/>
          <a:lstStyle/>
          <a:p>
            <a:pPr marL="342900" indent="-342900">
              <a:buSzPct val="100000"/>
              <a:buChar char="•"/>
            </a:pPr>
            <a:r>
              <a:rPr lang="en-US" sz="1000" dirty="0">
                <a:solidFill>
                  <a:srgbClr val="1E3A5F"/>
                </a:solidFill>
                <a:latin typeface="Calibri" pitchFamily="34" charset="0"/>
                <a:ea typeface="Calibri" pitchFamily="34" charset="-122"/>
                <a:cs typeface="Calibri" pitchFamily="34" charset="-120"/>
              </a:rPr>
              <a:t>Padcev's ADC mechanism is the novel component — Keytruda was already available; Padcev is what changed outcomes</a:t>
            </a:r>
            <a:endParaRPr lang="en-US" sz="1000" dirty="0"/>
          </a:p>
          <a:p>
            <a:pPr marL="342900" indent="-342900">
              <a:buSzPct val="100000"/>
              <a:buChar char="•"/>
            </a:pPr>
            <a:r>
              <a:rPr lang="en-US" sz="1000" dirty="0">
                <a:solidFill>
                  <a:srgbClr val="1E3A5F"/>
                </a:solidFill>
                <a:latin typeface="Calibri" pitchFamily="34" charset="0"/>
                <a:ea typeface="Calibri" pitchFamily="34" charset="-122"/>
                <a:cs typeface="Calibri" pitchFamily="34" charset="-120"/>
              </a:rPr>
              <a:t>Permissible message: Even PD-L1-high patients benefited from adding EV to pembrolizumab in EV-302</a:t>
            </a:r>
            <a:endParaRPr lang="en-US" sz="1000" dirty="0"/>
          </a:p>
          <a:p>
            <a:pPr marL="342900" indent="-342900">
              <a:buSzPct val="100000"/>
              <a:buChar char="•"/>
            </a:pPr>
            <a:r>
              <a:rPr lang="en-US" sz="1000" dirty="0">
                <a:solidFill>
                  <a:srgbClr val="1E3A5F"/>
                </a:solidFill>
                <a:latin typeface="Calibri" pitchFamily="34" charset="0"/>
                <a:ea typeface="Calibri" pitchFamily="34" charset="-122"/>
                <a:cs typeface="Calibri" pitchFamily="34" charset="-120"/>
              </a:rPr>
              <a:t>Sales force must consistently say 'enfortumab vedotin plus pembrolizumab' rather than 'EV-K' or 'Keytruda combination'</a:t>
            </a:r>
            <a:endParaRPr lang="en-US" sz="1000" dirty="0"/>
          </a:p>
          <a:p>
            <a:pPr marL="342900" indent="-342900">
              <a:buSzPct val="100000"/>
              <a:buChar char="•"/>
            </a:pPr>
            <a:r>
              <a:rPr lang="en-US" sz="1000" dirty="0">
                <a:solidFill>
                  <a:srgbClr val="1E3A5F"/>
                </a:solidFill>
                <a:latin typeface="Calibri" pitchFamily="34" charset="0"/>
                <a:ea typeface="Calibri" pitchFamily="34" charset="-122"/>
                <a:cs typeface="Calibri" pitchFamily="34" charset="-120"/>
              </a:rPr>
              <a:t>All Pfizer-funded programs and materials position Padcev as the differentiating therapeutic advance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02 / COMPETITIVE ANALYSIS</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Battle Card: Responding to the Three Biggest Field Objections</a:t>
            </a:r>
            <a:endParaRPr lang="en-US" sz="2300" dirty="0"/>
          </a:p>
        </p:txBody>
      </p:sp>
      <p:sp>
        <p:nvSpPr>
          <p:cNvPr id="4" name="Shape 2"/>
          <p:cNvSpPr/>
          <p:nvPr/>
        </p:nvSpPr>
        <p:spPr>
          <a:xfrm>
            <a:off x="457200" y="1389888"/>
            <a:ext cx="4069080" cy="1024128"/>
          </a:xfrm>
          <a:prstGeom prst="rect">
            <a:avLst/>
          </a:prstGeom>
          <a:solidFill>
            <a:srgbClr val="F8FAFC"/>
          </a:solidFill>
          <a:ln w="6350">
            <a:solidFill>
              <a:srgbClr val="E2E8F0"/>
            </a:solidFill>
            <a:prstDash val="solid"/>
          </a:ln>
        </p:spPr>
        <p:txBody>
          <a:bodyPr/>
          <a:lstStyle/>
          <a:p>
            <a:endParaRPr lang="en-IN"/>
          </a:p>
        </p:txBody>
      </p:sp>
      <p:sp>
        <p:nvSpPr>
          <p:cNvPr id="5" name="Shape 3"/>
          <p:cNvSpPr/>
          <p:nvPr/>
        </p:nvSpPr>
        <p:spPr>
          <a:xfrm>
            <a:off x="457200" y="1389888"/>
            <a:ext cx="36576" cy="1024128"/>
          </a:xfrm>
          <a:prstGeom prst="rect">
            <a:avLst/>
          </a:prstGeom>
          <a:solidFill>
            <a:srgbClr val="94A3B8"/>
          </a:solidFill>
          <a:ln w="12700">
            <a:solidFill>
              <a:srgbClr val="94A3B8"/>
            </a:solidFill>
            <a:prstDash val="solid"/>
          </a:ln>
        </p:spPr>
        <p:txBody>
          <a:bodyPr/>
          <a:lstStyle/>
          <a:p>
            <a:endParaRPr lang="en-IN"/>
          </a:p>
        </p:txBody>
      </p:sp>
      <p:sp>
        <p:nvSpPr>
          <p:cNvPr id="6" name="Text 4"/>
          <p:cNvSpPr/>
          <p:nvPr/>
        </p:nvSpPr>
        <p:spPr>
          <a:xfrm>
            <a:off x="594360" y="1481328"/>
            <a:ext cx="3474720" cy="164592"/>
          </a:xfrm>
          <a:prstGeom prst="rect">
            <a:avLst/>
          </a:prstGeom>
          <a:noFill/>
          <a:ln/>
        </p:spPr>
        <p:txBody>
          <a:bodyPr wrap="square" lIns="0" tIns="0" rIns="0" bIns="0" rtlCol="0" anchor="ctr"/>
          <a:lstStyle/>
          <a:p>
            <a:pPr marL="0" indent="0">
              <a:buNone/>
            </a:pPr>
            <a:r>
              <a:rPr lang="en-US" sz="750" b="1" kern="0" spc="150" dirty="0">
                <a:solidFill>
                  <a:srgbClr val="94A3B8"/>
                </a:solidFill>
                <a:latin typeface="Calibri" pitchFamily="34" charset="0"/>
                <a:ea typeface="Calibri" pitchFamily="34" charset="-122"/>
                <a:cs typeface="Calibri" pitchFamily="34" charset="-120"/>
              </a:rPr>
              <a:t>SITUATION</a:t>
            </a:r>
            <a:endParaRPr lang="en-US" sz="750" dirty="0"/>
          </a:p>
        </p:txBody>
      </p:sp>
      <p:sp>
        <p:nvSpPr>
          <p:cNvPr id="7" name="Text 5"/>
          <p:cNvSpPr/>
          <p:nvPr/>
        </p:nvSpPr>
        <p:spPr>
          <a:xfrm>
            <a:off x="594360" y="1664208"/>
            <a:ext cx="3566160" cy="658368"/>
          </a:xfrm>
          <a:prstGeom prst="rect">
            <a:avLst/>
          </a:prstGeom>
          <a:noFill/>
          <a:ln/>
        </p:spPr>
        <p:txBody>
          <a:bodyPr wrap="square" lIns="0" tIns="0" rIns="0" bIns="0"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Oncologist defaults to GC chemotherapy for cisplatin-eligible patient.</a:t>
            </a:r>
            <a:endParaRPr lang="en-US" sz="1050" dirty="0"/>
          </a:p>
        </p:txBody>
      </p:sp>
      <p:sp>
        <p:nvSpPr>
          <p:cNvPr id="8" name="Shape 6"/>
          <p:cNvSpPr/>
          <p:nvPr/>
        </p:nvSpPr>
        <p:spPr>
          <a:xfrm>
            <a:off x="4663440" y="1389888"/>
            <a:ext cx="4069080" cy="1024128"/>
          </a:xfrm>
          <a:prstGeom prst="rect">
            <a:avLst/>
          </a:prstGeom>
          <a:solidFill>
            <a:srgbClr val="E8F4FB"/>
          </a:solidFill>
          <a:ln w="6350">
            <a:solidFill>
              <a:srgbClr val="E2E8F0"/>
            </a:solidFill>
            <a:prstDash val="solid"/>
          </a:ln>
        </p:spPr>
        <p:txBody>
          <a:bodyPr/>
          <a:lstStyle/>
          <a:p>
            <a:endParaRPr lang="en-IN"/>
          </a:p>
        </p:txBody>
      </p:sp>
      <p:sp>
        <p:nvSpPr>
          <p:cNvPr id="9" name="Shape 7"/>
          <p:cNvSpPr/>
          <p:nvPr/>
        </p:nvSpPr>
        <p:spPr>
          <a:xfrm>
            <a:off x="4663440" y="1389888"/>
            <a:ext cx="36576" cy="1024128"/>
          </a:xfrm>
          <a:prstGeom prst="rect">
            <a:avLst/>
          </a:prstGeom>
          <a:solidFill>
            <a:srgbClr val="0093D0"/>
          </a:solidFill>
          <a:ln w="12700">
            <a:solidFill>
              <a:srgbClr val="0093D0"/>
            </a:solidFill>
            <a:prstDash val="solid"/>
          </a:ln>
        </p:spPr>
        <p:txBody>
          <a:bodyPr/>
          <a:lstStyle/>
          <a:p>
            <a:endParaRPr lang="en-IN"/>
          </a:p>
        </p:txBody>
      </p:sp>
      <p:sp>
        <p:nvSpPr>
          <p:cNvPr id="10" name="Text 8"/>
          <p:cNvSpPr/>
          <p:nvPr/>
        </p:nvSpPr>
        <p:spPr>
          <a:xfrm>
            <a:off x="4800600" y="1481328"/>
            <a:ext cx="3474720" cy="164592"/>
          </a:xfrm>
          <a:prstGeom prst="rect">
            <a:avLst/>
          </a:prstGeom>
          <a:noFill/>
          <a:ln/>
        </p:spPr>
        <p:txBody>
          <a:bodyPr wrap="square" lIns="0" tIns="0" rIns="0" bIns="0" rtlCol="0" anchor="ctr"/>
          <a:lstStyle/>
          <a:p>
            <a:pPr marL="0" indent="0">
              <a:buNone/>
            </a:pPr>
            <a:r>
              <a:rPr lang="en-US" sz="750" b="1" kern="0" spc="150" dirty="0">
                <a:solidFill>
                  <a:srgbClr val="0093D0"/>
                </a:solidFill>
                <a:latin typeface="Calibri" pitchFamily="34" charset="0"/>
                <a:ea typeface="Calibri" pitchFamily="34" charset="-122"/>
                <a:cs typeface="Calibri" pitchFamily="34" charset="-120"/>
              </a:rPr>
              <a:t>RESPONSE</a:t>
            </a:r>
            <a:endParaRPr lang="en-US" sz="750" dirty="0"/>
          </a:p>
        </p:txBody>
      </p:sp>
      <p:sp>
        <p:nvSpPr>
          <p:cNvPr id="11" name="Text 9"/>
          <p:cNvSpPr/>
          <p:nvPr/>
        </p:nvSpPr>
        <p:spPr>
          <a:xfrm>
            <a:off x="4800600" y="1664208"/>
            <a:ext cx="3749040" cy="658368"/>
          </a:xfrm>
          <a:prstGeom prst="rect">
            <a:avLst/>
          </a:prstGeom>
          <a:noFill/>
          <a:ln/>
        </p:spPr>
        <p:txBody>
          <a:bodyPr wrap="square" lIns="0" tIns="0" rIns="0" bIns="0" rtlCol="0" anchor="ctr"/>
          <a:lstStyle/>
          <a:p>
            <a:pPr marL="0" indent="0">
              <a:buNone/>
            </a:pPr>
            <a:r>
              <a:rPr lang="en-US" sz="1000" dirty="0">
                <a:solidFill>
                  <a:srgbClr val="1E3A5F"/>
                </a:solidFill>
                <a:latin typeface="Calibri" pitchFamily="34" charset="0"/>
                <a:ea typeface="Calibri" pitchFamily="34" charset="-122"/>
                <a:cs typeface="Calibri" pitchFamily="34" charset="-120"/>
              </a:rPr>
              <a:t>The EV-302 data showed a 47% reduction in the risk of death for patients receiving EV plus pembrolizumab compared to platinum-based chemotherapy. Median OS was 31.5 versus 16.1 months — a 15.4-month improvement. NCCN now lists EV plus pembrolizumab as the Category 1 preferred regimen for all 1L la/mUC patients.</a:t>
            </a:r>
            <a:endParaRPr lang="en-US" sz="1000" dirty="0"/>
          </a:p>
        </p:txBody>
      </p:sp>
      <p:sp>
        <p:nvSpPr>
          <p:cNvPr id="12" name="Shape 10"/>
          <p:cNvSpPr/>
          <p:nvPr/>
        </p:nvSpPr>
        <p:spPr>
          <a:xfrm>
            <a:off x="457200" y="2578608"/>
            <a:ext cx="4069080" cy="1024128"/>
          </a:xfrm>
          <a:prstGeom prst="rect">
            <a:avLst/>
          </a:prstGeom>
          <a:solidFill>
            <a:srgbClr val="F8FAFC"/>
          </a:solidFill>
          <a:ln w="6350">
            <a:solidFill>
              <a:srgbClr val="E2E8F0"/>
            </a:solidFill>
            <a:prstDash val="solid"/>
          </a:ln>
        </p:spPr>
        <p:txBody>
          <a:bodyPr/>
          <a:lstStyle/>
          <a:p>
            <a:endParaRPr lang="en-IN"/>
          </a:p>
        </p:txBody>
      </p:sp>
      <p:sp>
        <p:nvSpPr>
          <p:cNvPr id="13" name="Shape 11"/>
          <p:cNvSpPr/>
          <p:nvPr/>
        </p:nvSpPr>
        <p:spPr>
          <a:xfrm>
            <a:off x="457200" y="2578608"/>
            <a:ext cx="36576" cy="1024128"/>
          </a:xfrm>
          <a:prstGeom prst="rect">
            <a:avLst/>
          </a:prstGeom>
          <a:solidFill>
            <a:srgbClr val="94A3B8"/>
          </a:solidFill>
          <a:ln w="12700">
            <a:solidFill>
              <a:srgbClr val="94A3B8"/>
            </a:solidFill>
            <a:prstDash val="solid"/>
          </a:ln>
        </p:spPr>
        <p:txBody>
          <a:bodyPr/>
          <a:lstStyle/>
          <a:p>
            <a:endParaRPr lang="en-IN"/>
          </a:p>
        </p:txBody>
      </p:sp>
      <p:sp>
        <p:nvSpPr>
          <p:cNvPr id="14" name="Text 12"/>
          <p:cNvSpPr/>
          <p:nvPr/>
        </p:nvSpPr>
        <p:spPr>
          <a:xfrm>
            <a:off x="594360" y="2670048"/>
            <a:ext cx="3474720" cy="164592"/>
          </a:xfrm>
          <a:prstGeom prst="rect">
            <a:avLst/>
          </a:prstGeom>
          <a:noFill/>
          <a:ln/>
        </p:spPr>
        <p:txBody>
          <a:bodyPr wrap="square" lIns="0" tIns="0" rIns="0" bIns="0" rtlCol="0" anchor="ctr"/>
          <a:lstStyle/>
          <a:p>
            <a:pPr marL="0" indent="0">
              <a:buNone/>
            </a:pPr>
            <a:r>
              <a:rPr lang="en-US" sz="750" b="1" kern="0" spc="150" dirty="0">
                <a:solidFill>
                  <a:srgbClr val="94A3B8"/>
                </a:solidFill>
                <a:latin typeface="Calibri" pitchFamily="34" charset="0"/>
                <a:ea typeface="Calibri" pitchFamily="34" charset="-122"/>
                <a:cs typeface="Calibri" pitchFamily="34" charset="-120"/>
              </a:rPr>
              <a:t>SITUATION</a:t>
            </a:r>
            <a:endParaRPr lang="en-US" sz="750" dirty="0"/>
          </a:p>
        </p:txBody>
      </p:sp>
      <p:sp>
        <p:nvSpPr>
          <p:cNvPr id="15" name="Text 13"/>
          <p:cNvSpPr/>
          <p:nvPr/>
        </p:nvSpPr>
        <p:spPr>
          <a:xfrm>
            <a:off x="594360" y="2852928"/>
            <a:ext cx="3566160" cy="658368"/>
          </a:xfrm>
          <a:prstGeom prst="rect">
            <a:avLst/>
          </a:prstGeom>
          <a:noFill/>
          <a:ln/>
        </p:spPr>
        <p:txBody>
          <a:bodyPr wrap="square" lIns="0" tIns="0" rIns="0" bIns="0"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Oncologist uses Keytruda monotherapy for cisplatin-ineligible PD-L1-high patient.</a:t>
            </a:r>
            <a:endParaRPr lang="en-US" sz="1050" dirty="0"/>
          </a:p>
        </p:txBody>
      </p:sp>
      <p:sp>
        <p:nvSpPr>
          <p:cNvPr id="16" name="Shape 14"/>
          <p:cNvSpPr/>
          <p:nvPr/>
        </p:nvSpPr>
        <p:spPr>
          <a:xfrm>
            <a:off x="4663440" y="2578608"/>
            <a:ext cx="4069080" cy="1024128"/>
          </a:xfrm>
          <a:prstGeom prst="rect">
            <a:avLst/>
          </a:prstGeom>
          <a:solidFill>
            <a:srgbClr val="E8F4FB"/>
          </a:solidFill>
          <a:ln w="6350">
            <a:solidFill>
              <a:srgbClr val="E2E8F0"/>
            </a:solidFill>
            <a:prstDash val="solid"/>
          </a:ln>
        </p:spPr>
        <p:txBody>
          <a:bodyPr/>
          <a:lstStyle/>
          <a:p>
            <a:endParaRPr lang="en-IN"/>
          </a:p>
        </p:txBody>
      </p:sp>
      <p:sp>
        <p:nvSpPr>
          <p:cNvPr id="17" name="Shape 15"/>
          <p:cNvSpPr/>
          <p:nvPr/>
        </p:nvSpPr>
        <p:spPr>
          <a:xfrm>
            <a:off x="4663440" y="2578608"/>
            <a:ext cx="36576" cy="1024128"/>
          </a:xfrm>
          <a:prstGeom prst="rect">
            <a:avLst/>
          </a:prstGeom>
          <a:solidFill>
            <a:srgbClr val="0093D0"/>
          </a:solidFill>
          <a:ln w="12700">
            <a:solidFill>
              <a:srgbClr val="0093D0"/>
            </a:solidFill>
            <a:prstDash val="solid"/>
          </a:ln>
        </p:spPr>
        <p:txBody>
          <a:bodyPr/>
          <a:lstStyle/>
          <a:p>
            <a:endParaRPr lang="en-IN"/>
          </a:p>
        </p:txBody>
      </p:sp>
      <p:sp>
        <p:nvSpPr>
          <p:cNvPr id="18" name="Text 16"/>
          <p:cNvSpPr/>
          <p:nvPr/>
        </p:nvSpPr>
        <p:spPr>
          <a:xfrm>
            <a:off x="4800600" y="2670048"/>
            <a:ext cx="3474720" cy="164592"/>
          </a:xfrm>
          <a:prstGeom prst="rect">
            <a:avLst/>
          </a:prstGeom>
          <a:noFill/>
          <a:ln/>
        </p:spPr>
        <p:txBody>
          <a:bodyPr wrap="square" lIns="0" tIns="0" rIns="0" bIns="0" rtlCol="0" anchor="ctr"/>
          <a:lstStyle/>
          <a:p>
            <a:pPr marL="0" indent="0">
              <a:buNone/>
            </a:pPr>
            <a:r>
              <a:rPr lang="en-US" sz="750" b="1" kern="0" spc="150" dirty="0">
                <a:solidFill>
                  <a:srgbClr val="0093D0"/>
                </a:solidFill>
                <a:latin typeface="Calibri" pitchFamily="34" charset="0"/>
                <a:ea typeface="Calibri" pitchFamily="34" charset="-122"/>
                <a:cs typeface="Calibri" pitchFamily="34" charset="-120"/>
              </a:rPr>
              <a:t>RESPONSE</a:t>
            </a:r>
            <a:endParaRPr lang="en-US" sz="750" dirty="0"/>
          </a:p>
        </p:txBody>
      </p:sp>
      <p:sp>
        <p:nvSpPr>
          <p:cNvPr id="19" name="Text 17"/>
          <p:cNvSpPr/>
          <p:nvPr/>
        </p:nvSpPr>
        <p:spPr>
          <a:xfrm>
            <a:off x="4800600" y="2852928"/>
            <a:ext cx="3749040" cy="658368"/>
          </a:xfrm>
          <a:prstGeom prst="rect">
            <a:avLst/>
          </a:prstGeom>
          <a:noFill/>
          <a:ln/>
        </p:spPr>
        <p:txBody>
          <a:bodyPr wrap="square" lIns="0" tIns="0" rIns="0" bIns="0" rtlCol="0" anchor="ctr"/>
          <a:lstStyle/>
          <a:p>
            <a:pPr marL="0" indent="0">
              <a:buNone/>
            </a:pPr>
            <a:r>
              <a:rPr lang="en-US" sz="1000" dirty="0">
                <a:solidFill>
                  <a:srgbClr val="1E3A5F"/>
                </a:solidFill>
                <a:latin typeface="Calibri" pitchFamily="34" charset="0"/>
                <a:ea typeface="Calibri" pitchFamily="34" charset="-122"/>
                <a:cs typeface="Calibri" pitchFamily="34" charset="-120"/>
              </a:rPr>
              <a:t>The EV-302 data showed that even PD-L1-high patients benefited from adding enfortumab vedotin to pembrolizumab. Response rates and survival outcomes in the EV-302 PD-L1-high subgroup are superior to historical Keytruda monotherapy data. The combination is the new standard of care in this setting regardless of PD-L1 status.</a:t>
            </a:r>
            <a:endParaRPr lang="en-US" sz="1000" dirty="0"/>
          </a:p>
        </p:txBody>
      </p:sp>
      <p:sp>
        <p:nvSpPr>
          <p:cNvPr id="20" name="Shape 18"/>
          <p:cNvSpPr/>
          <p:nvPr/>
        </p:nvSpPr>
        <p:spPr>
          <a:xfrm>
            <a:off x="457200" y="3767328"/>
            <a:ext cx="4069080" cy="1024128"/>
          </a:xfrm>
          <a:prstGeom prst="rect">
            <a:avLst/>
          </a:prstGeom>
          <a:solidFill>
            <a:srgbClr val="F8FAFC"/>
          </a:solidFill>
          <a:ln w="6350">
            <a:solidFill>
              <a:srgbClr val="E2E8F0"/>
            </a:solidFill>
            <a:prstDash val="solid"/>
          </a:ln>
        </p:spPr>
        <p:txBody>
          <a:bodyPr/>
          <a:lstStyle/>
          <a:p>
            <a:endParaRPr lang="en-IN"/>
          </a:p>
        </p:txBody>
      </p:sp>
      <p:sp>
        <p:nvSpPr>
          <p:cNvPr id="21" name="Shape 19"/>
          <p:cNvSpPr/>
          <p:nvPr/>
        </p:nvSpPr>
        <p:spPr>
          <a:xfrm>
            <a:off x="457200" y="3767328"/>
            <a:ext cx="36576" cy="1024128"/>
          </a:xfrm>
          <a:prstGeom prst="rect">
            <a:avLst/>
          </a:prstGeom>
          <a:solidFill>
            <a:srgbClr val="94A3B8"/>
          </a:solidFill>
          <a:ln w="12700">
            <a:solidFill>
              <a:srgbClr val="94A3B8"/>
            </a:solidFill>
            <a:prstDash val="solid"/>
          </a:ln>
        </p:spPr>
        <p:txBody>
          <a:bodyPr/>
          <a:lstStyle/>
          <a:p>
            <a:endParaRPr lang="en-IN"/>
          </a:p>
        </p:txBody>
      </p:sp>
      <p:sp>
        <p:nvSpPr>
          <p:cNvPr id="22" name="Text 20"/>
          <p:cNvSpPr/>
          <p:nvPr/>
        </p:nvSpPr>
        <p:spPr>
          <a:xfrm>
            <a:off x="594360" y="3858768"/>
            <a:ext cx="3474720" cy="164592"/>
          </a:xfrm>
          <a:prstGeom prst="rect">
            <a:avLst/>
          </a:prstGeom>
          <a:noFill/>
          <a:ln/>
        </p:spPr>
        <p:txBody>
          <a:bodyPr wrap="square" lIns="0" tIns="0" rIns="0" bIns="0" rtlCol="0" anchor="ctr"/>
          <a:lstStyle/>
          <a:p>
            <a:pPr marL="0" indent="0">
              <a:buNone/>
            </a:pPr>
            <a:r>
              <a:rPr lang="en-US" sz="750" b="1" kern="0" spc="150" dirty="0">
                <a:solidFill>
                  <a:srgbClr val="94A3B8"/>
                </a:solidFill>
                <a:latin typeface="Calibri" pitchFamily="34" charset="0"/>
                <a:ea typeface="Calibri" pitchFamily="34" charset="-122"/>
                <a:cs typeface="Calibri" pitchFamily="34" charset="-120"/>
              </a:rPr>
              <a:t>SITUATION</a:t>
            </a:r>
            <a:endParaRPr lang="en-US" sz="750" dirty="0"/>
          </a:p>
        </p:txBody>
      </p:sp>
      <p:sp>
        <p:nvSpPr>
          <p:cNvPr id="23" name="Text 21"/>
          <p:cNvSpPr/>
          <p:nvPr/>
        </p:nvSpPr>
        <p:spPr>
          <a:xfrm>
            <a:off x="594360" y="4041648"/>
            <a:ext cx="3566160" cy="658368"/>
          </a:xfrm>
          <a:prstGeom prst="rect">
            <a:avLst/>
          </a:prstGeom>
          <a:noFill/>
          <a:ln/>
        </p:spPr>
        <p:txBody>
          <a:bodyPr wrap="square" lIns="0" tIns="0" rIns="0" bIns="0"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Oncologist cites CheckMate 901 and considers Opdivo plus GC as an alternative.</a:t>
            </a:r>
            <a:endParaRPr lang="en-US" sz="1050" dirty="0"/>
          </a:p>
        </p:txBody>
      </p:sp>
      <p:sp>
        <p:nvSpPr>
          <p:cNvPr id="24" name="Shape 22"/>
          <p:cNvSpPr/>
          <p:nvPr/>
        </p:nvSpPr>
        <p:spPr>
          <a:xfrm>
            <a:off x="4663440" y="3767328"/>
            <a:ext cx="4069080" cy="1024128"/>
          </a:xfrm>
          <a:prstGeom prst="rect">
            <a:avLst/>
          </a:prstGeom>
          <a:solidFill>
            <a:srgbClr val="E8F4FB"/>
          </a:solidFill>
          <a:ln w="6350">
            <a:solidFill>
              <a:srgbClr val="E2E8F0"/>
            </a:solidFill>
            <a:prstDash val="solid"/>
          </a:ln>
        </p:spPr>
        <p:txBody>
          <a:bodyPr/>
          <a:lstStyle/>
          <a:p>
            <a:endParaRPr lang="en-IN"/>
          </a:p>
        </p:txBody>
      </p:sp>
      <p:sp>
        <p:nvSpPr>
          <p:cNvPr id="25" name="Shape 23"/>
          <p:cNvSpPr/>
          <p:nvPr/>
        </p:nvSpPr>
        <p:spPr>
          <a:xfrm>
            <a:off x="4663440" y="3767328"/>
            <a:ext cx="36576" cy="1024128"/>
          </a:xfrm>
          <a:prstGeom prst="rect">
            <a:avLst/>
          </a:prstGeom>
          <a:solidFill>
            <a:srgbClr val="0093D0"/>
          </a:solidFill>
          <a:ln w="12700">
            <a:solidFill>
              <a:srgbClr val="0093D0"/>
            </a:solidFill>
            <a:prstDash val="solid"/>
          </a:ln>
        </p:spPr>
        <p:txBody>
          <a:bodyPr/>
          <a:lstStyle/>
          <a:p>
            <a:endParaRPr lang="en-IN"/>
          </a:p>
        </p:txBody>
      </p:sp>
      <p:sp>
        <p:nvSpPr>
          <p:cNvPr id="26" name="Text 24"/>
          <p:cNvSpPr/>
          <p:nvPr/>
        </p:nvSpPr>
        <p:spPr>
          <a:xfrm>
            <a:off x="4800600" y="3858768"/>
            <a:ext cx="3474720" cy="164592"/>
          </a:xfrm>
          <a:prstGeom prst="rect">
            <a:avLst/>
          </a:prstGeom>
          <a:noFill/>
          <a:ln/>
        </p:spPr>
        <p:txBody>
          <a:bodyPr wrap="square" lIns="0" tIns="0" rIns="0" bIns="0" rtlCol="0" anchor="ctr"/>
          <a:lstStyle/>
          <a:p>
            <a:pPr marL="0" indent="0">
              <a:buNone/>
            </a:pPr>
            <a:r>
              <a:rPr lang="en-US" sz="750" b="1" kern="0" spc="150" dirty="0">
                <a:solidFill>
                  <a:srgbClr val="0093D0"/>
                </a:solidFill>
                <a:latin typeface="Calibri" pitchFamily="34" charset="0"/>
                <a:ea typeface="Calibri" pitchFamily="34" charset="-122"/>
                <a:cs typeface="Calibri" pitchFamily="34" charset="-120"/>
              </a:rPr>
              <a:t>RESPONSE</a:t>
            </a:r>
            <a:endParaRPr lang="en-US" sz="750" dirty="0"/>
          </a:p>
        </p:txBody>
      </p:sp>
      <p:sp>
        <p:nvSpPr>
          <p:cNvPr id="27" name="Text 25"/>
          <p:cNvSpPr/>
          <p:nvPr/>
        </p:nvSpPr>
        <p:spPr>
          <a:xfrm>
            <a:off x="4800600" y="4041648"/>
            <a:ext cx="3749040" cy="658368"/>
          </a:xfrm>
          <a:prstGeom prst="rect">
            <a:avLst/>
          </a:prstGeom>
          <a:noFill/>
          <a:ln/>
        </p:spPr>
        <p:txBody>
          <a:bodyPr wrap="square" lIns="0" tIns="0" rIns="0" bIns="0" rtlCol="0" anchor="ctr"/>
          <a:lstStyle/>
          <a:p>
            <a:pPr marL="0" indent="0">
              <a:buNone/>
            </a:pPr>
            <a:r>
              <a:rPr lang="en-US" sz="1000" dirty="0">
                <a:solidFill>
                  <a:srgbClr val="1E3A5F"/>
                </a:solidFill>
                <a:latin typeface="Calibri" pitchFamily="34" charset="0"/>
                <a:ea typeface="Calibri" pitchFamily="34" charset="-122"/>
                <a:cs typeface="Calibri" pitchFamily="34" charset="-120"/>
              </a:rPr>
              <a:t>CheckMate 901 enrolled only cisplatin-eligible patients and showed a 2.8-month OS improvement over GC alone. EV-302 enrolled all-comers and showed a 15.4-month OS improvement. NCCN lists EV plus pembrolizumab as Category 1 preferred. Opdivo plus GC is listed as an option but not a preferred regimen.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2A1C00"/>
                </a:solidFill>
                <a:latin typeface="Georgia" pitchFamily="34" charset="0"/>
                <a:ea typeface="Georgia" pitchFamily="34" charset="-122"/>
                <a:cs typeface="Georgia" pitchFamily="34" charset="-120"/>
              </a:rPr>
              <a:t>03</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HCP</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Segmentation</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FDE68A"/>
                </a:solidFill>
                <a:latin typeface="Calibri" pitchFamily="34" charset="0"/>
                <a:ea typeface="Calibri" pitchFamily="34" charset="-122"/>
                <a:cs typeface="Calibri" pitchFamily="34" charset="-120"/>
              </a:rPr>
              <a:t>4 Prescriber Segments  |  KOL Strategy  |  Decision Ecosystem  |  Call Planning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03 / HCP SEGMENTATION</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Four Prescriber Segments Requiring Distinct Engagement Models</a:t>
            </a:r>
            <a:endParaRPr lang="en-US" sz="2300" dirty="0"/>
          </a:p>
        </p:txBody>
      </p:sp>
      <p:sp>
        <p:nvSpPr>
          <p:cNvPr id="4" name="Shape 2"/>
          <p:cNvSpPr/>
          <p:nvPr/>
        </p:nvSpPr>
        <p:spPr>
          <a:xfrm>
            <a:off x="457200" y="1389888"/>
            <a:ext cx="4187952" cy="1627632"/>
          </a:xfrm>
          <a:prstGeom prst="rect">
            <a:avLst/>
          </a:prstGeom>
          <a:solidFill>
            <a:srgbClr val="F8FAFC"/>
          </a:solidFill>
          <a:ln w="6350">
            <a:solidFill>
              <a:srgbClr val="E2E8F0"/>
            </a:solidFill>
            <a:prstDash val="solid"/>
          </a:ln>
        </p:spPr>
        <p:txBody>
          <a:bodyPr/>
          <a:lstStyle/>
          <a:p>
            <a:endParaRPr lang="en-IN"/>
          </a:p>
        </p:txBody>
      </p:sp>
      <p:sp>
        <p:nvSpPr>
          <p:cNvPr id="5" name="Shape 3"/>
          <p:cNvSpPr/>
          <p:nvPr/>
        </p:nvSpPr>
        <p:spPr>
          <a:xfrm>
            <a:off x="457200" y="1389888"/>
            <a:ext cx="54864" cy="1627632"/>
          </a:xfrm>
          <a:prstGeom prst="rect">
            <a:avLst/>
          </a:prstGeom>
          <a:solidFill>
            <a:srgbClr val="0093D0"/>
          </a:solidFill>
          <a:ln w="12700">
            <a:solidFill>
              <a:srgbClr val="0093D0"/>
            </a:solidFill>
            <a:prstDash val="solid"/>
          </a:ln>
        </p:spPr>
        <p:txBody>
          <a:bodyPr/>
          <a:lstStyle/>
          <a:p>
            <a:endParaRPr lang="en-IN"/>
          </a:p>
        </p:txBody>
      </p:sp>
      <p:sp>
        <p:nvSpPr>
          <p:cNvPr id="6" name="Shape 4"/>
          <p:cNvSpPr/>
          <p:nvPr/>
        </p:nvSpPr>
        <p:spPr>
          <a:xfrm>
            <a:off x="621792" y="1499616"/>
            <a:ext cx="914400" cy="228600"/>
          </a:xfrm>
          <a:prstGeom prst="rect">
            <a:avLst/>
          </a:prstGeom>
          <a:solidFill>
            <a:srgbClr val="012C5E"/>
          </a:solidFill>
          <a:ln w="12700">
            <a:solidFill>
              <a:srgbClr val="012C5E"/>
            </a:solidFill>
            <a:prstDash val="solid"/>
          </a:ln>
        </p:spPr>
        <p:txBody>
          <a:bodyPr/>
          <a:lstStyle/>
          <a:p>
            <a:endParaRPr lang="en-IN"/>
          </a:p>
        </p:txBody>
      </p:sp>
      <p:sp>
        <p:nvSpPr>
          <p:cNvPr id="7" name="Text 5"/>
          <p:cNvSpPr/>
          <p:nvPr/>
        </p:nvSpPr>
        <p:spPr>
          <a:xfrm>
            <a:off x="621792" y="1499616"/>
            <a:ext cx="914400" cy="228600"/>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SEGMENT A</a:t>
            </a:r>
            <a:endParaRPr lang="en-US" sz="850" dirty="0"/>
          </a:p>
        </p:txBody>
      </p:sp>
      <p:sp>
        <p:nvSpPr>
          <p:cNvPr id="8" name="Text 6"/>
          <p:cNvSpPr/>
          <p:nvPr/>
        </p:nvSpPr>
        <p:spPr>
          <a:xfrm>
            <a:off x="1645920" y="1481328"/>
            <a:ext cx="2834640" cy="384048"/>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Academic KOLs and High-Volume Specialists</a:t>
            </a:r>
            <a:endParaRPr lang="en-US" sz="1100" dirty="0"/>
          </a:p>
        </p:txBody>
      </p:sp>
      <p:sp>
        <p:nvSpPr>
          <p:cNvPr id="9" name="Text 7"/>
          <p:cNvSpPr/>
          <p:nvPr/>
        </p:nvSpPr>
        <p:spPr>
          <a:xfrm>
            <a:off x="621792" y="1801368"/>
            <a:ext cx="379476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150-200 physicians nationally</a:t>
            </a:r>
            <a:endParaRPr lang="en-US" sz="900" dirty="0"/>
          </a:p>
        </p:txBody>
      </p:sp>
      <p:sp>
        <p:nvSpPr>
          <p:cNvPr id="10" name="Text 8"/>
          <p:cNvSpPr/>
          <p:nvPr/>
        </p:nvSpPr>
        <p:spPr>
          <a:xfrm>
            <a:off x="621792" y="2029968"/>
            <a:ext cx="3794760" cy="74980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Medical Affairs-led (MSL). Advisory boards. Speaker bureau faculty. Prioritize scientific credibility over commercial selling.</a:t>
            </a:r>
            <a:endParaRPr lang="en-US" sz="950" dirty="0"/>
          </a:p>
        </p:txBody>
      </p:sp>
      <p:sp>
        <p:nvSpPr>
          <p:cNvPr id="11" name="Shape 9"/>
          <p:cNvSpPr/>
          <p:nvPr/>
        </p:nvSpPr>
        <p:spPr>
          <a:xfrm>
            <a:off x="4828032" y="1389888"/>
            <a:ext cx="4187952" cy="1627632"/>
          </a:xfrm>
          <a:prstGeom prst="rect">
            <a:avLst/>
          </a:prstGeom>
          <a:solidFill>
            <a:srgbClr val="F8FAFC"/>
          </a:solidFill>
          <a:ln w="6350">
            <a:solidFill>
              <a:srgbClr val="E2E8F0"/>
            </a:solidFill>
            <a:prstDash val="solid"/>
          </a:ln>
        </p:spPr>
        <p:txBody>
          <a:bodyPr/>
          <a:lstStyle/>
          <a:p>
            <a:endParaRPr lang="en-IN"/>
          </a:p>
        </p:txBody>
      </p:sp>
      <p:sp>
        <p:nvSpPr>
          <p:cNvPr id="12" name="Shape 10"/>
          <p:cNvSpPr/>
          <p:nvPr/>
        </p:nvSpPr>
        <p:spPr>
          <a:xfrm>
            <a:off x="4828032" y="1389888"/>
            <a:ext cx="54864" cy="1627632"/>
          </a:xfrm>
          <a:prstGeom prst="rect">
            <a:avLst/>
          </a:prstGeom>
          <a:solidFill>
            <a:srgbClr val="1A7A4A"/>
          </a:solidFill>
          <a:ln w="12700">
            <a:solidFill>
              <a:srgbClr val="1A7A4A"/>
            </a:solidFill>
            <a:prstDash val="solid"/>
          </a:ln>
        </p:spPr>
        <p:txBody>
          <a:bodyPr/>
          <a:lstStyle/>
          <a:p>
            <a:endParaRPr lang="en-IN"/>
          </a:p>
        </p:txBody>
      </p:sp>
      <p:sp>
        <p:nvSpPr>
          <p:cNvPr id="13" name="Shape 11"/>
          <p:cNvSpPr/>
          <p:nvPr/>
        </p:nvSpPr>
        <p:spPr>
          <a:xfrm>
            <a:off x="4992624" y="1499616"/>
            <a:ext cx="914400" cy="228600"/>
          </a:xfrm>
          <a:prstGeom prst="rect">
            <a:avLst/>
          </a:prstGeom>
          <a:solidFill>
            <a:srgbClr val="012C5E"/>
          </a:solidFill>
          <a:ln w="12700">
            <a:solidFill>
              <a:srgbClr val="012C5E"/>
            </a:solidFill>
            <a:prstDash val="solid"/>
          </a:ln>
        </p:spPr>
        <p:txBody>
          <a:bodyPr/>
          <a:lstStyle/>
          <a:p>
            <a:endParaRPr lang="en-IN"/>
          </a:p>
        </p:txBody>
      </p:sp>
      <p:sp>
        <p:nvSpPr>
          <p:cNvPr id="14" name="Text 12"/>
          <p:cNvSpPr/>
          <p:nvPr/>
        </p:nvSpPr>
        <p:spPr>
          <a:xfrm>
            <a:off x="4992624" y="1499616"/>
            <a:ext cx="914400" cy="228600"/>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SEGMENT B</a:t>
            </a:r>
            <a:endParaRPr lang="en-US" sz="850" dirty="0"/>
          </a:p>
        </p:txBody>
      </p:sp>
      <p:sp>
        <p:nvSpPr>
          <p:cNvPr id="15" name="Text 13"/>
          <p:cNvSpPr/>
          <p:nvPr/>
        </p:nvSpPr>
        <p:spPr>
          <a:xfrm>
            <a:off x="6016752" y="1481328"/>
            <a:ext cx="2834640" cy="384048"/>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High-Volume Community GU Specialists</a:t>
            </a:r>
            <a:endParaRPr lang="en-US" sz="1100" dirty="0"/>
          </a:p>
        </p:txBody>
      </p:sp>
      <p:sp>
        <p:nvSpPr>
          <p:cNvPr id="16" name="Text 14"/>
          <p:cNvSpPr/>
          <p:nvPr/>
        </p:nvSpPr>
        <p:spPr>
          <a:xfrm>
            <a:off x="4992624" y="1801368"/>
            <a:ext cx="379476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600-800 physicians nationally</a:t>
            </a:r>
            <a:endParaRPr lang="en-US" sz="900" dirty="0"/>
          </a:p>
        </p:txBody>
      </p:sp>
      <p:sp>
        <p:nvSpPr>
          <p:cNvPr id="17" name="Text 15"/>
          <p:cNvSpPr/>
          <p:nvPr/>
        </p:nvSpPr>
        <p:spPr>
          <a:xfrm>
            <a:off x="4992624" y="2029968"/>
            <a:ext cx="3794760" cy="74980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Sales force-led with MSL support available. Peer-to-peer programs. Digital education. CME programs. 2-3 calls per quarter.</a:t>
            </a:r>
            <a:endParaRPr lang="en-US" sz="950" dirty="0"/>
          </a:p>
        </p:txBody>
      </p:sp>
      <p:sp>
        <p:nvSpPr>
          <p:cNvPr id="18" name="Shape 16"/>
          <p:cNvSpPr/>
          <p:nvPr/>
        </p:nvSpPr>
        <p:spPr>
          <a:xfrm>
            <a:off x="457200" y="3172968"/>
            <a:ext cx="4187952" cy="1627632"/>
          </a:xfrm>
          <a:prstGeom prst="rect">
            <a:avLst/>
          </a:prstGeom>
          <a:solidFill>
            <a:srgbClr val="F8FAFC"/>
          </a:solidFill>
          <a:ln w="6350">
            <a:solidFill>
              <a:srgbClr val="E2E8F0"/>
            </a:solidFill>
            <a:prstDash val="solid"/>
          </a:ln>
        </p:spPr>
        <p:txBody>
          <a:bodyPr/>
          <a:lstStyle/>
          <a:p>
            <a:endParaRPr lang="en-IN"/>
          </a:p>
        </p:txBody>
      </p:sp>
      <p:sp>
        <p:nvSpPr>
          <p:cNvPr id="19" name="Shape 17"/>
          <p:cNvSpPr/>
          <p:nvPr/>
        </p:nvSpPr>
        <p:spPr>
          <a:xfrm>
            <a:off x="457200" y="3172968"/>
            <a:ext cx="54864" cy="1627632"/>
          </a:xfrm>
          <a:prstGeom prst="rect">
            <a:avLst/>
          </a:prstGeom>
          <a:solidFill>
            <a:srgbClr val="B45309"/>
          </a:solidFill>
          <a:ln w="12700">
            <a:solidFill>
              <a:srgbClr val="B45309"/>
            </a:solidFill>
            <a:prstDash val="solid"/>
          </a:ln>
        </p:spPr>
        <p:txBody>
          <a:bodyPr/>
          <a:lstStyle/>
          <a:p>
            <a:endParaRPr lang="en-IN"/>
          </a:p>
        </p:txBody>
      </p:sp>
      <p:sp>
        <p:nvSpPr>
          <p:cNvPr id="20" name="Shape 18"/>
          <p:cNvSpPr/>
          <p:nvPr/>
        </p:nvSpPr>
        <p:spPr>
          <a:xfrm>
            <a:off x="621792" y="3282696"/>
            <a:ext cx="914400" cy="228600"/>
          </a:xfrm>
          <a:prstGeom prst="rect">
            <a:avLst/>
          </a:prstGeom>
          <a:solidFill>
            <a:srgbClr val="012C5E"/>
          </a:solidFill>
          <a:ln w="12700">
            <a:solidFill>
              <a:srgbClr val="012C5E"/>
            </a:solidFill>
            <a:prstDash val="solid"/>
          </a:ln>
        </p:spPr>
        <p:txBody>
          <a:bodyPr/>
          <a:lstStyle/>
          <a:p>
            <a:endParaRPr lang="en-IN"/>
          </a:p>
        </p:txBody>
      </p:sp>
      <p:sp>
        <p:nvSpPr>
          <p:cNvPr id="21" name="Text 19"/>
          <p:cNvSpPr/>
          <p:nvPr/>
        </p:nvSpPr>
        <p:spPr>
          <a:xfrm>
            <a:off x="621792" y="3282696"/>
            <a:ext cx="914400" cy="228600"/>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SEGMENT C</a:t>
            </a:r>
            <a:endParaRPr lang="en-US" sz="850" dirty="0"/>
          </a:p>
        </p:txBody>
      </p:sp>
      <p:sp>
        <p:nvSpPr>
          <p:cNvPr id="22" name="Text 20"/>
          <p:cNvSpPr/>
          <p:nvPr/>
        </p:nvSpPr>
        <p:spPr>
          <a:xfrm>
            <a:off x="1645920" y="3264408"/>
            <a:ext cx="2834640" cy="384048"/>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General Community Oncologists</a:t>
            </a:r>
            <a:endParaRPr lang="en-US" sz="1100" dirty="0"/>
          </a:p>
        </p:txBody>
      </p:sp>
      <p:sp>
        <p:nvSpPr>
          <p:cNvPr id="23" name="Text 21"/>
          <p:cNvSpPr/>
          <p:nvPr/>
        </p:nvSpPr>
        <p:spPr>
          <a:xfrm>
            <a:off x="621792" y="3584448"/>
            <a:ext cx="379476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2,000-3,000 physicians nationally</a:t>
            </a:r>
            <a:endParaRPr lang="en-US" sz="900" dirty="0"/>
          </a:p>
        </p:txBody>
      </p:sp>
      <p:sp>
        <p:nvSpPr>
          <p:cNvPr id="24" name="Text 22"/>
          <p:cNvSpPr/>
          <p:nvPr/>
        </p:nvSpPr>
        <p:spPr>
          <a:xfrm>
            <a:off x="621792" y="3813048"/>
            <a:ext cx="3794760" cy="74980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Digital-first. Periodic sales contact. Emphasis on practical clinical tools: dose modification guides, AE management cards.</a:t>
            </a:r>
            <a:endParaRPr lang="en-US" sz="950" dirty="0"/>
          </a:p>
        </p:txBody>
      </p:sp>
      <p:sp>
        <p:nvSpPr>
          <p:cNvPr id="25" name="Shape 23"/>
          <p:cNvSpPr/>
          <p:nvPr/>
        </p:nvSpPr>
        <p:spPr>
          <a:xfrm>
            <a:off x="4828032" y="3172968"/>
            <a:ext cx="4187952" cy="1627632"/>
          </a:xfrm>
          <a:prstGeom prst="rect">
            <a:avLst/>
          </a:prstGeom>
          <a:solidFill>
            <a:srgbClr val="F8FAFC"/>
          </a:solidFill>
          <a:ln w="6350">
            <a:solidFill>
              <a:srgbClr val="E2E8F0"/>
            </a:solidFill>
            <a:prstDash val="solid"/>
          </a:ln>
        </p:spPr>
        <p:txBody>
          <a:bodyPr/>
          <a:lstStyle/>
          <a:p>
            <a:endParaRPr lang="en-IN"/>
          </a:p>
        </p:txBody>
      </p:sp>
      <p:sp>
        <p:nvSpPr>
          <p:cNvPr id="26" name="Shape 24"/>
          <p:cNvSpPr/>
          <p:nvPr/>
        </p:nvSpPr>
        <p:spPr>
          <a:xfrm>
            <a:off x="4828032" y="3172968"/>
            <a:ext cx="54864" cy="1627632"/>
          </a:xfrm>
          <a:prstGeom prst="rect">
            <a:avLst/>
          </a:prstGeom>
          <a:solidFill>
            <a:srgbClr val="475569"/>
          </a:solidFill>
          <a:ln w="12700">
            <a:solidFill>
              <a:srgbClr val="475569"/>
            </a:solidFill>
            <a:prstDash val="solid"/>
          </a:ln>
        </p:spPr>
        <p:txBody>
          <a:bodyPr/>
          <a:lstStyle/>
          <a:p>
            <a:endParaRPr lang="en-IN"/>
          </a:p>
        </p:txBody>
      </p:sp>
      <p:sp>
        <p:nvSpPr>
          <p:cNvPr id="27" name="Shape 25"/>
          <p:cNvSpPr/>
          <p:nvPr/>
        </p:nvSpPr>
        <p:spPr>
          <a:xfrm>
            <a:off x="4992624" y="3282696"/>
            <a:ext cx="914400" cy="228600"/>
          </a:xfrm>
          <a:prstGeom prst="rect">
            <a:avLst/>
          </a:prstGeom>
          <a:solidFill>
            <a:srgbClr val="012C5E"/>
          </a:solidFill>
          <a:ln w="12700">
            <a:solidFill>
              <a:srgbClr val="012C5E"/>
            </a:solidFill>
            <a:prstDash val="solid"/>
          </a:ln>
        </p:spPr>
        <p:txBody>
          <a:bodyPr/>
          <a:lstStyle/>
          <a:p>
            <a:endParaRPr lang="en-IN"/>
          </a:p>
        </p:txBody>
      </p:sp>
      <p:sp>
        <p:nvSpPr>
          <p:cNvPr id="28" name="Text 26"/>
          <p:cNvSpPr/>
          <p:nvPr/>
        </p:nvSpPr>
        <p:spPr>
          <a:xfrm>
            <a:off x="4992624" y="3282696"/>
            <a:ext cx="914400" cy="228600"/>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SEGMENT D</a:t>
            </a:r>
            <a:endParaRPr lang="en-US" sz="850" dirty="0"/>
          </a:p>
        </p:txBody>
      </p:sp>
      <p:sp>
        <p:nvSpPr>
          <p:cNvPr id="29" name="Text 27"/>
          <p:cNvSpPr/>
          <p:nvPr/>
        </p:nvSpPr>
        <p:spPr>
          <a:xfrm>
            <a:off x="6016752" y="3264408"/>
            <a:ext cx="2834640" cy="384048"/>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Urologists Without Oncology Focus</a:t>
            </a:r>
            <a:endParaRPr lang="en-US" sz="1100" dirty="0"/>
          </a:p>
        </p:txBody>
      </p:sp>
      <p:sp>
        <p:nvSpPr>
          <p:cNvPr id="30" name="Text 28"/>
          <p:cNvSpPr/>
          <p:nvPr/>
        </p:nvSpPr>
        <p:spPr>
          <a:xfrm>
            <a:off x="4992624" y="3584448"/>
            <a:ext cx="379476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8,000-10,000 nationally</a:t>
            </a:r>
            <a:endParaRPr lang="en-US" sz="900" dirty="0"/>
          </a:p>
        </p:txBody>
      </p:sp>
      <p:sp>
        <p:nvSpPr>
          <p:cNvPr id="31" name="Text 29"/>
          <p:cNvSpPr/>
          <p:nvPr/>
        </p:nvSpPr>
        <p:spPr>
          <a:xfrm>
            <a:off x="4992624" y="3813048"/>
            <a:ext cx="3794760" cy="74980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Limited direct commercial engagement. Disease awareness. Educational materials on when to recognize la/mUC and refer urgently to GU oncology.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03 / HCP SEGMENTATION</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Decision Ecosystem: Every Stakeholder Who Influences Treatment</a:t>
            </a:r>
            <a:endParaRPr lang="en-US" sz="2300" dirty="0"/>
          </a:p>
        </p:txBody>
      </p:sp>
      <p:sp>
        <p:nvSpPr>
          <p:cNvPr id="4" name="Text 2"/>
          <p:cNvSpPr/>
          <p:nvPr/>
        </p:nvSpPr>
        <p:spPr>
          <a:xfrm>
            <a:off x="502920" y="1371600"/>
            <a:ext cx="8229600" cy="29260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Treatment decisions for la/mUC do not happen in isolation. Multiple stakeholders must be engaged before and during the prescribing process.</a:t>
            </a:r>
            <a:endParaRPr lang="en-US" sz="1100" dirty="0"/>
          </a:p>
        </p:txBody>
      </p:sp>
      <p:sp>
        <p:nvSpPr>
          <p:cNvPr id="5" name="Shape 3"/>
          <p:cNvSpPr/>
          <p:nvPr/>
        </p:nvSpPr>
        <p:spPr>
          <a:xfrm>
            <a:off x="457200" y="1874520"/>
            <a:ext cx="2651760" cy="1371600"/>
          </a:xfrm>
          <a:prstGeom prst="rect">
            <a:avLst/>
          </a:prstGeom>
          <a:solidFill>
            <a:srgbClr val="F8FAFC"/>
          </a:solidFill>
          <a:ln w="6350">
            <a:solidFill>
              <a:srgbClr val="E2E8F0"/>
            </a:solidFill>
            <a:prstDash val="solid"/>
          </a:ln>
        </p:spPr>
        <p:txBody>
          <a:bodyPr/>
          <a:lstStyle/>
          <a:p>
            <a:endParaRPr lang="en-IN"/>
          </a:p>
        </p:txBody>
      </p:sp>
      <p:sp>
        <p:nvSpPr>
          <p:cNvPr id="6" name="Shape 4"/>
          <p:cNvSpPr/>
          <p:nvPr/>
        </p:nvSpPr>
        <p:spPr>
          <a:xfrm>
            <a:off x="621792" y="2011680"/>
            <a:ext cx="411480" cy="411480"/>
          </a:xfrm>
          <a:prstGeom prst="ellipse">
            <a:avLst/>
          </a:prstGeom>
          <a:solidFill>
            <a:srgbClr val="0093D0"/>
          </a:solidFill>
          <a:ln w="12700">
            <a:solidFill>
              <a:srgbClr val="0093D0"/>
            </a:solidFill>
            <a:prstDash val="solid"/>
          </a:ln>
        </p:spPr>
        <p:txBody>
          <a:bodyPr/>
          <a:lstStyle/>
          <a:p>
            <a:endParaRPr lang="en-IN"/>
          </a:p>
        </p:txBody>
      </p:sp>
      <p:sp>
        <p:nvSpPr>
          <p:cNvPr id="7" name="Text 5"/>
          <p:cNvSpPr/>
          <p:nvPr/>
        </p:nvSpPr>
        <p:spPr>
          <a:xfrm>
            <a:off x="621792" y="201168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M</a:t>
            </a:r>
            <a:endParaRPr lang="en-US" sz="1300" dirty="0"/>
          </a:p>
        </p:txBody>
      </p:sp>
      <p:sp>
        <p:nvSpPr>
          <p:cNvPr id="8" name="Text 6"/>
          <p:cNvSpPr/>
          <p:nvPr/>
        </p:nvSpPr>
        <p:spPr>
          <a:xfrm>
            <a:off x="1143000" y="2002536"/>
            <a:ext cx="1828800" cy="438912"/>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The Oncologist</a:t>
            </a:r>
            <a:endParaRPr lang="en-US" sz="1100" dirty="0"/>
          </a:p>
        </p:txBody>
      </p:sp>
      <p:sp>
        <p:nvSpPr>
          <p:cNvPr id="9" name="Shape 7"/>
          <p:cNvSpPr/>
          <p:nvPr/>
        </p:nvSpPr>
        <p:spPr>
          <a:xfrm>
            <a:off x="621792" y="2514600"/>
            <a:ext cx="2359152" cy="9144"/>
          </a:xfrm>
          <a:prstGeom prst="rect">
            <a:avLst/>
          </a:prstGeom>
          <a:solidFill>
            <a:srgbClr val="E2E8F0"/>
          </a:solidFill>
          <a:ln w="12700">
            <a:solidFill>
              <a:srgbClr val="E2E8F0"/>
            </a:solidFill>
            <a:prstDash val="solid"/>
          </a:ln>
        </p:spPr>
        <p:txBody>
          <a:bodyPr/>
          <a:lstStyle/>
          <a:p>
            <a:endParaRPr lang="en-IN"/>
          </a:p>
        </p:txBody>
      </p:sp>
      <p:sp>
        <p:nvSpPr>
          <p:cNvPr id="10" name="Text 8"/>
          <p:cNvSpPr/>
          <p:nvPr/>
        </p:nvSpPr>
        <p:spPr>
          <a:xfrm>
            <a:off x="621792" y="2560320"/>
            <a:ext cx="2359152" cy="164592"/>
          </a:xfrm>
          <a:prstGeom prst="rect">
            <a:avLst/>
          </a:prstGeom>
          <a:noFill/>
          <a:ln/>
        </p:spPr>
        <p:txBody>
          <a:bodyPr wrap="square" lIns="0" tIns="0" rIns="0" bIns="0" rtlCol="0" anchor="ctr"/>
          <a:lstStyle/>
          <a:p>
            <a:pPr marL="0" indent="0">
              <a:buNone/>
            </a:pPr>
            <a:r>
              <a:rPr lang="en-US" sz="800" b="1" dirty="0">
                <a:solidFill>
                  <a:srgbClr val="0093D0"/>
                </a:solidFill>
                <a:latin typeface="Calibri" pitchFamily="34" charset="0"/>
                <a:ea typeface="Calibri" pitchFamily="34" charset="-122"/>
                <a:cs typeface="Calibri" pitchFamily="34" charset="-120"/>
              </a:rPr>
              <a:t>Primary target</a:t>
            </a:r>
            <a:endParaRPr lang="en-US" sz="800" dirty="0"/>
          </a:p>
        </p:txBody>
      </p:sp>
      <p:sp>
        <p:nvSpPr>
          <p:cNvPr id="11" name="Text 9"/>
          <p:cNvSpPr/>
          <p:nvPr/>
        </p:nvSpPr>
        <p:spPr>
          <a:xfrm>
            <a:off x="621792" y="2743200"/>
            <a:ext cx="23591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Primary prescribing decision-maker. Segment A or B target. Key to national advisory board and speaker bureau programs.</a:t>
            </a:r>
            <a:endParaRPr lang="en-US" sz="900" dirty="0"/>
          </a:p>
        </p:txBody>
      </p:sp>
      <p:sp>
        <p:nvSpPr>
          <p:cNvPr id="12" name="Shape 10"/>
          <p:cNvSpPr/>
          <p:nvPr/>
        </p:nvSpPr>
        <p:spPr>
          <a:xfrm>
            <a:off x="3246120" y="1874520"/>
            <a:ext cx="2651760" cy="1371600"/>
          </a:xfrm>
          <a:prstGeom prst="rect">
            <a:avLst/>
          </a:prstGeom>
          <a:solidFill>
            <a:srgbClr val="F8FAFC"/>
          </a:solidFill>
          <a:ln w="6350">
            <a:solidFill>
              <a:srgbClr val="E2E8F0"/>
            </a:solidFill>
            <a:prstDash val="solid"/>
          </a:ln>
        </p:spPr>
        <p:txBody>
          <a:bodyPr/>
          <a:lstStyle/>
          <a:p>
            <a:endParaRPr lang="en-IN"/>
          </a:p>
        </p:txBody>
      </p:sp>
      <p:sp>
        <p:nvSpPr>
          <p:cNvPr id="13" name="Shape 11"/>
          <p:cNvSpPr/>
          <p:nvPr/>
        </p:nvSpPr>
        <p:spPr>
          <a:xfrm>
            <a:off x="3410712" y="2011680"/>
            <a:ext cx="411480" cy="411480"/>
          </a:xfrm>
          <a:prstGeom prst="ellipse">
            <a:avLst/>
          </a:prstGeom>
          <a:solidFill>
            <a:srgbClr val="1A7A4A"/>
          </a:solidFill>
          <a:ln w="12700">
            <a:solidFill>
              <a:srgbClr val="1A7A4A"/>
            </a:solidFill>
            <a:prstDash val="solid"/>
          </a:ln>
        </p:spPr>
        <p:txBody>
          <a:bodyPr/>
          <a:lstStyle/>
          <a:p>
            <a:endParaRPr lang="en-IN"/>
          </a:p>
        </p:txBody>
      </p:sp>
      <p:sp>
        <p:nvSpPr>
          <p:cNvPr id="14" name="Text 12"/>
          <p:cNvSpPr/>
          <p:nvPr/>
        </p:nvSpPr>
        <p:spPr>
          <a:xfrm>
            <a:off x="3410712" y="201168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a:t>
            </a:r>
            <a:endParaRPr lang="en-US" sz="1300" dirty="0"/>
          </a:p>
        </p:txBody>
      </p:sp>
      <p:sp>
        <p:nvSpPr>
          <p:cNvPr id="15" name="Text 13"/>
          <p:cNvSpPr/>
          <p:nvPr/>
        </p:nvSpPr>
        <p:spPr>
          <a:xfrm>
            <a:off x="3931920" y="2002536"/>
            <a:ext cx="1828800" cy="438912"/>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Hospital Pharmacist / P&amp;T Committee</a:t>
            </a:r>
            <a:endParaRPr lang="en-US" sz="1100" dirty="0"/>
          </a:p>
        </p:txBody>
      </p:sp>
      <p:sp>
        <p:nvSpPr>
          <p:cNvPr id="16" name="Shape 14"/>
          <p:cNvSpPr/>
          <p:nvPr/>
        </p:nvSpPr>
        <p:spPr>
          <a:xfrm>
            <a:off x="3410712" y="2514600"/>
            <a:ext cx="2359152" cy="9144"/>
          </a:xfrm>
          <a:prstGeom prst="rect">
            <a:avLst/>
          </a:prstGeom>
          <a:solidFill>
            <a:srgbClr val="E2E8F0"/>
          </a:solidFill>
          <a:ln w="12700">
            <a:solidFill>
              <a:srgbClr val="E2E8F0"/>
            </a:solidFill>
            <a:prstDash val="solid"/>
          </a:ln>
        </p:spPr>
        <p:txBody>
          <a:bodyPr/>
          <a:lstStyle/>
          <a:p>
            <a:endParaRPr lang="en-IN"/>
          </a:p>
        </p:txBody>
      </p:sp>
      <p:sp>
        <p:nvSpPr>
          <p:cNvPr id="17" name="Text 15"/>
          <p:cNvSpPr/>
          <p:nvPr/>
        </p:nvSpPr>
        <p:spPr>
          <a:xfrm>
            <a:off x="3410712" y="2560320"/>
            <a:ext cx="2359152" cy="164592"/>
          </a:xfrm>
          <a:prstGeom prst="rect">
            <a:avLst/>
          </a:prstGeom>
          <a:noFill/>
          <a:ln/>
        </p:spPr>
        <p:txBody>
          <a:bodyPr wrap="square" lIns="0" tIns="0" rIns="0" bIns="0" rtlCol="0" anchor="ctr"/>
          <a:lstStyle/>
          <a:p>
            <a:pPr marL="0" indent="0">
              <a:buNone/>
            </a:pPr>
            <a:r>
              <a:rPr lang="en-US" sz="800" b="1" dirty="0">
                <a:solidFill>
                  <a:srgbClr val="1A7A4A"/>
                </a:solidFill>
                <a:latin typeface="Calibri" pitchFamily="34" charset="0"/>
                <a:ea typeface="Calibri" pitchFamily="34" charset="-122"/>
                <a:cs typeface="Calibri" pitchFamily="34" charset="-120"/>
              </a:rPr>
              <a:t>Formulary gatekeeper</a:t>
            </a:r>
            <a:endParaRPr lang="en-US" sz="800" dirty="0"/>
          </a:p>
        </p:txBody>
      </p:sp>
      <p:sp>
        <p:nvSpPr>
          <p:cNvPr id="18" name="Text 16"/>
          <p:cNvSpPr/>
          <p:nvPr/>
        </p:nvSpPr>
        <p:spPr>
          <a:xfrm>
            <a:off x="3410712" y="2743200"/>
            <a:ext cx="23591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Formulary approval authority. Must approve Padcev before it can be administered. Pfizer national accounts team submits dossier proactively.</a:t>
            </a:r>
            <a:endParaRPr lang="en-US" sz="900" dirty="0"/>
          </a:p>
        </p:txBody>
      </p:sp>
      <p:sp>
        <p:nvSpPr>
          <p:cNvPr id="19" name="Shape 17"/>
          <p:cNvSpPr/>
          <p:nvPr/>
        </p:nvSpPr>
        <p:spPr>
          <a:xfrm>
            <a:off x="6035040" y="1874520"/>
            <a:ext cx="2651760" cy="1371600"/>
          </a:xfrm>
          <a:prstGeom prst="rect">
            <a:avLst/>
          </a:prstGeom>
          <a:solidFill>
            <a:srgbClr val="F8FAFC"/>
          </a:solidFill>
          <a:ln w="6350">
            <a:solidFill>
              <a:srgbClr val="E2E8F0"/>
            </a:solidFill>
            <a:prstDash val="solid"/>
          </a:ln>
        </p:spPr>
        <p:txBody>
          <a:bodyPr/>
          <a:lstStyle/>
          <a:p>
            <a:endParaRPr lang="en-IN"/>
          </a:p>
        </p:txBody>
      </p:sp>
      <p:sp>
        <p:nvSpPr>
          <p:cNvPr id="20" name="Shape 18"/>
          <p:cNvSpPr/>
          <p:nvPr/>
        </p:nvSpPr>
        <p:spPr>
          <a:xfrm>
            <a:off x="6199632" y="2011680"/>
            <a:ext cx="411480" cy="411480"/>
          </a:xfrm>
          <a:prstGeom prst="ellipse">
            <a:avLst/>
          </a:prstGeom>
          <a:solidFill>
            <a:srgbClr val="B45309"/>
          </a:solidFill>
          <a:ln w="12700">
            <a:solidFill>
              <a:srgbClr val="B45309"/>
            </a:solidFill>
            <a:prstDash val="solid"/>
          </a:ln>
        </p:spPr>
        <p:txBody>
          <a:bodyPr/>
          <a:lstStyle/>
          <a:p>
            <a:endParaRPr lang="en-IN"/>
          </a:p>
        </p:txBody>
      </p:sp>
      <p:sp>
        <p:nvSpPr>
          <p:cNvPr id="21" name="Text 19"/>
          <p:cNvSpPr/>
          <p:nvPr/>
        </p:nvSpPr>
        <p:spPr>
          <a:xfrm>
            <a:off x="6199632" y="201168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N</a:t>
            </a:r>
            <a:endParaRPr lang="en-US" sz="1300" dirty="0"/>
          </a:p>
        </p:txBody>
      </p:sp>
      <p:sp>
        <p:nvSpPr>
          <p:cNvPr id="22" name="Text 20"/>
          <p:cNvSpPr/>
          <p:nvPr/>
        </p:nvSpPr>
        <p:spPr>
          <a:xfrm>
            <a:off x="6720840" y="2002536"/>
            <a:ext cx="1828800" cy="438912"/>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Oncology Nurse / Infusion RN</a:t>
            </a:r>
            <a:endParaRPr lang="en-US" sz="1100" dirty="0"/>
          </a:p>
        </p:txBody>
      </p:sp>
      <p:sp>
        <p:nvSpPr>
          <p:cNvPr id="23" name="Shape 21"/>
          <p:cNvSpPr/>
          <p:nvPr/>
        </p:nvSpPr>
        <p:spPr>
          <a:xfrm>
            <a:off x="6199632" y="2514600"/>
            <a:ext cx="2359152" cy="9144"/>
          </a:xfrm>
          <a:prstGeom prst="rect">
            <a:avLst/>
          </a:prstGeom>
          <a:solidFill>
            <a:srgbClr val="E2E8F0"/>
          </a:solidFill>
          <a:ln w="12700">
            <a:solidFill>
              <a:srgbClr val="E2E8F0"/>
            </a:solidFill>
            <a:prstDash val="solid"/>
          </a:ln>
        </p:spPr>
        <p:txBody>
          <a:bodyPr/>
          <a:lstStyle/>
          <a:p>
            <a:endParaRPr lang="en-IN"/>
          </a:p>
        </p:txBody>
      </p:sp>
      <p:sp>
        <p:nvSpPr>
          <p:cNvPr id="24" name="Text 22"/>
          <p:cNvSpPr/>
          <p:nvPr/>
        </p:nvSpPr>
        <p:spPr>
          <a:xfrm>
            <a:off x="6199632" y="2560320"/>
            <a:ext cx="2359152" cy="164592"/>
          </a:xfrm>
          <a:prstGeom prst="rect">
            <a:avLst/>
          </a:prstGeom>
          <a:noFill/>
          <a:ln/>
        </p:spPr>
        <p:txBody>
          <a:bodyPr wrap="square" lIns="0" tIns="0" rIns="0" bIns="0" rtlCol="0" anchor="ctr"/>
          <a:lstStyle/>
          <a:p>
            <a:pPr marL="0" indent="0">
              <a:buNone/>
            </a:pPr>
            <a:r>
              <a:rPr lang="en-US" sz="800" b="1" dirty="0">
                <a:solidFill>
                  <a:srgbClr val="B45309"/>
                </a:solidFill>
                <a:latin typeface="Calibri" pitchFamily="34" charset="0"/>
                <a:ea typeface="Calibri" pitchFamily="34" charset="-122"/>
                <a:cs typeface="Calibri" pitchFamily="34" charset="-120"/>
              </a:rPr>
              <a:t>Adherence driver</a:t>
            </a:r>
            <a:endParaRPr lang="en-US" sz="800" dirty="0"/>
          </a:p>
        </p:txBody>
      </p:sp>
      <p:sp>
        <p:nvSpPr>
          <p:cNvPr id="25" name="Text 23"/>
          <p:cNvSpPr/>
          <p:nvPr/>
        </p:nvSpPr>
        <p:spPr>
          <a:xfrm>
            <a:off x="6199632" y="2743200"/>
            <a:ext cx="23591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Administers Padcev. Needs ADC infusion training, AE monitoring protocols, and patient education tools for home management of neuropathy and rash.</a:t>
            </a:r>
            <a:endParaRPr lang="en-US" sz="900" dirty="0"/>
          </a:p>
        </p:txBody>
      </p:sp>
      <p:sp>
        <p:nvSpPr>
          <p:cNvPr id="26" name="Shape 24"/>
          <p:cNvSpPr/>
          <p:nvPr/>
        </p:nvSpPr>
        <p:spPr>
          <a:xfrm>
            <a:off x="457200" y="3383280"/>
            <a:ext cx="2651760" cy="1371600"/>
          </a:xfrm>
          <a:prstGeom prst="rect">
            <a:avLst/>
          </a:prstGeom>
          <a:solidFill>
            <a:srgbClr val="F8FAFC"/>
          </a:solidFill>
          <a:ln w="6350">
            <a:solidFill>
              <a:srgbClr val="E2E8F0"/>
            </a:solidFill>
            <a:prstDash val="solid"/>
          </a:ln>
        </p:spPr>
        <p:txBody>
          <a:bodyPr/>
          <a:lstStyle/>
          <a:p>
            <a:endParaRPr lang="en-IN"/>
          </a:p>
        </p:txBody>
      </p:sp>
      <p:sp>
        <p:nvSpPr>
          <p:cNvPr id="27" name="Shape 25"/>
          <p:cNvSpPr/>
          <p:nvPr/>
        </p:nvSpPr>
        <p:spPr>
          <a:xfrm>
            <a:off x="621792" y="3520440"/>
            <a:ext cx="411480" cy="411480"/>
          </a:xfrm>
          <a:prstGeom prst="ellipse">
            <a:avLst/>
          </a:prstGeom>
          <a:solidFill>
            <a:srgbClr val="7C3AED"/>
          </a:solidFill>
          <a:ln w="12700">
            <a:solidFill>
              <a:srgbClr val="7C3AED"/>
            </a:solidFill>
            <a:prstDash val="solid"/>
          </a:ln>
        </p:spPr>
        <p:txBody>
          <a:bodyPr/>
          <a:lstStyle/>
          <a:p>
            <a:endParaRPr lang="en-IN"/>
          </a:p>
        </p:txBody>
      </p:sp>
      <p:sp>
        <p:nvSpPr>
          <p:cNvPr id="28" name="Text 26"/>
          <p:cNvSpPr/>
          <p:nvPr/>
        </p:nvSpPr>
        <p:spPr>
          <a:xfrm>
            <a:off x="621792" y="35204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a:t>
            </a:r>
            <a:endParaRPr lang="en-US" sz="1300" dirty="0"/>
          </a:p>
        </p:txBody>
      </p:sp>
      <p:sp>
        <p:nvSpPr>
          <p:cNvPr id="29" name="Text 27"/>
          <p:cNvSpPr/>
          <p:nvPr/>
        </p:nvSpPr>
        <p:spPr>
          <a:xfrm>
            <a:off x="1143000" y="3511296"/>
            <a:ext cx="1828800" cy="438912"/>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Tumor Board</a:t>
            </a:r>
            <a:endParaRPr lang="en-US" sz="1100" dirty="0"/>
          </a:p>
        </p:txBody>
      </p:sp>
      <p:sp>
        <p:nvSpPr>
          <p:cNvPr id="30" name="Shape 28"/>
          <p:cNvSpPr/>
          <p:nvPr/>
        </p:nvSpPr>
        <p:spPr>
          <a:xfrm>
            <a:off x="621792" y="4023360"/>
            <a:ext cx="2359152" cy="9144"/>
          </a:xfrm>
          <a:prstGeom prst="rect">
            <a:avLst/>
          </a:prstGeom>
          <a:solidFill>
            <a:srgbClr val="E2E8F0"/>
          </a:solidFill>
          <a:ln w="12700">
            <a:solidFill>
              <a:srgbClr val="E2E8F0"/>
            </a:solidFill>
            <a:prstDash val="solid"/>
          </a:ln>
        </p:spPr>
        <p:txBody>
          <a:bodyPr/>
          <a:lstStyle/>
          <a:p>
            <a:endParaRPr lang="en-IN"/>
          </a:p>
        </p:txBody>
      </p:sp>
      <p:sp>
        <p:nvSpPr>
          <p:cNvPr id="31" name="Text 29"/>
          <p:cNvSpPr/>
          <p:nvPr/>
        </p:nvSpPr>
        <p:spPr>
          <a:xfrm>
            <a:off x="621792" y="4069080"/>
            <a:ext cx="2359152" cy="164592"/>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Consensus shaper</a:t>
            </a:r>
            <a:endParaRPr lang="en-US" sz="800" dirty="0"/>
          </a:p>
        </p:txBody>
      </p:sp>
      <p:sp>
        <p:nvSpPr>
          <p:cNvPr id="32" name="Text 30"/>
          <p:cNvSpPr/>
          <p:nvPr/>
        </p:nvSpPr>
        <p:spPr>
          <a:xfrm>
            <a:off x="621792" y="4251960"/>
            <a:ext cx="23591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Multidisciplinary setting where la/mUC cases are discussed. Pfizer must ensure EV-302 data is available in case discussion context.</a:t>
            </a:r>
            <a:endParaRPr lang="en-US" sz="900" dirty="0"/>
          </a:p>
        </p:txBody>
      </p:sp>
      <p:sp>
        <p:nvSpPr>
          <p:cNvPr id="33" name="Shape 31"/>
          <p:cNvSpPr/>
          <p:nvPr/>
        </p:nvSpPr>
        <p:spPr>
          <a:xfrm>
            <a:off x="3246120" y="3383280"/>
            <a:ext cx="2651760" cy="1371600"/>
          </a:xfrm>
          <a:prstGeom prst="rect">
            <a:avLst/>
          </a:prstGeom>
          <a:solidFill>
            <a:srgbClr val="F8FAFC"/>
          </a:solidFill>
          <a:ln w="6350">
            <a:solidFill>
              <a:srgbClr val="E2E8F0"/>
            </a:solidFill>
            <a:prstDash val="solid"/>
          </a:ln>
        </p:spPr>
        <p:txBody>
          <a:bodyPr/>
          <a:lstStyle/>
          <a:p>
            <a:endParaRPr lang="en-IN"/>
          </a:p>
        </p:txBody>
      </p:sp>
      <p:sp>
        <p:nvSpPr>
          <p:cNvPr id="34" name="Shape 32"/>
          <p:cNvSpPr/>
          <p:nvPr/>
        </p:nvSpPr>
        <p:spPr>
          <a:xfrm>
            <a:off x="3410712" y="3520440"/>
            <a:ext cx="411480" cy="411480"/>
          </a:xfrm>
          <a:prstGeom prst="ellipse">
            <a:avLst/>
          </a:prstGeom>
          <a:solidFill>
            <a:srgbClr val="B91C1C"/>
          </a:solidFill>
          <a:ln w="12700">
            <a:solidFill>
              <a:srgbClr val="B91C1C"/>
            </a:solidFill>
            <a:prstDash val="solid"/>
          </a:ln>
        </p:spPr>
        <p:txBody>
          <a:bodyPr/>
          <a:lstStyle/>
          <a:p>
            <a:endParaRPr lang="en-IN"/>
          </a:p>
        </p:txBody>
      </p:sp>
      <p:sp>
        <p:nvSpPr>
          <p:cNvPr id="35" name="Text 33"/>
          <p:cNvSpPr/>
          <p:nvPr/>
        </p:nvSpPr>
        <p:spPr>
          <a:xfrm>
            <a:off x="3410712" y="35204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C</a:t>
            </a:r>
            <a:endParaRPr lang="en-US" sz="1300" dirty="0"/>
          </a:p>
        </p:txBody>
      </p:sp>
      <p:sp>
        <p:nvSpPr>
          <p:cNvPr id="36" name="Text 34"/>
          <p:cNvSpPr/>
          <p:nvPr/>
        </p:nvSpPr>
        <p:spPr>
          <a:xfrm>
            <a:off x="3931920" y="3511296"/>
            <a:ext cx="1828800" cy="438912"/>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Patient and Caregiver</a:t>
            </a:r>
            <a:endParaRPr lang="en-US" sz="1100" dirty="0"/>
          </a:p>
        </p:txBody>
      </p:sp>
      <p:sp>
        <p:nvSpPr>
          <p:cNvPr id="37" name="Shape 35"/>
          <p:cNvSpPr/>
          <p:nvPr/>
        </p:nvSpPr>
        <p:spPr>
          <a:xfrm>
            <a:off x="3410712" y="4023360"/>
            <a:ext cx="2359152" cy="9144"/>
          </a:xfrm>
          <a:prstGeom prst="rect">
            <a:avLst/>
          </a:prstGeom>
          <a:solidFill>
            <a:srgbClr val="E2E8F0"/>
          </a:solidFill>
          <a:ln w="12700">
            <a:solidFill>
              <a:srgbClr val="E2E8F0"/>
            </a:solidFill>
            <a:prstDash val="solid"/>
          </a:ln>
        </p:spPr>
        <p:txBody>
          <a:bodyPr/>
          <a:lstStyle/>
          <a:p>
            <a:endParaRPr lang="en-IN"/>
          </a:p>
        </p:txBody>
      </p:sp>
      <p:sp>
        <p:nvSpPr>
          <p:cNvPr id="38" name="Text 36"/>
          <p:cNvSpPr/>
          <p:nvPr/>
        </p:nvSpPr>
        <p:spPr>
          <a:xfrm>
            <a:off x="3410712" y="4069080"/>
            <a:ext cx="2359152" cy="164592"/>
          </a:xfrm>
          <a:prstGeom prst="rect">
            <a:avLst/>
          </a:prstGeom>
          <a:noFill/>
          <a:ln/>
        </p:spPr>
        <p:txBody>
          <a:bodyPr wrap="square" lIns="0" tIns="0" rIns="0" bIns="0" rtlCol="0" anchor="ctr"/>
          <a:lstStyle/>
          <a:p>
            <a:pPr marL="0" indent="0">
              <a:buNone/>
            </a:pPr>
            <a:r>
              <a:rPr lang="en-US" sz="800" b="1" dirty="0">
                <a:solidFill>
                  <a:srgbClr val="B91C1C"/>
                </a:solidFill>
                <a:latin typeface="Calibri" pitchFamily="34" charset="0"/>
                <a:ea typeface="Calibri" pitchFamily="34" charset="-122"/>
                <a:cs typeface="Calibri" pitchFamily="34" charset="-120"/>
              </a:rPr>
              <a:t>Decision influencer</a:t>
            </a:r>
            <a:endParaRPr lang="en-US" sz="800" dirty="0"/>
          </a:p>
        </p:txBody>
      </p:sp>
      <p:sp>
        <p:nvSpPr>
          <p:cNvPr id="39" name="Text 37"/>
          <p:cNvSpPr/>
          <p:nvPr/>
        </p:nvSpPr>
        <p:spPr>
          <a:xfrm>
            <a:off x="3410712" y="4251960"/>
            <a:ext cx="23591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Increasingly informed and active. 70% of cancer patients research treatment options online before the second oncology appointment.</a:t>
            </a:r>
            <a:endParaRPr lang="en-US" sz="900" dirty="0"/>
          </a:p>
        </p:txBody>
      </p:sp>
      <p:sp>
        <p:nvSpPr>
          <p:cNvPr id="40" name="Shape 38"/>
          <p:cNvSpPr/>
          <p:nvPr/>
        </p:nvSpPr>
        <p:spPr>
          <a:xfrm>
            <a:off x="6035040" y="3383280"/>
            <a:ext cx="2651760" cy="1371600"/>
          </a:xfrm>
          <a:prstGeom prst="rect">
            <a:avLst/>
          </a:prstGeom>
          <a:solidFill>
            <a:srgbClr val="F8FAFC"/>
          </a:solidFill>
          <a:ln w="6350">
            <a:solidFill>
              <a:srgbClr val="E2E8F0"/>
            </a:solidFill>
            <a:prstDash val="solid"/>
          </a:ln>
        </p:spPr>
        <p:txBody>
          <a:bodyPr/>
          <a:lstStyle/>
          <a:p>
            <a:endParaRPr lang="en-IN"/>
          </a:p>
        </p:txBody>
      </p:sp>
      <p:sp>
        <p:nvSpPr>
          <p:cNvPr id="41" name="Shape 39"/>
          <p:cNvSpPr/>
          <p:nvPr/>
        </p:nvSpPr>
        <p:spPr>
          <a:xfrm>
            <a:off x="6199632" y="3520440"/>
            <a:ext cx="411480" cy="411480"/>
          </a:xfrm>
          <a:prstGeom prst="ellipse">
            <a:avLst/>
          </a:prstGeom>
          <a:solidFill>
            <a:srgbClr val="475569"/>
          </a:solidFill>
          <a:ln w="12700">
            <a:solidFill>
              <a:srgbClr val="475569"/>
            </a:solidFill>
            <a:prstDash val="solid"/>
          </a:ln>
        </p:spPr>
        <p:txBody>
          <a:bodyPr/>
          <a:lstStyle/>
          <a:p>
            <a:endParaRPr lang="en-IN"/>
          </a:p>
        </p:txBody>
      </p:sp>
      <p:sp>
        <p:nvSpPr>
          <p:cNvPr id="42" name="Text 40"/>
          <p:cNvSpPr/>
          <p:nvPr/>
        </p:nvSpPr>
        <p:spPr>
          <a:xfrm>
            <a:off x="6199632" y="35204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A</a:t>
            </a:r>
            <a:endParaRPr lang="en-US" sz="1300" dirty="0"/>
          </a:p>
        </p:txBody>
      </p:sp>
      <p:sp>
        <p:nvSpPr>
          <p:cNvPr id="43" name="Text 41"/>
          <p:cNvSpPr/>
          <p:nvPr/>
        </p:nvSpPr>
        <p:spPr>
          <a:xfrm>
            <a:off x="6720840" y="3511296"/>
            <a:ext cx="1828800" cy="438912"/>
          </a:xfrm>
          <a:prstGeom prst="rect">
            <a:avLst/>
          </a:prstGeom>
          <a:noFill/>
          <a:ln/>
        </p:spPr>
        <p:txBody>
          <a:bodyPr wrap="square" lIns="0" tIns="0" rIns="0" bIns="0" rtlCol="0" anchor="ctr"/>
          <a:lstStyle/>
          <a:p>
            <a:pPr marL="0" indent="0">
              <a:buNone/>
            </a:pPr>
            <a:r>
              <a:rPr lang="en-US" sz="1100" b="1" dirty="0">
                <a:solidFill>
                  <a:srgbClr val="1E3A5F"/>
                </a:solidFill>
                <a:latin typeface="Georgia" pitchFamily="34" charset="0"/>
                <a:ea typeface="Georgia" pitchFamily="34" charset="-122"/>
                <a:cs typeface="Georgia" pitchFamily="34" charset="-120"/>
              </a:rPr>
              <a:t>Bladder Cancer Advocacy Network (BCAN)</a:t>
            </a:r>
            <a:endParaRPr lang="en-US" sz="1100" dirty="0"/>
          </a:p>
        </p:txBody>
      </p:sp>
      <p:sp>
        <p:nvSpPr>
          <p:cNvPr id="44" name="Shape 42"/>
          <p:cNvSpPr/>
          <p:nvPr/>
        </p:nvSpPr>
        <p:spPr>
          <a:xfrm>
            <a:off x="6199632" y="4023360"/>
            <a:ext cx="2359152" cy="9144"/>
          </a:xfrm>
          <a:prstGeom prst="rect">
            <a:avLst/>
          </a:prstGeom>
          <a:solidFill>
            <a:srgbClr val="E2E8F0"/>
          </a:solidFill>
          <a:ln w="12700">
            <a:solidFill>
              <a:srgbClr val="E2E8F0"/>
            </a:solidFill>
            <a:prstDash val="solid"/>
          </a:ln>
        </p:spPr>
        <p:txBody>
          <a:bodyPr/>
          <a:lstStyle/>
          <a:p>
            <a:endParaRPr lang="en-IN"/>
          </a:p>
        </p:txBody>
      </p:sp>
      <p:sp>
        <p:nvSpPr>
          <p:cNvPr id="45" name="Text 43"/>
          <p:cNvSpPr/>
          <p:nvPr/>
        </p:nvSpPr>
        <p:spPr>
          <a:xfrm>
            <a:off x="6199632" y="4069080"/>
            <a:ext cx="2359152" cy="164592"/>
          </a:xfrm>
          <a:prstGeom prst="rect">
            <a:avLst/>
          </a:prstGeom>
          <a:noFill/>
          <a:ln/>
        </p:spPr>
        <p:txBody>
          <a:bodyPr wrap="square" lIns="0" tIns="0" rIns="0" bIns="0" rtlCol="0" anchor="ctr"/>
          <a:lstStyle/>
          <a:p>
            <a:pPr marL="0" indent="0">
              <a:buNone/>
            </a:pPr>
            <a:r>
              <a:rPr lang="en-US" sz="800" b="1" dirty="0">
                <a:solidFill>
                  <a:srgbClr val="475569"/>
                </a:solidFill>
                <a:latin typeface="Calibri" pitchFamily="34" charset="0"/>
                <a:ea typeface="Calibri" pitchFamily="34" charset="-122"/>
                <a:cs typeface="Calibri" pitchFamily="34" charset="-120"/>
              </a:rPr>
              <a:t>Patient awareness</a:t>
            </a:r>
            <a:endParaRPr lang="en-US" sz="800" dirty="0"/>
          </a:p>
        </p:txBody>
      </p:sp>
      <p:sp>
        <p:nvSpPr>
          <p:cNvPr id="46" name="Text 44"/>
          <p:cNvSpPr/>
          <p:nvPr/>
        </p:nvSpPr>
        <p:spPr>
          <a:xfrm>
            <a:off x="6199632" y="4251960"/>
            <a:ext cx="23591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Primary patient advocacy organization. Updated website is primary information source for newly diagnosed patients.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1A0A40"/>
                </a:solidFill>
                <a:latin typeface="Georgia" pitchFamily="34" charset="0"/>
                <a:ea typeface="Georgia" pitchFamily="34" charset="-122"/>
                <a:cs typeface="Georgia" pitchFamily="34" charset="-120"/>
              </a:rPr>
              <a:t>04</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Messaging</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Framework</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C4B5FD"/>
                </a:solidFill>
                <a:latin typeface="Calibri" pitchFamily="34" charset="0"/>
                <a:ea typeface="Calibri" pitchFamily="34" charset="-122"/>
                <a:cs typeface="Calibri" pitchFamily="34" charset="-120"/>
              </a:rPr>
              <a:t>Campaign Platform  |  3 Pillars  |  Audience Messages  |  MLR Compliance  |  Guardrails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93A"/>
        </a:solidFill>
        <a:effectLst/>
      </p:bgPr>
    </p:bg>
    <p:spTree>
      <p:nvGrpSpPr>
        <p:cNvPr id="1" name=""/>
        <p:cNvGrpSpPr/>
        <p:nvPr/>
      </p:nvGrpSpPr>
      <p:grpSpPr>
        <a:xfrm>
          <a:off x="0" y="0"/>
          <a:ext cx="0" cy="0"/>
          <a:chOff x="0" y="0"/>
          <a:chExt cx="0" cy="0"/>
        </a:xfrm>
      </p:grpSpPr>
      <p:sp>
        <p:nvSpPr>
          <p:cNvPr id="2" name="Text 0"/>
          <p:cNvSpPr/>
          <p:nvPr/>
        </p:nvSpPr>
        <p:spPr>
          <a:xfrm>
            <a:off x="0" y="0"/>
            <a:ext cx="9144000" cy="384048"/>
          </a:xfrm>
          <a:prstGeom prst="rect">
            <a:avLst/>
          </a:prstGeom>
          <a:noFill/>
          <a:ln/>
        </p:spPr>
        <p:txBody>
          <a:bodyPr wrap="square" rtlCol="0" anchor="ctr"/>
          <a:lstStyle/>
          <a:p>
            <a:pPr marL="0" indent="0" algn="ctr">
              <a:buNone/>
            </a:pPr>
            <a:r>
              <a:rPr lang="en-US" sz="950" b="1" kern="0" spc="300" dirty="0">
                <a:solidFill>
                  <a:srgbClr val="FFFFFF"/>
                </a:solidFill>
                <a:latin typeface="Calibri" pitchFamily="34" charset="0"/>
                <a:ea typeface="Calibri" pitchFamily="34" charset="-122"/>
                <a:cs typeface="Calibri" pitchFamily="34" charset="-120"/>
              </a:rPr>
              <a:t>BRAND POSITIONING STATEMENT</a:t>
            </a:r>
            <a:endParaRPr lang="en-US" sz="950" dirty="0"/>
          </a:p>
        </p:txBody>
      </p:sp>
      <p:sp>
        <p:nvSpPr>
          <p:cNvPr id="3" name="Shape 1"/>
          <p:cNvSpPr/>
          <p:nvPr/>
        </p:nvSpPr>
        <p:spPr>
          <a:xfrm>
            <a:off x="0" y="0"/>
            <a:ext cx="9144000" cy="384048"/>
          </a:xfrm>
          <a:prstGeom prst="rect">
            <a:avLst/>
          </a:prstGeom>
          <a:solidFill>
            <a:srgbClr val="006BA6"/>
          </a:solidFill>
          <a:ln w="12700">
            <a:solidFill>
              <a:srgbClr val="006BA6"/>
            </a:solidFill>
            <a:prstDash val="solid"/>
          </a:ln>
        </p:spPr>
        <p:txBody>
          <a:bodyPr/>
          <a:lstStyle/>
          <a:p>
            <a:endParaRPr lang="en-IN"/>
          </a:p>
        </p:txBody>
      </p:sp>
      <p:sp>
        <p:nvSpPr>
          <p:cNvPr id="4" name="Text 2"/>
          <p:cNvSpPr/>
          <p:nvPr/>
        </p:nvSpPr>
        <p:spPr>
          <a:xfrm>
            <a:off x="0" y="0"/>
            <a:ext cx="9144000" cy="384048"/>
          </a:xfrm>
          <a:prstGeom prst="rect">
            <a:avLst/>
          </a:prstGeom>
          <a:noFill/>
          <a:ln/>
        </p:spPr>
        <p:txBody>
          <a:bodyPr wrap="square" lIns="0" tIns="0" rIns="0" bIns="0" rtlCol="0" anchor="ctr"/>
          <a:lstStyle/>
          <a:p>
            <a:pPr marL="0" indent="0" algn="ctr">
              <a:buNone/>
            </a:pPr>
            <a:r>
              <a:rPr lang="en-US" sz="950" b="1" kern="0" spc="300" dirty="0">
                <a:solidFill>
                  <a:srgbClr val="FFFFFF"/>
                </a:solidFill>
                <a:latin typeface="Calibri" pitchFamily="34" charset="0"/>
                <a:ea typeface="Calibri" pitchFamily="34" charset="-122"/>
                <a:cs typeface="Calibri" pitchFamily="34" charset="-120"/>
              </a:rPr>
              <a:t>BRAND POSITIONING STATEMENT</a:t>
            </a:r>
            <a:endParaRPr lang="en-US" sz="950" dirty="0"/>
          </a:p>
        </p:txBody>
      </p:sp>
      <p:sp>
        <p:nvSpPr>
          <p:cNvPr id="5" name="Text 3"/>
          <p:cNvSpPr/>
          <p:nvPr/>
        </p:nvSpPr>
        <p:spPr>
          <a:xfrm>
            <a:off x="548640" y="566928"/>
            <a:ext cx="8046720" cy="749808"/>
          </a:xfrm>
          <a:prstGeom prst="rect">
            <a:avLst/>
          </a:prstGeom>
          <a:noFill/>
          <a:ln/>
        </p:spPr>
        <p:txBody>
          <a:bodyPr wrap="square" lIns="0" tIns="0" rIns="0" bIns="0" rtlCol="0" anchor="ctr"/>
          <a:lstStyle/>
          <a:p>
            <a:pPr marL="0" indent="0" algn="ctr">
              <a:buNone/>
            </a:pPr>
            <a:r>
              <a:rPr lang="en-US" sz="4400" i="1" dirty="0">
                <a:solidFill>
                  <a:srgbClr val="FFFFFF"/>
                </a:solidFill>
                <a:latin typeface="Georgia" pitchFamily="34" charset="0"/>
                <a:ea typeface="Georgia" pitchFamily="34" charset="-122"/>
                <a:cs typeface="Georgia" pitchFamily="34" charset="-120"/>
              </a:rPr>
              <a:t>"Defeat UC from the start."</a:t>
            </a:r>
            <a:endParaRPr lang="en-US" sz="4400" dirty="0"/>
          </a:p>
        </p:txBody>
      </p:sp>
      <p:sp>
        <p:nvSpPr>
          <p:cNvPr id="6" name="Shape 4"/>
          <p:cNvSpPr/>
          <p:nvPr/>
        </p:nvSpPr>
        <p:spPr>
          <a:xfrm>
            <a:off x="548640" y="1417320"/>
            <a:ext cx="8046720" cy="18288"/>
          </a:xfrm>
          <a:prstGeom prst="rect">
            <a:avLst/>
          </a:prstGeom>
          <a:solidFill>
            <a:srgbClr val="0E2E5A"/>
          </a:solidFill>
          <a:ln w="12700">
            <a:solidFill>
              <a:srgbClr val="0E2E5A"/>
            </a:solidFill>
            <a:prstDash val="solid"/>
          </a:ln>
        </p:spPr>
        <p:txBody>
          <a:bodyPr/>
          <a:lstStyle/>
          <a:p>
            <a:endParaRPr lang="en-IN"/>
          </a:p>
        </p:txBody>
      </p:sp>
      <p:sp>
        <p:nvSpPr>
          <p:cNvPr id="7" name="Text 5"/>
          <p:cNvSpPr/>
          <p:nvPr/>
        </p:nvSpPr>
        <p:spPr>
          <a:xfrm>
            <a:off x="548640" y="1572768"/>
            <a:ext cx="8046720" cy="256032"/>
          </a:xfrm>
          <a:prstGeom prst="rect">
            <a:avLst/>
          </a:prstGeom>
          <a:noFill/>
          <a:ln/>
        </p:spPr>
        <p:txBody>
          <a:bodyPr wrap="square" lIns="0" tIns="0" rIns="0" bIns="0" rtlCol="0" anchor="ctr"/>
          <a:lstStyle/>
          <a:p>
            <a:pPr marL="0" indent="0" algn="ctr">
              <a:buNone/>
            </a:pPr>
            <a:r>
              <a:rPr lang="en-US" sz="1100" b="1" dirty="0">
                <a:solidFill>
                  <a:srgbClr val="3A7A9C"/>
                </a:solidFill>
                <a:latin typeface="Calibri" pitchFamily="34" charset="0"/>
                <a:ea typeface="Calibri" pitchFamily="34" charset="-122"/>
                <a:cs typeface="Calibri" pitchFamily="34" charset="-120"/>
              </a:rPr>
              <a:t>Supporting claim:</a:t>
            </a:r>
            <a:endParaRPr lang="en-US" sz="1100" dirty="0"/>
          </a:p>
        </p:txBody>
      </p:sp>
      <p:sp>
        <p:nvSpPr>
          <p:cNvPr id="8" name="Text 6"/>
          <p:cNvSpPr/>
          <p:nvPr/>
        </p:nvSpPr>
        <p:spPr>
          <a:xfrm>
            <a:off x="548640" y="1847088"/>
            <a:ext cx="8046720" cy="5943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The only combination proven to reduce the risk of death by 53% compared to platinum-based chemotherapy in first-line urothelial carcinoma.</a:t>
            </a:r>
            <a:endParaRPr lang="en-US" sz="1500" dirty="0"/>
          </a:p>
        </p:txBody>
      </p:sp>
      <p:sp>
        <p:nvSpPr>
          <p:cNvPr id="9" name="Shape 7"/>
          <p:cNvSpPr/>
          <p:nvPr/>
        </p:nvSpPr>
        <p:spPr>
          <a:xfrm>
            <a:off x="548640" y="2578608"/>
            <a:ext cx="8046720" cy="18288"/>
          </a:xfrm>
          <a:prstGeom prst="rect">
            <a:avLst/>
          </a:prstGeom>
          <a:solidFill>
            <a:srgbClr val="0E2E5A"/>
          </a:solidFill>
          <a:ln w="12700">
            <a:solidFill>
              <a:srgbClr val="0E2E5A"/>
            </a:solidFill>
            <a:prstDash val="solid"/>
          </a:ln>
        </p:spPr>
        <p:txBody>
          <a:bodyPr/>
          <a:lstStyle/>
          <a:p>
            <a:endParaRPr lang="en-IN"/>
          </a:p>
        </p:txBody>
      </p:sp>
      <p:sp>
        <p:nvSpPr>
          <p:cNvPr id="10" name="Text 8"/>
          <p:cNvSpPr/>
          <p:nvPr/>
        </p:nvSpPr>
        <p:spPr>
          <a:xfrm>
            <a:off x="548640" y="2724912"/>
            <a:ext cx="8046720" cy="256032"/>
          </a:xfrm>
          <a:prstGeom prst="rect">
            <a:avLst/>
          </a:prstGeom>
          <a:noFill/>
          <a:ln/>
        </p:spPr>
        <p:txBody>
          <a:bodyPr wrap="square" lIns="0" tIns="0" rIns="0" bIns="0" rtlCol="0" anchor="ctr"/>
          <a:lstStyle/>
          <a:p>
            <a:pPr marL="0" indent="0" algn="ctr">
              <a:buNone/>
            </a:pPr>
            <a:r>
              <a:rPr lang="en-US" sz="1000" dirty="0">
                <a:solidFill>
                  <a:srgbClr val="3A7A9C"/>
                </a:solidFill>
                <a:latin typeface="Calibri" pitchFamily="34" charset="0"/>
                <a:ea typeface="Calibri" pitchFamily="34" charset="-122"/>
                <a:cs typeface="Calibri" pitchFamily="34" charset="-120"/>
              </a:rPr>
              <a:t>Data anchor: HR 0.47 (95% CI: 0.38-0.58, p less than 0.00001)  |  Source: EV-302/KEYNOTE-A39, NEJM 2024</a:t>
            </a:r>
            <a:endParaRPr lang="en-US" sz="1000" dirty="0"/>
          </a:p>
        </p:txBody>
      </p:sp>
      <p:sp>
        <p:nvSpPr>
          <p:cNvPr id="11" name="Text 9"/>
          <p:cNvSpPr/>
          <p:nvPr/>
        </p:nvSpPr>
        <p:spPr>
          <a:xfrm>
            <a:off x="548640" y="3154680"/>
            <a:ext cx="8046720" cy="621792"/>
          </a:xfrm>
          <a:prstGeom prst="rect">
            <a:avLst/>
          </a:prstGeom>
          <a:noFill/>
          <a:ln/>
        </p:spPr>
        <p:txBody>
          <a:bodyPr wrap="square" lIns="0" tIns="0" rIns="0" bIns="0" rtlCol="0" anchor="ctr"/>
          <a:lstStyle/>
          <a:p>
            <a:pPr marL="0" indent="0" algn="ctr">
              <a:buNone/>
            </a:pPr>
            <a:r>
              <a:rPr lang="en-US" sz="1100" i="1" dirty="0">
                <a:solidFill>
                  <a:srgbClr val="5A8A9A"/>
                </a:solidFill>
                <a:latin typeface="Calibri" pitchFamily="34" charset="0"/>
                <a:ea typeface="Calibri" pitchFamily="34" charset="-122"/>
                <a:cs typeface="Calibri" pitchFamily="34" charset="-120"/>
              </a:rPr>
              <a:t>The word 'Defeat' signals completeness. It aligns with the 29.1% complete response rate — nearly 1 in 3 patients with no detectable tumor — and differentiates from 'control' or 'manage,' which are the functional language of IO monotherapy and chemotherapy.</a:t>
            </a:r>
            <a:endParaRPr lang="en-US" sz="1100" dirty="0"/>
          </a:p>
        </p:txBody>
      </p:sp>
      <p:sp>
        <p:nvSpPr>
          <p:cNvPr id="12" name="Shape 10"/>
          <p:cNvSpPr/>
          <p:nvPr/>
        </p:nvSpPr>
        <p:spPr>
          <a:xfrm>
            <a:off x="548640" y="3913632"/>
            <a:ext cx="8046720" cy="18288"/>
          </a:xfrm>
          <a:prstGeom prst="rect">
            <a:avLst/>
          </a:prstGeom>
          <a:solidFill>
            <a:srgbClr val="0E2E5A"/>
          </a:solidFill>
          <a:ln w="12700">
            <a:solidFill>
              <a:srgbClr val="0E2E5A"/>
            </a:solidFill>
            <a:prstDash val="solid"/>
          </a:ln>
        </p:spPr>
        <p:txBody>
          <a:bodyPr/>
          <a:lstStyle/>
          <a:p>
            <a:endParaRPr lang="en-IN"/>
          </a:p>
        </p:txBody>
      </p:sp>
      <p:sp>
        <p:nvSpPr>
          <p:cNvPr id="13" name="Text 11"/>
          <p:cNvSpPr/>
          <p:nvPr/>
        </p:nvSpPr>
        <p:spPr>
          <a:xfrm>
            <a:off x="548640" y="4041648"/>
            <a:ext cx="8046720" cy="292608"/>
          </a:xfrm>
          <a:prstGeom prst="rect">
            <a:avLst/>
          </a:prstGeom>
          <a:noFill/>
          <a:ln/>
        </p:spPr>
        <p:txBody>
          <a:bodyPr wrap="square" lIns="0" tIns="0" rIns="0" bIns="0" rtlCol="0" anchor="ctr"/>
          <a:lstStyle/>
          <a:p>
            <a:pPr marL="0" indent="0" algn="ctr">
              <a:buNone/>
            </a:pPr>
            <a:r>
              <a:rPr lang="en-US" sz="1000" dirty="0">
                <a:solidFill>
                  <a:srgbClr val="3D6070"/>
                </a:solidFill>
                <a:latin typeface="Calibri" pitchFamily="34" charset="0"/>
                <a:ea typeface="Calibri" pitchFamily="34" charset="-122"/>
                <a:cs typeface="Calibri" pitchFamily="34" charset="-120"/>
              </a:rPr>
              <a:t>ALL branded messages require ISI (Important Safety Information) and reference to full Prescribing Information per FDA promotional regulations.</a:t>
            </a:r>
            <a:endParaRPr lang="en-US" sz="1000" dirty="0"/>
          </a:p>
        </p:txBody>
      </p:sp>
      <p:sp>
        <p:nvSpPr>
          <p:cNvPr id="14" name="Text 12"/>
          <p:cNvSpPr/>
          <p:nvPr/>
        </p:nvSpPr>
        <p:spPr>
          <a:xfrm>
            <a:off x="548640" y="4407408"/>
            <a:ext cx="8046720" cy="256032"/>
          </a:xfrm>
          <a:prstGeom prst="rect">
            <a:avLst/>
          </a:prstGeom>
          <a:noFill/>
          <a:ln/>
        </p:spPr>
        <p:txBody>
          <a:bodyPr wrap="square" lIns="0" tIns="0" rIns="0" bIns="0" rtlCol="0" anchor="ctr"/>
          <a:lstStyle/>
          <a:p>
            <a:pPr marL="0" indent="0" algn="ctr">
              <a:buNone/>
            </a:pPr>
            <a:r>
              <a:rPr lang="en-US" sz="950" dirty="0">
                <a:solidFill>
                  <a:srgbClr val="3A5A6A"/>
                </a:solidFill>
                <a:latin typeface="Calibri" pitchFamily="34" charset="0"/>
                <a:ea typeface="Calibri" pitchFamily="34" charset="-122"/>
                <a:cs typeface="Calibri" pitchFamily="34" charset="-120"/>
              </a:rPr>
              <a:t>Neuropathy  |  Skin Reactions  |  Hyperglycemia  |  Pneumonitis  — Key safety signals that must accompany efficacy claims.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04 / MESSAGING FRAMEWORK</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Three Clinical Pillars — The Architecture of Every Message</a:t>
            </a:r>
            <a:endParaRPr lang="en-US" sz="2300" dirty="0"/>
          </a:p>
        </p:txBody>
      </p:sp>
      <p:sp>
        <p:nvSpPr>
          <p:cNvPr id="4" name="Shape 2"/>
          <p:cNvSpPr/>
          <p:nvPr/>
        </p:nvSpPr>
        <p:spPr>
          <a:xfrm>
            <a:off x="457200" y="1389888"/>
            <a:ext cx="2651760" cy="3429000"/>
          </a:xfrm>
          <a:prstGeom prst="rect">
            <a:avLst/>
          </a:prstGeom>
          <a:solidFill>
            <a:srgbClr val="F8FAFC"/>
          </a:solidFill>
          <a:ln w="6350">
            <a:solidFill>
              <a:srgbClr val="E2E8F0"/>
            </a:solidFill>
            <a:prstDash val="solid"/>
          </a:ln>
        </p:spPr>
        <p:txBody>
          <a:bodyPr/>
          <a:lstStyle/>
          <a:p>
            <a:endParaRPr lang="en-IN"/>
          </a:p>
        </p:txBody>
      </p:sp>
      <p:sp>
        <p:nvSpPr>
          <p:cNvPr id="5" name="Shape 3"/>
          <p:cNvSpPr/>
          <p:nvPr/>
        </p:nvSpPr>
        <p:spPr>
          <a:xfrm>
            <a:off x="457200" y="1389888"/>
            <a:ext cx="54864" cy="3429000"/>
          </a:xfrm>
          <a:prstGeom prst="rect">
            <a:avLst/>
          </a:prstGeom>
          <a:solidFill>
            <a:srgbClr val="0093D0"/>
          </a:solidFill>
          <a:ln w="12700">
            <a:solidFill>
              <a:srgbClr val="0093D0"/>
            </a:solidFill>
            <a:prstDash val="solid"/>
          </a:ln>
        </p:spPr>
        <p:txBody>
          <a:bodyPr/>
          <a:lstStyle/>
          <a:p>
            <a:endParaRPr lang="en-IN"/>
          </a:p>
        </p:txBody>
      </p:sp>
      <p:sp>
        <p:nvSpPr>
          <p:cNvPr id="6" name="Shape 4"/>
          <p:cNvSpPr/>
          <p:nvPr/>
        </p:nvSpPr>
        <p:spPr>
          <a:xfrm>
            <a:off x="621792" y="1508760"/>
            <a:ext cx="347472" cy="256032"/>
          </a:xfrm>
          <a:prstGeom prst="rect">
            <a:avLst/>
          </a:prstGeom>
          <a:solidFill>
            <a:srgbClr val="0093D0"/>
          </a:solidFill>
          <a:ln w="12700">
            <a:solidFill>
              <a:srgbClr val="0093D0"/>
            </a:solidFill>
            <a:prstDash val="solid"/>
          </a:ln>
        </p:spPr>
        <p:txBody>
          <a:bodyPr/>
          <a:lstStyle/>
          <a:p>
            <a:endParaRPr lang="en-IN"/>
          </a:p>
        </p:txBody>
      </p:sp>
      <p:sp>
        <p:nvSpPr>
          <p:cNvPr id="7" name="Text 5"/>
          <p:cNvSpPr/>
          <p:nvPr/>
        </p:nvSpPr>
        <p:spPr>
          <a:xfrm>
            <a:off x="621792" y="1508760"/>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P1</a:t>
            </a:r>
            <a:endParaRPr lang="en-US" sz="900" dirty="0"/>
          </a:p>
        </p:txBody>
      </p:sp>
      <p:sp>
        <p:nvSpPr>
          <p:cNvPr id="8" name="Text 6"/>
          <p:cNvSpPr/>
          <p:nvPr/>
        </p:nvSpPr>
        <p:spPr>
          <a:xfrm>
            <a:off x="1097280" y="1508760"/>
            <a:ext cx="1920240" cy="256032"/>
          </a:xfrm>
          <a:prstGeom prst="rect">
            <a:avLst/>
          </a:prstGeom>
          <a:noFill/>
          <a:ln/>
        </p:spPr>
        <p:txBody>
          <a:bodyPr wrap="square" lIns="0" tIns="0" rIns="0" bIns="0" rtlCol="0" anchor="ctr"/>
          <a:lstStyle/>
          <a:p>
            <a:pPr marL="0" indent="0">
              <a:buNone/>
            </a:pPr>
            <a:r>
              <a:rPr lang="en-US" sz="750" b="1" kern="0" spc="50" dirty="0">
                <a:solidFill>
                  <a:srgbClr val="0093D0"/>
                </a:solidFill>
                <a:latin typeface="Calibri" pitchFamily="34" charset="0"/>
                <a:ea typeface="Calibri" pitchFamily="34" charset="-122"/>
                <a:cs typeface="Calibri" pitchFamily="34" charset="-120"/>
              </a:rPr>
              <a:t>PRIMARY DIFFERENTIATOR</a:t>
            </a:r>
            <a:endParaRPr lang="en-US" sz="750" dirty="0"/>
          </a:p>
        </p:txBody>
      </p:sp>
      <p:sp>
        <p:nvSpPr>
          <p:cNvPr id="9" name="Text 7"/>
          <p:cNvSpPr/>
          <p:nvPr/>
        </p:nvSpPr>
        <p:spPr>
          <a:xfrm>
            <a:off x="621792" y="1828800"/>
            <a:ext cx="2377440" cy="411480"/>
          </a:xfrm>
          <a:prstGeom prst="rect">
            <a:avLst/>
          </a:prstGeom>
          <a:noFill/>
          <a:ln/>
        </p:spPr>
        <p:txBody>
          <a:bodyPr wrap="square" lIns="0" tIns="0" rIns="0" bIns="0" rtlCol="0" anchor="ctr"/>
          <a:lstStyle/>
          <a:p>
            <a:pPr marL="0" indent="0">
              <a:buNone/>
            </a:pPr>
            <a:r>
              <a:rPr lang="en-US" sz="1300" b="1" dirty="0">
                <a:solidFill>
                  <a:srgbClr val="1E3A5F"/>
                </a:solidFill>
                <a:latin typeface="Georgia" pitchFamily="34" charset="0"/>
                <a:ea typeface="Georgia" pitchFamily="34" charset="-122"/>
                <a:cs typeface="Georgia" pitchFamily="34" charset="-120"/>
              </a:rPr>
              <a:t>Unmatched Survival Improvement</a:t>
            </a:r>
            <a:endParaRPr lang="en-US" sz="1300" dirty="0"/>
          </a:p>
        </p:txBody>
      </p:sp>
      <p:sp>
        <p:nvSpPr>
          <p:cNvPr id="10" name="Shape 8"/>
          <p:cNvSpPr/>
          <p:nvPr/>
        </p:nvSpPr>
        <p:spPr>
          <a:xfrm>
            <a:off x="621792" y="2304288"/>
            <a:ext cx="2377440" cy="9144"/>
          </a:xfrm>
          <a:prstGeom prst="rect">
            <a:avLst/>
          </a:prstGeom>
          <a:solidFill>
            <a:srgbClr val="CBD5E1"/>
          </a:solidFill>
          <a:ln w="12700">
            <a:solidFill>
              <a:srgbClr val="CBD5E1"/>
            </a:solidFill>
            <a:prstDash val="solid"/>
          </a:ln>
        </p:spPr>
        <p:txBody>
          <a:bodyPr/>
          <a:lstStyle/>
          <a:p>
            <a:endParaRPr lang="en-IN"/>
          </a:p>
        </p:txBody>
      </p:sp>
      <p:sp>
        <p:nvSpPr>
          <p:cNvPr id="11" name="Text 9"/>
          <p:cNvSpPr/>
          <p:nvPr/>
        </p:nvSpPr>
        <p:spPr>
          <a:xfrm>
            <a:off x="621792" y="2395728"/>
            <a:ext cx="2377440" cy="164592"/>
          </a:xfrm>
          <a:prstGeom prst="rect">
            <a:avLst/>
          </a:prstGeom>
          <a:noFill/>
          <a:ln/>
        </p:spPr>
        <p:txBody>
          <a:bodyPr wrap="square" lIns="0" tIns="0" rIns="0" bIns="0" rtlCol="0" anchor="ctr"/>
          <a:lstStyle/>
          <a:p>
            <a:pPr marL="0" indent="0">
              <a:buNone/>
            </a:pPr>
            <a:r>
              <a:rPr lang="en-US" sz="800" b="1" kern="0" spc="100" dirty="0">
                <a:solidFill>
                  <a:srgbClr val="0093D0"/>
                </a:solidFill>
                <a:latin typeface="Calibri" pitchFamily="34" charset="0"/>
                <a:ea typeface="Calibri" pitchFamily="34" charset="-122"/>
                <a:cs typeface="Calibri" pitchFamily="34" charset="-120"/>
              </a:rPr>
              <a:t>PROOF POINT:</a:t>
            </a:r>
            <a:endParaRPr lang="en-US" sz="800" dirty="0"/>
          </a:p>
        </p:txBody>
      </p:sp>
      <p:sp>
        <p:nvSpPr>
          <p:cNvPr id="12" name="Text 10"/>
          <p:cNvSpPr/>
          <p:nvPr/>
        </p:nvSpPr>
        <p:spPr>
          <a:xfrm>
            <a:off x="621792" y="2578608"/>
            <a:ext cx="2377440" cy="566928"/>
          </a:xfrm>
          <a:prstGeom prst="rect">
            <a:avLst/>
          </a:prstGeom>
          <a:noFill/>
          <a:ln/>
        </p:spPr>
        <p:txBody>
          <a:bodyPr wrap="square" lIns="0" tIns="0" rIns="0" bIns="0" rtlCol="0" anchor="ctr"/>
          <a:lstStyle/>
          <a:p>
            <a:pPr marL="0" indent="0">
              <a:buNone/>
            </a:pPr>
            <a:r>
              <a:rPr lang="en-US" sz="950" dirty="0">
                <a:solidFill>
                  <a:srgbClr val="1E3A5F"/>
                </a:solidFill>
                <a:latin typeface="Calibri" pitchFamily="34" charset="0"/>
                <a:ea typeface="Calibri" pitchFamily="34" charset="-122"/>
                <a:cs typeface="Calibri" pitchFamily="34" charset="-120"/>
              </a:rPr>
              <a:t>Median OS: 31.5 months vs. 16.1 months. HR 0.47. Reduction in risk of death: 53%.</a:t>
            </a:r>
            <a:endParaRPr lang="en-US" sz="950" dirty="0"/>
          </a:p>
        </p:txBody>
      </p:sp>
      <p:sp>
        <p:nvSpPr>
          <p:cNvPr id="13" name="Shape 11"/>
          <p:cNvSpPr/>
          <p:nvPr/>
        </p:nvSpPr>
        <p:spPr>
          <a:xfrm>
            <a:off x="621792" y="3200400"/>
            <a:ext cx="2377440" cy="9144"/>
          </a:xfrm>
          <a:prstGeom prst="rect">
            <a:avLst/>
          </a:prstGeom>
          <a:solidFill>
            <a:srgbClr val="CBD5E1"/>
          </a:solidFill>
          <a:ln w="12700">
            <a:solidFill>
              <a:srgbClr val="CBD5E1"/>
            </a:solidFill>
            <a:prstDash val="solid"/>
          </a:ln>
        </p:spPr>
        <p:txBody>
          <a:bodyPr/>
          <a:lstStyle/>
          <a:p>
            <a:endParaRPr lang="en-IN"/>
          </a:p>
        </p:txBody>
      </p:sp>
      <p:sp>
        <p:nvSpPr>
          <p:cNvPr id="14" name="Text 12"/>
          <p:cNvSpPr/>
          <p:nvPr/>
        </p:nvSpPr>
        <p:spPr>
          <a:xfrm>
            <a:off x="621792" y="3310128"/>
            <a:ext cx="2377440" cy="141732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OS is the gold standard endpoint in oncology. Payers, oncologists, and patients understand survival. The 15.4-month improvement is exceptional by any historical comparison in this disease and most solid tumors.</a:t>
            </a:r>
            <a:endParaRPr lang="en-US" sz="950" dirty="0"/>
          </a:p>
        </p:txBody>
      </p:sp>
      <p:sp>
        <p:nvSpPr>
          <p:cNvPr id="15" name="Shape 13"/>
          <p:cNvSpPr/>
          <p:nvPr/>
        </p:nvSpPr>
        <p:spPr>
          <a:xfrm>
            <a:off x="3246120" y="1389888"/>
            <a:ext cx="2651760" cy="3429000"/>
          </a:xfrm>
          <a:prstGeom prst="rect">
            <a:avLst/>
          </a:prstGeom>
          <a:solidFill>
            <a:srgbClr val="F8FAFC"/>
          </a:solidFill>
          <a:ln w="6350">
            <a:solidFill>
              <a:srgbClr val="E2E8F0"/>
            </a:solidFill>
            <a:prstDash val="solid"/>
          </a:ln>
        </p:spPr>
        <p:txBody>
          <a:bodyPr/>
          <a:lstStyle/>
          <a:p>
            <a:endParaRPr lang="en-IN"/>
          </a:p>
        </p:txBody>
      </p:sp>
      <p:sp>
        <p:nvSpPr>
          <p:cNvPr id="16" name="Shape 14"/>
          <p:cNvSpPr/>
          <p:nvPr/>
        </p:nvSpPr>
        <p:spPr>
          <a:xfrm>
            <a:off x="3246120" y="1389888"/>
            <a:ext cx="54864" cy="3429000"/>
          </a:xfrm>
          <a:prstGeom prst="rect">
            <a:avLst/>
          </a:prstGeom>
          <a:solidFill>
            <a:srgbClr val="1A7A4A"/>
          </a:solidFill>
          <a:ln w="12700">
            <a:solidFill>
              <a:srgbClr val="1A7A4A"/>
            </a:solidFill>
            <a:prstDash val="solid"/>
          </a:ln>
        </p:spPr>
        <p:txBody>
          <a:bodyPr/>
          <a:lstStyle/>
          <a:p>
            <a:endParaRPr lang="en-IN"/>
          </a:p>
        </p:txBody>
      </p:sp>
      <p:sp>
        <p:nvSpPr>
          <p:cNvPr id="17" name="Shape 15"/>
          <p:cNvSpPr/>
          <p:nvPr/>
        </p:nvSpPr>
        <p:spPr>
          <a:xfrm>
            <a:off x="3410712" y="1508760"/>
            <a:ext cx="347472" cy="256032"/>
          </a:xfrm>
          <a:prstGeom prst="rect">
            <a:avLst/>
          </a:prstGeom>
          <a:solidFill>
            <a:srgbClr val="1A7A4A"/>
          </a:solidFill>
          <a:ln w="12700">
            <a:solidFill>
              <a:srgbClr val="1A7A4A"/>
            </a:solidFill>
            <a:prstDash val="solid"/>
          </a:ln>
        </p:spPr>
        <p:txBody>
          <a:bodyPr/>
          <a:lstStyle/>
          <a:p>
            <a:endParaRPr lang="en-IN"/>
          </a:p>
        </p:txBody>
      </p:sp>
      <p:sp>
        <p:nvSpPr>
          <p:cNvPr id="18" name="Text 16"/>
          <p:cNvSpPr/>
          <p:nvPr/>
        </p:nvSpPr>
        <p:spPr>
          <a:xfrm>
            <a:off x="3410712" y="1508760"/>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P2</a:t>
            </a:r>
            <a:endParaRPr lang="en-US" sz="900" dirty="0"/>
          </a:p>
        </p:txBody>
      </p:sp>
      <p:sp>
        <p:nvSpPr>
          <p:cNvPr id="19" name="Text 17"/>
          <p:cNvSpPr/>
          <p:nvPr/>
        </p:nvSpPr>
        <p:spPr>
          <a:xfrm>
            <a:off x="3886200" y="1508760"/>
            <a:ext cx="1920240" cy="256032"/>
          </a:xfrm>
          <a:prstGeom prst="rect">
            <a:avLst/>
          </a:prstGeom>
          <a:noFill/>
          <a:ln/>
        </p:spPr>
        <p:txBody>
          <a:bodyPr wrap="square" lIns="0" tIns="0" rIns="0" bIns="0" rtlCol="0" anchor="ctr"/>
          <a:lstStyle/>
          <a:p>
            <a:pPr marL="0" indent="0">
              <a:buNone/>
            </a:pPr>
            <a:r>
              <a:rPr lang="en-US" sz="750" b="1" kern="0" spc="50" dirty="0">
                <a:solidFill>
                  <a:srgbClr val="1A7A4A"/>
                </a:solidFill>
                <a:latin typeface="Calibri" pitchFamily="34" charset="0"/>
                <a:ea typeface="Calibri" pitchFamily="34" charset="-122"/>
                <a:cs typeface="Calibri" pitchFamily="34" charset="-120"/>
              </a:rPr>
              <a:t>RESPONSE DEPTH</a:t>
            </a:r>
            <a:endParaRPr lang="en-US" sz="750" dirty="0"/>
          </a:p>
        </p:txBody>
      </p:sp>
      <p:sp>
        <p:nvSpPr>
          <p:cNvPr id="20" name="Text 18"/>
          <p:cNvSpPr/>
          <p:nvPr/>
        </p:nvSpPr>
        <p:spPr>
          <a:xfrm>
            <a:off x="3410712" y="1828800"/>
            <a:ext cx="2377440" cy="411480"/>
          </a:xfrm>
          <a:prstGeom prst="rect">
            <a:avLst/>
          </a:prstGeom>
          <a:noFill/>
          <a:ln/>
        </p:spPr>
        <p:txBody>
          <a:bodyPr wrap="square" lIns="0" tIns="0" rIns="0" bIns="0" rtlCol="0" anchor="ctr"/>
          <a:lstStyle/>
          <a:p>
            <a:pPr marL="0" indent="0">
              <a:buNone/>
            </a:pPr>
            <a:r>
              <a:rPr lang="en-US" sz="1300" b="1" dirty="0">
                <a:solidFill>
                  <a:srgbClr val="1E3A5F"/>
                </a:solidFill>
                <a:latin typeface="Georgia" pitchFamily="34" charset="0"/>
                <a:ea typeface="Georgia" pitchFamily="34" charset="-122"/>
                <a:cs typeface="Georgia" pitchFamily="34" charset="-120"/>
              </a:rPr>
              <a:t>Responses That Last</a:t>
            </a:r>
            <a:endParaRPr lang="en-US" sz="1300" dirty="0"/>
          </a:p>
        </p:txBody>
      </p:sp>
      <p:sp>
        <p:nvSpPr>
          <p:cNvPr id="21" name="Shape 19"/>
          <p:cNvSpPr/>
          <p:nvPr/>
        </p:nvSpPr>
        <p:spPr>
          <a:xfrm>
            <a:off x="3410712" y="2304288"/>
            <a:ext cx="2377440" cy="9144"/>
          </a:xfrm>
          <a:prstGeom prst="rect">
            <a:avLst/>
          </a:prstGeom>
          <a:solidFill>
            <a:srgbClr val="CBD5E1"/>
          </a:solidFill>
          <a:ln w="12700">
            <a:solidFill>
              <a:srgbClr val="CBD5E1"/>
            </a:solidFill>
            <a:prstDash val="solid"/>
          </a:ln>
        </p:spPr>
        <p:txBody>
          <a:bodyPr/>
          <a:lstStyle/>
          <a:p>
            <a:endParaRPr lang="en-IN"/>
          </a:p>
        </p:txBody>
      </p:sp>
      <p:sp>
        <p:nvSpPr>
          <p:cNvPr id="22" name="Text 20"/>
          <p:cNvSpPr/>
          <p:nvPr/>
        </p:nvSpPr>
        <p:spPr>
          <a:xfrm>
            <a:off x="3410712" y="2395728"/>
            <a:ext cx="2377440" cy="164592"/>
          </a:xfrm>
          <a:prstGeom prst="rect">
            <a:avLst/>
          </a:prstGeom>
          <a:noFill/>
          <a:ln/>
        </p:spPr>
        <p:txBody>
          <a:bodyPr wrap="square" lIns="0" tIns="0" rIns="0" bIns="0" rtlCol="0" anchor="ctr"/>
          <a:lstStyle/>
          <a:p>
            <a:pPr marL="0" indent="0">
              <a:buNone/>
            </a:pPr>
            <a:r>
              <a:rPr lang="en-US" sz="800" b="1" kern="0" spc="100" dirty="0">
                <a:solidFill>
                  <a:srgbClr val="1A7A4A"/>
                </a:solidFill>
                <a:latin typeface="Calibri" pitchFamily="34" charset="0"/>
                <a:ea typeface="Calibri" pitchFamily="34" charset="-122"/>
                <a:cs typeface="Calibri" pitchFamily="34" charset="-120"/>
              </a:rPr>
              <a:t>PROOF POINT:</a:t>
            </a:r>
            <a:endParaRPr lang="en-US" sz="800" dirty="0"/>
          </a:p>
        </p:txBody>
      </p:sp>
      <p:sp>
        <p:nvSpPr>
          <p:cNvPr id="23" name="Text 21"/>
          <p:cNvSpPr/>
          <p:nvPr/>
        </p:nvSpPr>
        <p:spPr>
          <a:xfrm>
            <a:off x="3410712" y="2578608"/>
            <a:ext cx="2377440" cy="566928"/>
          </a:xfrm>
          <a:prstGeom prst="rect">
            <a:avLst/>
          </a:prstGeom>
          <a:noFill/>
          <a:ln/>
        </p:spPr>
        <p:txBody>
          <a:bodyPr wrap="square" lIns="0" tIns="0" rIns="0" bIns="0" rtlCol="0" anchor="ctr"/>
          <a:lstStyle/>
          <a:p>
            <a:pPr marL="0" indent="0">
              <a:buNone/>
            </a:pPr>
            <a:r>
              <a:rPr lang="en-US" sz="950" dirty="0">
                <a:solidFill>
                  <a:srgbClr val="1E3A5F"/>
                </a:solidFill>
                <a:latin typeface="Calibri" pitchFamily="34" charset="0"/>
                <a:ea typeface="Calibri" pitchFamily="34" charset="-122"/>
                <a:cs typeface="Calibri" pitchFamily="34" charset="-120"/>
              </a:rPr>
              <a:t>ORR: 67.7%. Complete response: 29.1% vs. 12.5% for chemotherapy. Some CRs exceeding 24 months.</a:t>
            </a:r>
            <a:endParaRPr lang="en-US" sz="950" dirty="0"/>
          </a:p>
        </p:txBody>
      </p:sp>
      <p:sp>
        <p:nvSpPr>
          <p:cNvPr id="24" name="Shape 22"/>
          <p:cNvSpPr/>
          <p:nvPr/>
        </p:nvSpPr>
        <p:spPr>
          <a:xfrm>
            <a:off x="3410712" y="3200400"/>
            <a:ext cx="2377440" cy="9144"/>
          </a:xfrm>
          <a:prstGeom prst="rect">
            <a:avLst/>
          </a:prstGeom>
          <a:solidFill>
            <a:srgbClr val="CBD5E1"/>
          </a:solidFill>
          <a:ln w="12700">
            <a:solidFill>
              <a:srgbClr val="CBD5E1"/>
            </a:solidFill>
            <a:prstDash val="solid"/>
          </a:ln>
        </p:spPr>
        <p:txBody>
          <a:bodyPr/>
          <a:lstStyle/>
          <a:p>
            <a:endParaRPr lang="en-IN"/>
          </a:p>
        </p:txBody>
      </p:sp>
      <p:sp>
        <p:nvSpPr>
          <p:cNvPr id="25" name="Text 23"/>
          <p:cNvSpPr/>
          <p:nvPr/>
        </p:nvSpPr>
        <p:spPr>
          <a:xfrm>
            <a:off x="3410712" y="3310128"/>
            <a:ext cx="2377440" cy="141732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The 29.1% CR rate is the single most impactful individual data point in EV-302 for messaging. Nearly 1 in 3 patients achieves no detectable tumor. This framing resonates powerfully with both oncologists and patients.</a:t>
            </a:r>
            <a:endParaRPr lang="en-US" sz="950" dirty="0"/>
          </a:p>
        </p:txBody>
      </p:sp>
      <p:sp>
        <p:nvSpPr>
          <p:cNvPr id="26" name="Shape 24"/>
          <p:cNvSpPr/>
          <p:nvPr/>
        </p:nvSpPr>
        <p:spPr>
          <a:xfrm>
            <a:off x="6035040" y="1389888"/>
            <a:ext cx="2651760" cy="3429000"/>
          </a:xfrm>
          <a:prstGeom prst="rect">
            <a:avLst/>
          </a:prstGeom>
          <a:solidFill>
            <a:srgbClr val="F8FAFC"/>
          </a:solidFill>
          <a:ln w="6350">
            <a:solidFill>
              <a:srgbClr val="E2E8F0"/>
            </a:solidFill>
            <a:prstDash val="solid"/>
          </a:ln>
        </p:spPr>
        <p:txBody>
          <a:bodyPr/>
          <a:lstStyle/>
          <a:p>
            <a:endParaRPr lang="en-IN"/>
          </a:p>
        </p:txBody>
      </p:sp>
      <p:sp>
        <p:nvSpPr>
          <p:cNvPr id="27" name="Shape 25"/>
          <p:cNvSpPr/>
          <p:nvPr/>
        </p:nvSpPr>
        <p:spPr>
          <a:xfrm>
            <a:off x="6035040" y="1389888"/>
            <a:ext cx="54864" cy="3429000"/>
          </a:xfrm>
          <a:prstGeom prst="rect">
            <a:avLst/>
          </a:prstGeom>
          <a:solidFill>
            <a:srgbClr val="B45309"/>
          </a:solidFill>
          <a:ln w="12700">
            <a:solidFill>
              <a:srgbClr val="B45309"/>
            </a:solidFill>
            <a:prstDash val="solid"/>
          </a:ln>
        </p:spPr>
        <p:txBody>
          <a:bodyPr/>
          <a:lstStyle/>
          <a:p>
            <a:endParaRPr lang="en-IN"/>
          </a:p>
        </p:txBody>
      </p:sp>
      <p:sp>
        <p:nvSpPr>
          <p:cNvPr id="28" name="Shape 26"/>
          <p:cNvSpPr/>
          <p:nvPr/>
        </p:nvSpPr>
        <p:spPr>
          <a:xfrm>
            <a:off x="6199632" y="1508760"/>
            <a:ext cx="347472" cy="256032"/>
          </a:xfrm>
          <a:prstGeom prst="rect">
            <a:avLst/>
          </a:prstGeom>
          <a:solidFill>
            <a:srgbClr val="B45309"/>
          </a:solidFill>
          <a:ln w="12700">
            <a:solidFill>
              <a:srgbClr val="B45309"/>
            </a:solidFill>
            <a:prstDash val="solid"/>
          </a:ln>
        </p:spPr>
        <p:txBody>
          <a:bodyPr/>
          <a:lstStyle/>
          <a:p>
            <a:endParaRPr lang="en-IN"/>
          </a:p>
        </p:txBody>
      </p:sp>
      <p:sp>
        <p:nvSpPr>
          <p:cNvPr id="29" name="Text 27"/>
          <p:cNvSpPr/>
          <p:nvPr/>
        </p:nvSpPr>
        <p:spPr>
          <a:xfrm>
            <a:off x="6199632" y="1508760"/>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P3</a:t>
            </a:r>
            <a:endParaRPr lang="en-US" sz="900" dirty="0"/>
          </a:p>
        </p:txBody>
      </p:sp>
      <p:sp>
        <p:nvSpPr>
          <p:cNvPr id="30" name="Text 28"/>
          <p:cNvSpPr/>
          <p:nvPr/>
        </p:nvSpPr>
        <p:spPr>
          <a:xfrm>
            <a:off x="6675120" y="1508760"/>
            <a:ext cx="1920240" cy="256032"/>
          </a:xfrm>
          <a:prstGeom prst="rect">
            <a:avLst/>
          </a:prstGeom>
          <a:noFill/>
          <a:ln/>
        </p:spPr>
        <p:txBody>
          <a:bodyPr wrap="square" lIns="0" tIns="0" rIns="0" bIns="0" rtlCol="0" anchor="ctr"/>
          <a:lstStyle/>
          <a:p>
            <a:pPr marL="0" indent="0">
              <a:buNone/>
            </a:pPr>
            <a:r>
              <a:rPr lang="en-US" sz="750" b="1" kern="0" spc="50" dirty="0">
                <a:solidFill>
                  <a:srgbClr val="B45309"/>
                </a:solidFill>
                <a:latin typeface="Calibri" pitchFamily="34" charset="0"/>
                <a:ea typeface="Calibri" pitchFamily="34" charset="-122"/>
                <a:cs typeface="Calibri" pitchFamily="34" charset="-120"/>
              </a:rPr>
              <a:t>BROADEST POPULATION</a:t>
            </a:r>
            <a:endParaRPr lang="en-US" sz="750" dirty="0"/>
          </a:p>
        </p:txBody>
      </p:sp>
      <p:sp>
        <p:nvSpPr>
          <p:cNvPr id="31" name="Text 29"/>
          <p:cNvSpPr/>
          <p:nvPr/>
        </p:nvSpPr>
        <p:spPr>
          <a:xfrm>
            <a:off x="6199632" y="1828800"/>
            <a:ext cx="2377440" cy="411480"/>
          </a:xfrm>
          <a:prstGeom prst="rect">
            <a:avLst/>
          </a:prstGeom>
          <a:noFill/>
          <a:ln/>
        </p:spPr>
        <p:txBody>
          <a:bodyPr wrap="square" lIns="0" tIns="0" rIns="0" bIns="0" rtlCol="0" anchor="ctr"/>
          <a:lstStyle/>
          <a:p>
            <a:pPr marL="0" indent="0">
              <a:buNone/>
            </a:pPr>
            <a:r>
              <a:rPr lang="en-US" sz="1300" b="1" dirty="0">
                <a:solidFill>
                  <a:srgbClr val="1E3A5F"/>
                </a:solidFill>
                <a:latin typeface="Georgia" pitchFamily="34" charset="0"/>
                <a:ea typeface="Georgia" pitchFamily="34" charset="-122"/>
                <a:cs typeface="Georgia" pitchFamily="34" charset="-120"/>
              </a:rPr>
              <a:t>Benefit Across All Patients</a:t>
            </a:r>
            <a:endParaRPr lang="en-US" sz="1300" dirty="0"/>
          </a:p>
        </p:txBody>
      </p:sp>
      <p:sp>
        <p:nvSpPr>
          <p:cNvPr id="32" name="Shape 30"/>
          <p:cNvSpPr/>
          <p:nvPr/>
        </p:nvSpPr>
        <p:spPr>
          <a:xfrm>
            <a:off x="6199632" y="2304288"/>
            <a:ext cx="2377440" cy="9144"/>
          </a:xfrm>
          <a:prstGeom prst="rect">
            <a:avLst/>
          </a:prstGeom>
          <a:solidFill>
            <a:srgbClr val="CBD5E1"/>
          </a:solidFill>
          <a:ln w="12700">
            <a:solidFill>
              <a:srgbClr val="CBD5E1"/>
            </a:solidFill>
            <a:prstDash val="solid"/>
          </a:ln>
        </p:spPr>
        <p:txBody>
          <a:bodyPr/>
          <a:lstStyle/>
          <a:p>
            <a:endParaRPr lang="en-IN"/>
          </a:p>
        </p:txBody>
      </p:sp>
      <p:sp>
        <p:nvSpPr>
          <p:cNvPr id="33" name="Text 31"/>
          <p:cNvSpPr/>
          <p:nvPr/>
        </p:nvSpPr>
        <p:spPr>
          <a:xfrm>
            <a:off x="6199632" y="2395728"/>
            <a:ext cx="2377440" cy="164592"/>
          </a:xfrm>
          <a:prstGeom prst="rect">
            <a:avLst/>
          </a:prstGeom>
          <a:noFill/>
          <a:ln/>
        </p:spPr>
        <p:txBody>
          <a:bodyPr wrap="square" lIns="0" tIns="0" rIns="0" bIns="0" rtlCol="0" anchor="ctr"/>
          <a:lstStyle/>
          <a:p>
            <a:pPr marL="0" indent="0">
              <a:buNone/>
            </a:pPr>
            <a:r>
              <a:rPr lang="en-US" sz="800" b="1" kern="0" spc="100" dirty="0">
                <a:solidFill>
                  <a:srgbClr val="B45309"/>
                </a:solidFill>
                <a:latin typeface="Calibri" pitchFamily="34" charset="0"/>
                <a:ea typeface="Calibri" pitchFamily="34" charset="-122"/>
                <a:cs typeface="Calibri" pitchFamily="34" charset="-120"/>
              </a:rPr>
              <a:t>PROOF POINT:</a:t>
            </a:r>
            <a:endParaRPr lang="en-US" sz="800" dirty="0"/>
          </a:p>
        </p:txBody>
      </p:sp>
      <p:sp>
        <p:nvSpPr>
          <p:cNvPr id="34" name="Text 32"/>
          <p:cNvSpPr/>
          <p:nvPr/>
        </p:nvSpPr>
        <p:spPr>
          <a:xfrm>
            <a:off x="6199632" y="2578608"/>
            <a:ext cx="2377440" cy="566928"/>
          </a:xfrm>
          <a:prstGeom prst="rect">
            <a:avLst/>
          </a:prstGeom>
          <a:noFill/>
          <a:ln/>
        </p:spPr>
        <p:txBody>
          <a:bodyPr wrap="square" lIns="0" tIns="0" rIns="0" bIns="0" rtlCol="0" anchor="ctr"/>
          <a:lstStyle/>
          <a:p>
            <a:pPr marL="0" indent="0">
              <a:buNone/>
            </a:pPr>
            <a:r>
              <a:rPr lang="en-US" sz="950" dirty="0">
                <a:solidFill>
                  <a:srgbClr val="1E3A5F"/>
                </a:solidFill>
                <a:latin typeface="Calibri" pitchFamily="34" charset="0"/>
                <a:ea typeface="Calibri" pitchFamily="34" charset="-122"/>
                <a:cs typeface="Calibri" pitchFamily="34" charset="-120"/>
              </a:rPr>
              <a:t>Consistent benefit in cisplatin-ineligible (HR 0.52), PD-L1 CPS below 10 (HR 0.45), and liver metastases subgroups.</a:t>
            </a:r>
            <a:endParaRPr lang="en-US" sz="950" dirty="0"/>
          </a:p>
        </p:txBody>
      </p:sp>
      <p:sp>
        <p:nvSpPr>
          <p:cNvPr id="35" name="Shape 33"/>
          <p:cNvSpPr/>
          <p:nvPr/>
        </p:nvSpPr>
        <p:spPr>
          <a:xfrm>
            <a:off x="6199632" y="3200400"/>
            <a:ext cx="2377440" cy="9144"/>
          </a:xfrm>
          <a:prstGeom prst="rect">
            <a:avLst/>
          </a:prstGeom>
          <a:solidFill>
            <a:srgbClr val="CBD5E1"/>
          </a:solidFill>
          <a:ln w="12700">
            <a:solidFill>
              <a:srgbClr val="CBD5E1"/>
            </a:solidFill>
            <a:prstDash val="solid"/>
          </a:ln>
        </p:spPr>
        <p:txBody>
          <a:bodyPr/>
          <a:lstStyle/>
          <a:p>
            <a:endParaRPr lang="en-IN"/>
          </a:p>
        </p:txBody>
      </p:sp>
      <p:sp>
        <p:nvSpPr>
          <p:cNvPr id="36" name="Text 34"/>
          <p:cNvSpPr/>
          <p:nvPr/>
        </p:nvSpPr>
        <p:spPr>
          <a:xfrm>
            <a:off x="6199632" y="3310128"/>
            <a:ext cx="2377440" cy="141732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Unlike Keytruda's 1L approval (restricted to PD-L1 CPS 10+ for cisplatin-ineligible), EV-302 benefit extends to all patient subgroups. This is a direct, permissible commercial message that does not require a comparative claim.</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04 / MESSAGING FRAMEWORK</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Audience-Specific Messages and MLR Compliance Guardrails</a:t>
            </a:r>
            <a:endParaRPr lang="en-US" sz="2300" dirty="0"/>
          </a:p>
        </p:txBody>
      </p:sp>
      <p:sp>
        <p:nvSpPr>
          <p:cNvPr id="4" name="Shape 2"/>
          <p:cNvSpPr/>
          <p:nvPr/>
        </p:nvSpPr>
        <p:spPr>
          <a:xfrm>
            <a:off x="457200" y="1389888"/>
            <a:ext cx="5029200" cy="713232"/>
          </a:xfrm>
          <a:prstGeom prst="rect">
            <a:avLst/>
          </a:prstGeom>
          <a:solidFill>
            <a:srgbClr val="F8FAFC"/>
          </a:solidFill>
          <a:ln w="6350">
            <a:solidFill>
              <a:srgbClr val="E2E8F0"/>
            </a:solidFill>
            <a:prstDash val="solid"/>
          </a:ln>
        </p:spPr>
        <p:txBody>
          <a:bodyPr/>
          <a:lstStyle/>
          <a:p>
            <a:endParaRPr lang="en-IN"/>
          </a:p>
        </p:txBody>
      </p:sp>
      <p:sp>
        <p:nvSpPr>
          <p:cNvPr id="5" name="Shape 3"/>
          <p:cNvSpPr/>
          <p:nvPr/>
        </p:nvSpPr>
        <p:spPr>
          <a:xfrm>
            <a:off x="457200" y="1389888"/>
            <a:ext cx="54864" cy="713232"/>
          </a:xfrm>
          <a:prstGeom prst="rect">
            <a:avLst/>
          </a:prstGeom>
          <a:solidFill>
            <a:srgbClr val="0093D0"/>
          </a:solidFill>
          <a:ln w="12700">
            <a:solidFill>
              <a:srgbClr val="0093D0"/>
            </a:solidFill>
            <a:prstDash val="solid"/>
          </a:ln>
        </p:spPr>
        <p:txBody>
          <a:bodyPr/>
          <a:lstStyle/>
          <a:p>
            <a:endParaRPr lang="en-IN"/>
          </a:p>
        </p:txBody>
      </p:sp>
      <p:sp>
        <p:nvSpPr>
          <p:cNvPr id="6" name="Text 4"/>
          <p:cNvSpPr/>
          <p:nvPr/>
        </p:nvSpPr>
        <p:spPr>
          <a:xfrm>
            <a:off x="658368" y="1481328"/>
            <a:ext cx="4389120" cy="182880"/>
          </a:xfrm>
          <a:prstGeom prst="rect">
            <a:avLst/>
          </a:prstGeom>
          <a:noFill/>
          <a:ln/>
        </p:spPr>
        <p:txBody>
          <a:bodyPr wrap="square" lIns="0" tIns="0" rIns="0" bIns="0" rtlCol="0" anchor="ctr"/>
          <a:lstStyle/>
          <a:p>
            <a:pPr marL="0" indent="0">
              <a:buNone/>
            </a:pPr>
            <a:r>
              <a:rPr lang="en-US" sz="800" b="1" kern="0" spc="150" dirty="0">
                <a:solidFill>
                  <a:srgbClr val="0093D0"/>
                </a:solidFill>
                <a:latin typeface="Calibri" pitchFamily="34" charset="0"/>
                <a:ea typeface="Calibri" pitchFamily="34" charset="-122"/>
                <a:cs typeface="Calibri" pitchFamily="34" charset="-120"/>
              </a:rPr>
              <a:t>ONCOLOGIST (HIGH SCIENCE)</a:t>
            </a:r>
            <a:endParaRPr lang="en-US" sz="800" dirty="0"/>
          </a:p>
        </p:txBody>
      </p:sp>
      <p:sp>
        <p:nvSpPr>
          <p:cNvPr id="7" name="Text 5"/>
          <p:cNvSpPr/>
          <p:nvPr/>
        </p:nvSpPr>
        <p:spPr>
          <a:xfrm>
            <a:off x="658368" y="1682496"/>
            <a:ext cx="4389120" cy="365760"/>
          </a:xfrm>
          <a:prstGeom prst="rect">
            <a:avLst/>
          </a:prstGeom>
          <a:noFill/>
          <a:ln/>
        </p:spPr>
        <p:txBody>
          <a:bodyPr wrap="square" lIns="0" tIns="0" rIns="0" bIns="0" rtlCol="0" anchor="ctr"/>
          <a:lstStyle/>
          <a:p>
            <a:pPr marL="0" indent="0">
              <a:buNone/>
            </a:pPr>
            <a:r>
              <a:rPr lang="en-US" sz="1000" dirty="0">
                <a:solidFill>
                  <a:srgbClr val="1E3A5F"/>
                </a:solidFill>
                <a:latin typeface="Calibri" pitchFamily="34" charset="0"/>
                <a:ea typeface="Calibri" pitchFamily="34" charset="-122"/>
                <a:cs typeface="Calibri" pitchFamily="34" charset="-120"/>
              </a:rPr>
              <a:t>The Nectin-4 ADC mechanism delivers MMAE via receptor-mediated endocytosis. No biomarker testing required. EV-302 subgroup data is consistent across all prespecified populations.</a:t>
            </a:r>
            <a:endParaRPr lang="en-US" sz="1000" dirty="0"/>
          </a:p>
        </p:txBody>
      </p:sp>
      <p:sp>
        <p:nvSpPr>
          <p:cNvPr id="8" name="Shape 6"/>
          <p:cNvSpPr/>
          <p:nvPr/>
        </p:nvSpPr>
        <p:spPr>
          <a:xfrm>
            <a:off x="457200" y="2231136"/>
            <a:ext cx="5029200" cy="713232"/>
          </a:xfrm>
          <a:prstGeom prst="rect">
            <a:avLst/>
          </a:prstGeom>
          <a:solidFill>
            <a:srgbClr val="F8FAFC"/>
          </a:solidFill>
          <a:ln w="6350">
            <a:solidFill>
              <a:srgbClr val="E2E8F0"/>
            </a:solidFill>
            <a:prstDash val="solid"/>
          </a:ln>
        </p:spPr>
        <p:txBody>
          <a:bodyPr/>
          <a:lstStyle/>
          <a:p>
            <a:endParaRPr lang="en-IN"/>
          </a:p>
        </p:txBody>
      </p:sp>
      <p:sp>
        <p:nvSpPr>
          <p:cNvPr id="9" name="Shape 7"/>
          <p:cNvSpPr/>
          <p:nvPr/>
        </p:nvSpPr>
        <p:spPr>
          <a:xfrm>
            <a:off x="457200" y="2231136"/>
            <a:ext cx="54864" cy="713232"/>
          </a:xfrm>
          <a:prstGeom prst="rect">
            <a:avLst/>
          </a:prstGeom>
          <a:solidFill>
            <a:srgbClr val="1A7A4A"/>
          </a:solidFill>
          <a:ln w="12700">
            <a:solidFill>
              <a:srgbClr val="1A7A4A"/>
            </a:solidFill>
            <a:prstDash val="solid"/>
          </a:ln>
        </p:spPr>
        <p:txBody>
          <a:bodyPr/>
          <a:lstStyle/>
          <a:p>
            <a:endParaRPr lang="en-IN"/>
          </a:p>
        </p:txBody>
      </p:sp>
      <p:sp>
        <p:nvSpPr>
          <p:cNvPr id="10" name="Text 8"/>
          <p:cNvSpPr/>
          <p:nvPr/>
        </p:nvSpPr>
        <p:spPr>
          <a:xfrm>
            <a:off x="658368" y="2322576"/>
            <a:ext cx="4389120" cy="182880"/>
          </a:xfrm>
          <a:prstGeom prst="rect">
            <a:avLst/>
          </a:prstGeom>
          <a:noFill/>
          <a:ln/>
        </p:spPr>
        <p:txBody>
          <a:bodyPr wrap="square" lIns="0" tIns="0" rIns="0" bIns="0" rtlCol="0" anchor="ctr"/>
          <a:lstStyle/>
          <a:p>
            <a:pPr marL="0" indent="0">
              <a:buNone/>
            </a:pPr>
            <a:r>
              <a:rPr lang="en-US" sz="800" b="1" kern="0" spc="150" dirty="0">
                <a:solidFill>
                  <a:srgbClr val="1A7A4A"/>
                </a:solidFill>
                <a:latin typeface="Calibri" pitchFamily="34" charset="0"/>
                <a:ea typeface="Calibri" pitchFamily="34" charset="-122"/>
                <a:cs typeface="Calibri" pitchFamily="34" charset="-120"/>
              </a:rPr>
              <a:t>COMMUNITY ONCOLOGIST (PRACTICAL)</a:t>
            </a:r>
            <a:endParaRPr lang="en-US" sz="800" dirty="0"/>
          </a:p>
        </p:txBody>
      </p:sp>
      <p:sp>
        <p:nvSpPr>
          <p:cNvPr id="11" name="Text 9"/>
          <p:cNvSpPr/>
          <p:nvPr/>
        </p:nvSpPr>
        <p:spPr>
          <a:xfrm>
            <a:off x="658368" y="2523744"/>
            <a:ext cx="4389120" cy="365760"/>
          </a:xfrm>
          <a:prstGeom prst="rect">
            <a:avLst/>
          </a:prstGeom>
          <a:noFill/>
          <a:ln/>
        </p:spPr>
        <p:txBody>
          <a:bodyPr wrap="square" lIns="0" tIns="0" rIns="0" bIns="0" rtlCol="0" anchor="ctr"/>
          <a:lstStyle/>
          <a:p>
            <a:pPr marL="0" indent="0">
              <a:buNone/>
            </a:pPr>
            <a:r>
              <a:rPr lang="en-US" sz="1000" dirty="0">
                <a:solidFill>
                  <a:srgbClr val="1E3A5F"/>
                </a:solidFill>
                <a:latin typeface="Calibri" pitchFamily="34" charset="0"/>
                <a:ea typeface="Calibri" pitchFamily="34" charset="-122"/>
                <a:cs typeface="Calibri" pitchFamily="34" charset="-120"/>
              </a:rPr>
              <a:t>For your first-line la/mUC patients — NCCN Category 1 preferred regardless of cisplatin eligibility or PD-L1 status. No companion diagnostic needed. Dose modification guidelines are well-established.</a:t>
            </a:r>
            <a:endParaRPr lang="en-US" sz="1000" dirty="0"/>
          </a:p>
        </p:txBody>
      </p:sp>
      <p:sp>
        <p:nvSpPr>
          <p:cNvPr id="12" name="Shape 10"/>
          <p:cNvSpPr/>
          <p:nvPr/>
        </p:nvSpPr>
        <p:spPr>
          <a:xfrm>
            <a:off x="457200" y="3072384"/>
            <a:ext cx="5029200" cy="713232"/>
          </a:xfrm>
          <a:prstGeom prst="rect">
            <a:avLst/>
          </a:prstGeom>
          <a:solidFill>
            <a:srgbClr val="F8FAFC"/>
          </a:solidFill>
          <a:ln w="6350">
            <a:solidFill>
              <a:srgbClr val="E2E8F0"/>
            </a:solidFill>
            <a:prstDash val="solid"/>
          </a:ln>
        </p:spPr>
        <p:txBody>
          <a:bodyPr/>
          <a:lstStyle/>
          <a:p>
            <a:endParaRPr lang="en-IN"/>
          </a:p>
        </p:txBody>
      </p:sp>
      <p:sp>
        <p:nvSpPr>
          <p:cNvPr id="13" name="Shape 11"/>
          <p:cNvSpPr/>
          <p:nvPr/>
        </p:nvSpPr>
        <p:spPr>
          <a:xfrm>
            <a:off x="457200" y="3072384"/>
            <a:ext cx="54864" cy="713232"/>
          </a:xfrm>
          <a:prstGeom prst="rect">
            <a:avLst/>
          </a:prstGeom>
          <a:solidFill>
            <a:srgbClr val="B45309"/>
          </a:solidFill>
          <a:ln w="12700">
            <a:solidFill>
              <a:srgbClr val="B45309"/>
            </a:solidFill>
            <a:prstDash val="solid"/>
          </a:ln>
        </p:spPr>
        <p:txBody>
          <a:bodyPr/>
          <a:lstStyle/>
          <a:p>
            <a:endParaRPr lang="en-IN"/>
          </a:p>
        </p:txBody>
      </p:sp>
      <p:sp>
        <p:nvSpPr>
          <p:cNvPr id="14" name="Text 12"/>
          <p:cNvSpPr/>
          <p:nvPr/>
        </p:nvSpPr>
        <p:spPr>
          <a:xfrm>
            <a:off x="658368" y="3163824"/>
            <a:ext cx="4389120" cy="182880"/>
          </a:xfrm>
          <a:prstGeom prst="rect">
            <a:avLst/>
          </a:prstGeom>
          <a:noFill/>
          <a:ln/>
        </p:spPr>
        <p:txBody>
          <a:bodyPr wrap="square" lIns="0" tIns="0" rIns="0" bIns="0" rtlCol="0" anchor="ctr"/>
          <a:lstStyle/>
          <a:p>
            <a:pPr marL="0" indent="0">
              <a:buNone/>
            </a:pPr>
            <a:r>
              <a:rPr lang="en-US" sz="800" b="1" kern="0" spc="150" dirty="0">
                <a:solidFill>
                  <a:srgbClr val="B45309"/>
                </a:solidFill>
                <a:latin typeface="Calibri" pitchFamily="34" charset="0"/>
                <a:ea typeface="Calibri" pitchFamily="34" charset="-122"/>
                <a:cs typeface="Calibri" pitchFamily="34" charset="-120"/>
              </a:rPr>
              <a:t>PAYER / P&amp;T COMMITTEE</a:t>
            </a:r>
            <a:endParaRPr lang="en-US" sz="800" dirty="0"/>
          </a:p>
        </p:txBody>
      </p:sp>
      <p:sp>
        <p:nvSpPr>
          <p:cNvPr id="15" name="Text 13"/>
          <p:cNvSpPr/>
          <p:nvPr/>
        </p:nvSpPr>
        <p:spPr>
          <a:xfrm>
            <a:off x="658368" y="3364992"/>
            <a:ext cx="4389120" cy="365760"/>
          </a:xfrm>
          <a:prstGeom prst="rect">
            <a:avLst/>
          </a:prstGeom>
          <a:noFill/>
          <a:ln/>
        </p:spPr>
        <p:txBody>
          <a:bodyPr wrap="square" lIns="0" tIns="0" rIns="0" bIns="0" rtlCol="0" anchor="ctr"/>
          <a:lstStyle/>
          <a:p>
            <a:pPr marL="0" indent="0">
              <a:buNone/>
            </a:pPr>
            <a:r>
              <a:rPr lang="en-US" sz="1000" dirty="0">
                <a:solidFill>
                  <a:srgbClr val="1E3A5F"/>
                </a:solidFill>
                <a:latin typeface="Calibri" pitchFamily="34" charset="0"/>
                <a:ea typeface="Calibri" pitchFamily="34" charset="-122"/>
                <a:cs typeface="Calibri" pitchFamily="34" charset="-120"/>
              </a:rPr>
              <a:t>EV-302 demonstrated one of the largest OS improvements ever seen in 1L solid tumor phase 3. At 29.1% CR, a proportion of patients may have substantially reduced long-term treatment costs.</a:t>
            </a:r>
            <a:endParaRPr lang="en-US" sz="1000" dirty="0"/>
          </a:p>
        </p:txBody>
      </p:sp>
      <p:sp>
        <p:nvSpPr>
          <p:cNvPr id="16" name="Shape 14"/>
          <p:cNvSpPr/>
          <p:nvPr/>
        </p:nvSpPr>
        <p:spPr>
          <a:xfrm>
            <a:off x="5669280" y="1389888"/>
            <a:ext cx="3063240" cy="3429000"/>
          </a:xfrm>
          <a:prstGeom prst="rect">
            <a:avLst/>
          </a:prstGeom>
          <a:solidFill>
            <a:srgbClr val="FEE2E2"/>
          </a:solidFill>
          <a:ln w="6350">
            <a:solidFill>
              <a:srgbClr val="E2E8F0"/>
            </a:solidFill>
            <a:prstDash val="solid"/>
          </a:ln>
        </p:spPr>
        <p:txBody>
          <a:bodyPr/>
          <a:lstStyle/>
          <a:p>
            <a:endParaRPr lang="en-IN"/>
          </a:p>
        </p:txBody>
      </p:sp>
      <p:sp>
        <p:nvSpPr>
          <p:cNvPr id="17" name="Shape 15"/>
          <p:cNvSpPr/>
          <p:nvPr/>
        </p:nvSpPr>
        <p:spPr>
          <a:xfrm>
            <a:off x="5669280" y="1389888"/>
            <a:ext cx="54864" cy="3429000"/>
          </a:xfrm>
          <a:prstGeom prst="rect">
            <a:avLst/>
          </a:prstGeom>
          <a:solidFill>
            <a:srgbClr val="B91C1C"/>
          </a:solidFill>
          <a:ln w="12700">
            <a:solidFill>
              <a:srgbClr val="B91C1C"/>
            </a:solidFill>
            <a:prstDash val="solid"/>
          </a:ln>
        </p:spPr>
        <p:txBody>
          <a:bodyPr/>
          <a:lstStyle/>
          <a:p>
            <a:endParaRPr lang="en-IN"/>
          </a:p>
        </p:txBody>
      </p:sp>
      <p:sp>
        <p:nvSpPr>
          <p:cNvPr id="18" name="Text 16"/>
          <p:cNvSpPr/>
          <p:nvPr/>
        </p:nvSpPr>
        <p:spPr>
          <a:xfrm>
            <a:off x="5870448" y="1508760"/>
            <a:ext cx="2651760" cy="201168"/>
          </a:xfrm>
          <a:prstGeom prst="rect">
            <a:avLst/>
          </a:prstGeom>
          <a:noFill/>
          <a:ln/>
        </p:spPr>
        <p:txBody>
          <a:bodyPr wrap="square" lIns="0" tIns="0" rIns="0" bIns="0" rtlCol="0" anchor="ctr"/>
          <a:lstStyle/>
          <a:p>
            <a:pPr marL="0" indent="0">
              <a:buNone/>
            </a:pPr>
            <a:r>
              <a:rPr lang="en-US" sz="850" b="1" kern="0" spc="150" dirty="0">
                <a:solidFill>
                  <a:srgbClr val="B91C1C"/>
                </a:solidFill>
                <a:latin typeface="Calibri" pitchFamily="34" charset="0"/>
                <a:ea typeface="Calibri" pitchFamily="34" charset="-122"/>
                <a:cs typeface="Calibri" pitchFamily="34" charset="-120"/>
              </a:rPr>
              <a:t>DO NOT SAY (MLR Guardrails)</a:t>
            </a:r>
            <a:endParaRPr lang="en-US" sz="850" dirty="0"/>
          </a:p>
        </p:txBody>
      </p:sp>
      <p:sp>
        <p:nvSpPr>
          <p:cNvPr id="19" name="Shape 17"/>
          <p:cNvSpPr/>
          <p:nvPr/>
        </p:nvSpPr>
        <p:spPr>
          <a:xfrm>
            <a:off x="5870448" y="1828800"/>
            <a:ext cx="2651760" cy="640080"/>
          </a:xfrm>
          <a:prstGeom prst="rect">
            <a:avLst/>
          </a:prstGeom>
          <a:solidFill>
            <a:srgbClr val="FFF5F5"/>
          </a:solidFill>
          <a:ln w="12700">
            <a:solidFill>
              <a:srgbClr val="FFF5F5"/>
            </a:solidFill>
            <a:prstDash val="solid"/>
          </a:ln>
        </p:spPr>
        <p:txBody>
          <a:bodyPr/>
          <a:lstStyle/>
          <a:p>
            <a:endParaRPr lang="en-IN"/>
          </a:p>
        </p:txBody>
      </p:sp>
      <p:sp>
        <p:nvSpPr>
          <p:cNvPr id="20" name="Text 18"/>
          <p:cNvSpPr/>
          <p:nvPr/>
        </p:nvSpPr>
        <p:spPr>
          <a:xfrm>
            <a:off x="5961888" y="1901952"/>
            <a:ext cx="2468880" cy="256032"/>
          </a:xfrm>
          <a:prstGeom prst="rect">
            <a:avLst/>
          </a:prstGeom>
          <a:noFill/>
          <a:ln/>
        </p:spPr>
        <p:txBody>
          <a:bodyPr wrap="square" lIns="0" tIns="0" rIns="0" bIns="0"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Do not say: "Padcev is better than Keytruda"</a:t>
            </a:r>
            <a:endParaRPr lang="en-US" sz="950" dirty="0"/>
          </a:p>
        </p:txBody>
      </p:sp>
      <p:sp>
        <p:nvSpPr>
          <p:cNvPr id="21" name="Text 19"/>
          <p:cNvSpPr/>
          <p:nvPr/>
        </p:nvSpPr>
        <p:spPr>
          <a:xfrm>
            <a:off x="5961888" y="2176272"/>
            <a:ext cx="246888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No head-to-head RCT exists — impermissible comparative claim</a:t>
            </a:r>
            <a:endParaRPr lang="en-US" sz="900" dirty="0"/>
          </a:p>
        </p:txBody>
      </p:sp>
      <p:sp>
        <p:nvSpPr>
          <p:cNvPr id="22" name="Shape 20"/>
          <p:cNvSpPr/>
          <p:nvPr/>
        </p:nvSpPr>
        <p:spPr>
          <a:xfrm>
            <a:off x="5870448" y="2578608"/>
            <a:ext cx="2651760" cy="640080"/>
          </a:xfrm>
          <a:prstGeom prst="rect">
            <a:avLst/>
          </a:prstGeom>
          <a:solidFill>
            <a:srgbClr val="FFF5F5"/>
          </a:solidFill>
          <a:ln w="12700">
            <a:solidFill>
              <a:srgbClr val="FFF5F5"/>
            </a:solidFill>
            <a:prstDash val="solid"/>
          </a:ln>
        </p:spPr>
        <p:txBody>
          <a:bodyPr/>
          <a:lstStyle/>
          <a:p>
            <a:endParaRPr lang="en-IN"/>
          </a:p>
        </p:txBody>
      </p:sp>
      <p:sp>
        <p:nvSpPr>
          <p:cNvPr id="23" name="Text 21"/>
          <p:cNvSpPr/>
          <p:nvPr/>
        </p:nvSpPr>
        <p:spPr>
          <a:xfrm>
            <a:off x="5961888" y="2651760"/>
            <a:ext cx="2468880" cy="256032"/>
          </a:xfrm>
          <a:prstGeom prst="rect">
            <a:avLst/>
          </a:prstGeom>
          <a:noFill/>
          <a:ln/>
        </p:spPr>
        <p:txBody>
          <a:bodyPr wrap="square" lIns="0" tIns="0" rIns="0" bIns="0"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Do not say: "Padcev cures bladder cancer"</a:t>
            </a:r>
            <a:endParaRPr lang="en-US" sz="950" dirty="0"/>
          </a:p>
        </p:txBody>
      </p:sp>
      <p:sp>
        <p:nvSpPr>
          <p:cNvPr id="24" name="Text 22"/>
          <p:cNvSpPr/>
          <p:nvPr/>
        </p:nvSpPr>
        <p:spPr>
          <a:xfrm>
            <a:off x="5961888" y="2926080"/>
            <a:ext cx="246888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CR data is not the same as cure — outside the label</a:t>
            </a:r>
            <a:endParaRPr lang="en-US" sz="900" dirty="0"/>
          </a:p>
        </p:txBody>
      </p:sp>
      <p:sp>
        <p:nvSpPr>
          <p:cNvPr id="25" name="Shape 23"/>
          <p:cNvSpPr/>
          <p:nvPr/>
        </p:nvSpPr>
        <p:spPr>
          <a:xfrm>
            <a:off x="5870448" y="3328416"/>
            <a:ext cx="2651760" cy="640080"/>
          </a:xfrm>
          <a:prstGeom prst="rect">
            <a:avLst/>
          </a:prstGeom>
          <a:solidFill>
            <a:srgbClr val="FFF5F5"/>
          </a:solidFill>
          <a:ln w="12700">
            <a:solidFill>
              <a:srgbClr val="FFF5F5"/>
            </a:solidFill>
            <a:prstDash val="solid"/>
          </a:ln>
        </p:spPr>
        <p:txBody>
          <a:bodyPr/>
          <a:lstStyle/>
          <a:p>
            <a:endParaRPr lang="en-IN"/>
          </a:p>
        </p:txBody>
      </p:sp>
      <p:sp>
        <p:nvSpPr>
          <p:cNvPr id="26" name="Text 24"/>
          <p:cNvSpPr/>
          <p:nvPr/>
        </p:nvSpPr>
        <p:spPr>
          <a:xfrm>
            <a:off x="5961888" y="3401568"/>
            <a:ext cx="2468880" cy="256032"/>
          </a:xfrm>
          <a:prstGeom prst="rect">
            <a:avLst/>
          </a:prstGeom>
          <a:noFill/>
          <a:ln/>
        </p:spPr>
        <p:txBody>
          <a:bodyPr wrap="square" lIns="0" tIns="0" rIns="0" bIns="0"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Do not say: "Padcev is safe"</a:t>
            </a:r>
            <a:endParaRPr lang="en-US" sz="950" dirty="0"/>
          </a:p>
        </p:txBody>
      </p:sp>
      <p:sp>
        <p:nvSpPr>
          <p:cNvPr id="27" name="Text 25"/>
          <p:cNvSpPr/>
          <p:nvPr/>
        </p:nvSpPr>
        <p:spPr>
          <a:xfrm>
            <a:off x="5961888" y="3675888"/>
            <a:ext cx="246888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No drug is safe. Use: 'manageable safety profile consistent with established profiles'</a:t>
            </a:r>
            <a:endParaRPr lang="en-US" sz="900" dirty="0"/>
          </a:p>
        </p:txBody>
      </p:sp>
      <p:sp>
        <p:nvSpPr>
          <p:cNvPr id="28" name="Shape 26"/>
          <p:cNvSpPr/>
          <p:nvPr/>
        </p:nvSpPr>
        <p:spPr>
          <a:xfrm>
            <a:off x="5870448" y="4078224"/>
            <a:ext cx="2651760" cy="640080"/>
          </a:xfrm>
          <a:prstGeom prst="rect">
            <a:avLst/>
          </a:prstGeom>
          <a:solidFill>
            <a:srgbClr val="FFF5F5"/>
          </a:solidFill>
          <a:ln w="12700">
            <a:solidFill>
              <a:srgbClr val="FFF5F5"/>
            </a:solidFill>
            <a:prstDash val="solid"/>
          </a:ln>
        </p:spPr>
        <p:txBody>
          <a:bodyPr/>
          <a:lstStyle/>
          <a:p>
            <a:endParaRPr lang="en-IN"/>
          </a:p>
        </p:txBody>
      </p:sp>
      <p:sp>
        <p:nvSpPr>
          <p:cNvPr id="29" name="Text 27"/>
          <p:cNvSpPr/>
          <p:nvPr/>
        </p:nvSpPr>
        <p:spPr>
          <a:xfrm>
            <a:off x="5961888" y="4151376"/>
            <a:ext cx="2468880" cy="256032"/>
          </a:xfrm>
          <a:prstGeom prst="rect">
            <a:avLst/>
          </a:prstGeom>
          <a:noFill/>
          <a:ln/>
        </p:spPr>
        <p:txBody>
          <a:bodyPr wrap="square" lIns="0" tIns="0" rIns="0" bIns="0"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Do not say: "Every patient should receive Padcev"</a:t>
            </a:r>
            <a:endParaRPr lang="en-US" sz="950" dirty="0"/>
          </a:p>
        </p:txBody>
      </p:sp>
      <p:sp>
        <p:nvSpPr>
          <p:cNvPr id="30" name="Text 28"/>
          <p:cNvSpPr/>
          <p:nvPr/>
        </p:nvSpPr>
        <p:spPr>
          <a:xfrm>
            <a:off x="5961888" y="4425696"/>
            <a:ext cx="246888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Absolute statements are out of compliance — contraindications exist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DD3F0"/>
          </a:solidFill>
          <a:ln w="12700">
            <a:solidFill>
              <a:srgbClr val="7DD3F0"/>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082040"/>
                </a:solidFill>
                <a:latin typeface="Georgia" pitchFamily="34" charset="0"/>
                <a:ea typeface="Georgia" pitchFamily="34" charset="-122"/>
                <a:cs typeface="Georgia" pitchFamily="34" charset="-120"/>
              </a:rPr>
              <a:t>05</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Patient</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Journey</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7DD3F0"/>
                </a:solidFill>
                <a:latin typeface="Calibri" pitchFamily="34" charset="0"/>
                <a:ea typeface="Calibri" pitchFamily="34" charset="-122"/>
                <a:cs typeface="Calibri" pitchFamily="34" charset="-120"/>
              </a:rPr>
              <a:t>5 Stages from Symptom to Treatment  |  Pfizer Intervention Points  |  Caregiver Lens  |  Digital</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05 / PATIENT JOURNEY</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Five Stages from First Symptom to Long-Term Treatment</a:t>
            </a:r>
            <a:endParaRPr lang="en-US" sz="2300" dirty="0"/>
          </a:p>
        </p:txBody>
      </p:sp>
      <p:sp>
        <p:nvSpPr>
          <p:cNvPr id="4" name="Text 2"/>
          <p:cNvSpPr/>
          <p:nvPr/>
        </p:nvSpPr>
        <p:spPr>
          <a:xfrm>
            <a:off x="502920" y="1389888"/>
            <a:ext cx="822960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Bladder cancer has a characteristic early symptom: painless, intermittent hematuria. Average delay from first symptom to evaluation: 3-6 months. Getting to the right treatment requires traversing five distinct stages, each with specific barriers.</a:t>
            </a:r>
            <a:endParaRPr lang="en-US" sz="1100" dirty="0"/>
          </a:p>
        </p:txBody>
      </p:sp>
      <p:sp>
        <p:nvSpPr>
          <p:cNvPr id="5" name="Shape 3"/>
          <p:cNvSpPr/>
          <p:nvPr/>
        </p:nvSpPr>
        <p:spPr>
          <a:xfrm>
            <a:off x="502920" y="2395728"/>
            <a:ext cx="8138160" cy="27432"/>
          </a:xfrm>
          <a:prstGeom prst="rect">
            <a:avLst/>
          </a:prstGeom>
          <a:solidFill>
            <a:srgbClr val="CBD5E1"/>
          </a:solidFill>
          <a:ln w="12700">
            <a:solidFill>
              <a:srgbClr val="CBD5E1"/>
            </a:solidFill>
            <a:prstDash val="solid"/>
          </a:ln>
        </p:spPr>
        <p:txBody>
          <a:bodyPr/>
          <a:lstStyle/>
          <a:p>
            <a:endParaRPr lang="en-IN"/>
          </a:p>
        </p:txBody>
      </p:sp>
      <p:sp>
        <p:nvSpPr>
          <p:cNvPr id="6" name="Shape 4"/>
          <p:cNvSpPr/>
          <p:nvPr/>
        </p:nvSpPr>
        <p:spPr>
          <a:xfrm>
            <a:off x="484632" y="2304288"/>
            <a:ext cx="219456" cy="219456"/>
          </a:xfrm>
          <a:prstGeom prst="ellipse">
            <a:avLst/>
          </a:prstGeom>
          <a:solidFill>
            <a:srgbClr val="CBD5E1"/>
          </a:solidFill>
          <a:ln w="12700">
            <a:solidFill>
              <a:srgbClr val="CBD5E1"/>
            </a:solidFill>
            <a:prstDash val="solid"/>
          </a:ln>
        </p:spPr>
        <p:txBody>
          <a:bodyPr/>
          <a:lstStyle/>
          <a:p>
            <a:endParaRPr lang="en-IN"/>
          </a:p>
        </p:txBody>
      </p:sp>
      <p:sp>
        <p:nvSpPr>
          <p:cNvPr id="7" name="Text 5"/>
          <p:cNvSpPr/>
          <p:nvPr/>
        </p:nvSpPr>
        <p:spPr>
          <a:xfrm>
            <a:off x="91440" y="1920240"/>
            <a:ext cx="1188720" cy="384048"/>
          </a:xfrm>
          <a:prstGeom prst="rect">
            <a:avLst/>
          </a:prstGeom>
          <a:noFill/>
          <a:ln/>
        </p:spPr>
        <p:txBody>
          <a:bodyPr wrap="square" lIns="0" tIns="0" rIns="0" bIns="0" rtlCol="0" anchor="ctr"/>
          <a:lstStyle/>
          <a:p>
            <a:pPr marL="0" indent="0" algn="ctr">
              <a:buNone/>
            </a:pPr>
            <a:r>
              <a:rPr lang="en-US" sz="850" b="1" dirty="0">
                <a:solidFill>
                  <a:srgbClr val="94A3B8"/>
                </a:solidFill>
                <a:latin typeface="Calibri" pitchFamily="34" charset="0"/>
                <a:ea typeface="Calibri" pitchFamily="34" charset="-122"/>
                <a:cs typeface="Calibri" pitchFamily="34" charset="-120"/>
              </a:rPr>
              <a:t>01</a:t>
            </a:r>
            <a:endParaRPr lang="en-US" sz="850" dirty="0"/>
          </a:p>
          <a:p>
            <a:pPr marL="0" indent="0" algn="ctr">
              <a:buNone/>
            </a:pPr>
            <a:r>
              <a:rPr lang="en-US" sz="850" b="1" dirty="0">
                <a:solidFill>
                  <a:srgbClr val="94A3B8"/>
                </a:solidFill>
                <a:latin typeface="Calibri" pitchFamily="34" charset="0"/>
                <a:ea typeface="Calibri" pitchFamily="34" charset="-122"/>
                <a:cs typeface="Calibri" pitchFamily="34" charset="-120"/>
              </a:rPr>
              <a:t>SYMPTOM</a:t>
            </a:r>
            <a:endParaRPr lang="en-US" sz="850" dirty="0"/>
          </a:p>
        </p:txBody>
      </p:sp>
      <p:sp>
        <p:nvSpPr>
          <p:cNvPr id="8" name="Text 6"/>
          <p:cNvSpPr/>
          <p:nvPr/>
        </p:nvSpPr>
        <p:spPr>
          <a:xfrm>
            <a:off x="0" y="2651760"/>
            <a:ext cx="1371600" cy="1508760"/>
          </a:xfrm>
          <a:prstGeom prst="rect">
            <a:avLst/>
          </a:prstGeom>
          <a:noFill/>
          <a:ln/>
        </p:spPr>
        <p:txBody>
          <a:bodyPr wrap="square" lIns="0" tIns="0" rIns="0" bIns="0"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Blood in urine. Avg 3-6 month delay before evaluation. Intermittent, painless — easy to dismiss.</a:t>
            </a:r>
            <a:endParaRPr lang="en-US" sz="1000" dirty="0"/>
          </a:p>
        </p:txBody>
      </p:sp>
      <p:sp>
        <p:nvSpPr>
          <p:cNvPr id="9" name="Shape 7"/>
          <p:cNvSpPr/>
          <p:nvPr/>
        </p:nvSpPr>
        <p:spPr>
          <a:xfrm>
            <a:off x="2130552" y="2304288"/>
            <a:ext cx="219456" cy="219456"/>
          </a:xfrm>
          <a:prstGeom prst="ellipse">
            <a:avLst/>
          </a:prstGeom>
          <a:solidFill>
            <a:srgbClr val="CBD5E1"/>
          </a:solidFill>
          <a:ln w="12700">
            <a:solidFill>
              <a:srgbClr val="CBD5E1"/>
            </a:solidFill>
            <a:prstDash val="solid"/>
          </a:ln>
        </p:spPr>
        <p:txBody>
          <a:bodyPr/>
          <a:lstStyle/>
          <a:p>
            <a:endParaRPr lang="en-IN"/>
          </a:p>
        </p:txBody>
      </p:sp>
      <p:sp>
        <p:nvSpPr>
          <p:cNvPr id="10" name="Text 8"/>
          <p:cNvSpPr/>
          <p:nvPr/>
        </p:nvSpPr>
        <p:spPr>
          <a:xfrm>
            <a:off x="1737360" y="1920240"/>
            <a:ext cx="1188720" cy="384048"/>
          </a:xfrm>
          <a:prstGeom prst="rect">
            <a:avLst/>
          </a:prstGeom>
          <a:noFill/>
          <a:ln/>
        </p:spPr>
        <p:txBody>
          <a:bodyPr wrap="square" lIns="0" tIns="0" rIns="0" bIns="0" rtlCol="0" anchor="ctr"/>
          <a:lstStyle/>
          <a:p>
            <a:pPr marL="0" indent="0" algn="ctr">
              <a:buNone/>
            </a:pPr>
            <a:r>
              <a:rPr lang="en-US" sz="850" b="1" dirty="0">
                <a:solidFill>
                  <a:srgbClr val="B45309"/>
                </a:solidFill>
                <a:latin typeface="Calibri" pitchFamily="34" charset="0"/>
                <a:ea typeface="Calibri" pitchFamily="34" charset="-122"/>
                <a:cs typeface="Calibri" pitchFamily="34" charset="-120"/>
              </a:rPr>
              <a:t>02</a:t>
            </a:r>
            <a:endParaRPr lang="en-US" sz="850" dirty="0"/>
          </a:p>
          <a:p>
            <a:pPr marL="0" indent="0" algn="ctr">
              <a:buNone/>
            </a:pPr>
            <a:r>
              <a:rPr lang="en-US" sz="850" b="1" dirty="0">
                <a:solidFill>
                  <a:srgbClr val="B45309"/>
                </a:solidFill>
                <a:latin typeface="Calibri" pitchFamily="34" charset="0"/>
                <a:ea typeface="Calibri" pitchFamily="34" charset="-122"/>
                <a:cs typeface="Calibri" pitchFamily="34" charset="-120"/>
              </a:rPr>
              <a:t>UROLOGY</a:t>
            </a:r>
            <a:endParaRPr lang="en-US" sz="850" dirty="0"/>
          </a:p>
        </p:txBody>
      </p:sp>
      <p:sp>
        <p:nvSpPr>
          <p:cNvPr id="11" name="Text 9"/>
          <p:cNvSpPr/>
          <p:nvPr/>
        </p:nvSpPr>
        <p:spPr>
          <a:xfrm>
            <a:off x="1645920" y="2651760"/>
            <a:ext cx="1371600" cy="1508760"/>
          </a:xfrm>
          <a:prstGeom prst="rect">
            <a:avLst/>
          </a:prstGeom>
          <a:noFill/>
          <a:ln/>
        </p:spPr>
        <p:txBody>
          <a:bodyPr wrap="square" lIns="0" tIns="0" rIns="0" bIns="0"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Cystoscopy, TURBT, staging. Referral to oncology for la/mUC. Can take days to weeks.</a:t>
            </a:r>
            <a:endParaRPr lang="en-US" sz="1000" dirty="0"/>
          </a:p>
        </p:txBody>
      </p:sp>
      <p:sp>
        <p:nvSpPr>
          <p:cNvPr id="12" name="Shape 10"/>
          <p:cNvSpPr/>
          <p:nvPr/>
        </p:nvSpPr>
        <p:spPr>
          <a:xfrm>
            <a:off x="3776472" y="2304288"/>
            <a:ext cx="219456" cy="219456"/>
          </a:xfrm>
          <a:prstGeom prst="ellipse">
            <a:avLst/>
          </a:prstGeom>
          <a:solidFill>
            <a:srgbClr val="006BA6"/>
          </a:solidFill>
          <a:ln w="12700">
            <a:solidFill>
              <a:srgbClr val="006BA6"/>
            </a:solidFill>
            <a:prstDash val="solid"/>
          </a:ln>
        </p:spPr>
        <p:txBody>
          <a:bodyPr/>
          <a:lstStyle/>
          <a:p>
            <a:endParaRPr lang="en-IN"/>
          </a:p>
        </p:txBody>
      </p:sp>
      <p:sp>
        <p:nvSpPr>
          <p:cNvPr id="13" name="Text 11"/>
          <p:cNvSpPr/>
          <p:nvPr/>
        </p:nvSpPr>
        <p:spPr>
          <a:xfrm>
            <a:off x="3383280" y="1920240"/>
            <a:ext cx="1188720" cy="384048"/>
          </a:xfrm>
          <a:prstGeom prst="rect">
            <a:avLst/>
          </a:prstGeom>
          <a:noFill/>
          <a:ln/>
        </p:spPr>
        <p:txBody>
          <a:bodyPr wrap="square" lIns="0" tIns="0" rIns="0" bIns="0" rtlCol="0" anchor="ctr"/>
          <a:lstStyle/>
          <a:p>
            <a:pPr marL="0" indent="0" algn="ctr">
              <a:buNone/>
            </a:pPr>
            <a:r>
              <a:rPr lang="en-US" sz="850" b="1" dirty="0">
                <a:solidFill>
                  <a:srgbClr val="006BA6"/>
                </a:solidFill>
                <a:latin typeface="Calibri" pitchFamily="34" charset="0"/>
                <a:ea typeface="Calibri" pitchFamily="34" charset="-122"/>
                <a:cs typeface="Calibri" pitchFamily="34" charset="-120"/>
              </a:rPr>
              <a:t>03</a:t>
            </a:r>
            <a:endParaRPr lang="en-US" sz="850" dirty="0"/>
          </a:p>
          <a:p>
            <a:pPr marL="0" indent="0" algn="ctr">
              <a:buNone/>
            </a:pPr>
            <a:r>
              <a:rPr lang="en-US" sz="850" b="1" dirty="0">
                <a:solidFill>
                  <a:srgbClr val="006BA6"/>
                </a:solidFill>
                <a:latin typeface="Calibri" pitchFamily="34" charset="0"/>
                <a:ea typeface="Calibri" pitchFamily="34" charset="-122"/>
                <a:cs typeface="Calibri" pitchFamily="34" charset="-120"/>
              </a:rPr>
              <a:t>ONCOLOGY</a:t>
            </a:r>
            <a:endParaRPr lang="en-US" sz="850" dirty="0"/>
          </a:p>
        </p:txBody>
      </p:sp>
      <p:sp>
        <p:nvSpPr>
          <p:cNvPr id="14" name="Text 12"/>
          <p:cNvSpPr/>
          <p:nvPr/>
        </p:nvSpPr>
        <p:spPr>
          <a:xfrm>
            <a:off x="3291840" y="2651760"/>
            <a:ext cx="1371600" cy="1508760"/>
          </a:xfrm>
          <a:prstGeom prst="rect">
            <a:avLst/>
          </a:prstGeom>
          <a:noFill/>
          <a:ln/>
        </p:spPr>
        <p:txBody>
          <a:bodyPr wrap="square" lIns="0" tIns="0" rIns="0" bIns="0"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First appointment. Cisplatin eligibility assessed. No biomarker testing required for Padcev.</a:t>
            </a:r>
            <a:endParaRPr lang="en-US" sz="1000" dirty="0"/>
          </a:p>
        </p:txBody>
      </p:sp>
      <p:sp>
        <p:nvSpPr>
          <p:cNvPr id="15" name="Shape 13"/>
          <p:cNvSpPr/>
          <p:nvPr/>
        </p:nvSpPr>
        <p:spPr>
          <a:xfrm>
            <a:off x="5422392" y="2304288"/>
            <a:ext cx="219456" cy="219456"/>
          </a:xfrm>
          <a:prstGeom prst="ellipse">
            <a:avLst/>
          </a:prstGeom>
          <a:solidFill>
            <a:srgbClr val="B91C1C"/>
          </a:solidFill>
          <a:ln w="12700">
            <a:solidFill>
              <a:srgbClr val="B91C1C"/>
            </a:solidFill>
            <a:prstDash val="solid"/>
          </a:ln>
        </p:spPr>
        <p:txBody>
          <a:bodyPr/>
          <a:lstStyle/>
          <a:p>
            <a:endParaRPr lang="en-IN"/>
          </a:p>
        </p:txBody>
      </p:sp>
      <p:sp>
        <p:nvSpPr>
          <p:cNvPr id="16" name="Text 14"/>
          <p:cNvSpPr/>
          <p:nvPr/>
        </p:nvSpPr>
        <p:spPr>
          <a:xfrm>
            <a:off x="5029200" y="1920240"/>
            <a:ext cx="1188720" cy="384048"/>
          </a:xfrm>
          <a:prstGeom prst="rect">
            <a:avLst/>
          </a:prstGeom>
          <a:noFill/>
          <a:ln/>
        </p:spPr>
        <p:txBody>
          <a:bodyPr wrap="square" lIns="0" tIns="0" rIns="0" bIns="0" rtlCol="0" anchor="ctr"/>
          <a:lstStyle/>
          <a:p>
            <a:pPr marL="0" indent="0" algn="ctr">
              <a:buNone/>
            </a:pPr>
            <a:r>
              <a:rPr lang="en-US" sz="850" b="1" dirty="0">
                <a:solidFill>
                  <a:srgbClr val="B91C1C"/>
                </a:solidFill>
                <a:latin typeface="Calibri" pitchFamily="34" charset="0"/>
                <a:ea typeface="Calibri" pitchFamily="34" charset="-122"/>
                <a:cs typeface="Calibri" pitchFamily="34" charset="-120"/>
              </a:rPr>
              <a:t>04</a:t>
            </a:r>
            <a:endParaRPr lang="en-US" sz="850" dirty="0"/>
          </a:p>
          <a:p>
            <a:pPr marL="0" indent="0" algn="ctr">
              <a:buNone/>
            </a:pPr>
            <a:r>
              <a:rPr lang="en-US" sz="850" b="1" dirty="0">
                <a:solidFill>
                  <a:srgbClr val="B91C1C"/>
                </a:solidFill>
                <a:latin typeface="Calibri" pitchFamily="34" charset="0"/>
                <a:ea typeface="Calibri" pitchFamily="34" charset="-122"/>
                <a:cs typeface="Calibri" pitchFamily="34" charset="-120"/>
              </a:rPr>
              <a:t>INSURANCE</a:t>
            </a:r>
            <a:endParaRPr lang="en-US" sz="850" dirty="0"/>
          </a:p>
        </p:txBody>
      </p:sp>
      <p:sp>
        <p:nvSpPr>
          <p:cNvPr id="17" name="Text 15"/>
          <p:cNvSpPr/>
          <p:nvPr/>
        </p:nvSpPr>
        <p:spPr>
          <a:xfrm>
            <a:off x="4937760" y="2651760"/>
            <a:ext cx="1371600" cy="1508760"/>
          </a:xfrm>
          <a:prstGeom prst="rect">
            <a:avLst/>
          </a:prstGeom>
          <a:noFill/>
          <a:ln/>
        </p:spPr>
        <p:txBody>
          <a:bodyPr wrap="square" lIns="0" tIns="0" rIns="0" bIns="0"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Prior authorization. 3-21 day delay. CRITICAL access point where patients fall through gaps.</a:t>
            </a:r>
            <a:endParaRPr lang="en-US" sz="1000" dirty="0"/>
          </a:p>
        </p:txBody>
      </p:sp>
      <p:sp>
        <p:nvSpPr>
          <p:cNvPr id="18" name="Shape 16"/>
          <p:cNvSpPr/>
          <p:nvPr/>
        </p:nvSpPr>
        <p:spPr>
          <a:xfrm>
            <a:off x="7068312" y="2304288"/>
            <a:ext cx="219456" cy="219456"/>
          </a:xfrm>
          <a:prstGeom prst="ellipse">
            <a:avLst/>
          </a:prstGeom>
          <a:solidFill>
            <a:srgbClr val="1A7A4A"/>
          </a:solidFill>
          <a:ln w="12700">
            <a:solidFill>
              <a:srgbClr val="1A7A4A"/>
            </a:solidFill>
            <a:prstDash val="solid"/>
          </a:ln>
        </p:spPr>
        <p:txBody>
          <a:bodyPr/>
          <a:lstStyle/>
          <a:p>
            <a:endParaRPr lang="en-IN"/>
          </a:p>
        </p:txBody>
      </p:sp>
      <p:sp>
        <p:nvSpPr>
          <p:cNvPr id="19" name="Text 17"/>
          <p:cNvSpPr/>
          <p:nvPr/>
        </p:nvSpPr>
        <p:spPr>
          <a:xfrm>
            <a:off x="6675120" y="1920240"/>
            <a:ext cx="1188720" cy="384048"/>
          </a:xfrm>
          <a:prstGeom prst="rect">
            <a:avLst/>
          </a:prstGeom>
          <a:noFill/>
          <a:ln/>
        </p:spPr>
        <p:txBody>
          <a:bodyPr wrap="square" lIns="0" tIns="0" rIns="0" bIns="0" rtlCol="0" anchor="ctr"/>
          <a:lstStyle/>
          <a:p>
            <a:pPr marL="0" indent="0" algn="ctr">
              <a:buNone/>
            </a:pPr>
            <a:r>
              <a:rPr lang="en-US" sz="850" b="1" dirty="0">
                <a:solidFill>
                  <a:srgbClr val="1A7A4A"/>
                </a:solidFill>
                <a:latin typeface="Calibri" pitchFamily="34" charset="0"/>
                <a:ea typeface="Calibri" pitchFamily="34" charset="-122"/>
                <a:cs typeface="Calibri" pitchFamily="34" charset="-120"/>
              </a:rPr>
              <a:t>05</a:t>
            </a:r>
            <a:endParaRPr lang="en-US" sz="850" dirty="0"/>
          </a:p>
          <a:p>
            <a:pPr marL="0" indent="0" algn="ctr">
              <a:buNone/>
            </a:pPr>
            <a:r>
              <a:rPr lang="en-US" sz="850" b="1" dirty="0">
                <a:solidFill>
                  <a:srgbClr val="1A7A4A"/>
                </a:solidFill>
                <a:latin typeface="Calibri" pitchFamily="34" charset="0"/>
                <a:ea typeface="Calibri" pitchFamily="34" charset="-122"/>
                <a:cs typeface="Calibri" pitchFamily="34" charset="-120"/>
              </a:rPr>
              <a:t>TREATMENT</a:t>
            </a:r>
            <a:endParaRPr lang="en-US" sz="850" dirty="0"/>
          </a:p>
        </p:txBody>
      </p:sp>
      <p:sp>
        <p:nvSpPr>
          <p:cNvPr id="20" name="Text 18"/>
          <p:cNvSpPr/>
          <p:nvPr/>
        </p:nvSpPr>
        <p:spPr>
          <a:xfrm>
            <a:off x="6583680" y="2651760"/>
            <a:ext cx="1371600" cy="1508760"/>
          </a:xfrm>
          <a:prstGeom prst="rect">
            <a:avLst/>
          </a:prstGeom>
          <a:noFill/>
          <a:ln/>
        </p:spPr>
        <p:txBody>
          <a:bodyPr wrap="square" lIns="0" tIns="0" rIns="0" bIns="0"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First infusion. IV administration 2x per 3-week cycle. Nurse training required.</a:t>
            </a:r>
            <a:endParaRPr lang="en-US" sz="1000" dirty="0"/>
          </a:p>
        </p:txBody>
      </p:sp>
      <p:sp>
        <p:nvSpPr>
          <p:cNvPr id="21" name="Shape 19"/>
          <p:cNvSpPr/>
          <p:nvPr/>
        </p:nvSpPr>
        <p:spPr>
          <a:xfrm>
            <a:off x="502920" y="4251960"/>
            <a:ext cx="8138160" cy="18288"/>
          </a:xfrm>
          <a:prstGeom prst="rect">
            <a:avLst/>
          </a:prstGeom>
          <a:solidFill>
            <a:srgbClr val="E2E8F0"/>
          </a:solidFill>
          <a:ln w="12700">
            <a:solidFill>
              <a:srgbClr val="E2E8F0"/>
            </a:solidFill>
            <a:prstDash val="solid"/>
          </a:ln>
        </p:spPr>
        <p:txBody>
          <a:bodyPr/>
          <a:lstStyle/>
          <a:p>
            <a:endParaRPr lang="en-IN"/>
          </a:p>
        </p:txBody>
      </p:sp>
      <p:sp>
        <p:nvSpPr>
          <p:cNvPr id="22" name="Text 20"/>
          <p:cNvSpPr/>
          <p:nvPr/>
        </p:nvSpPr>
        <p:spPr>
          <a:xfrm>
            <a:off x="502920" y="4389120"/>
            <a:ext cx="8229600" cy="548640"/>
          </a:xfrm>
          <a:prstGeom prst="rect">
            <a:avLst/>
          </a:prstGeom>
          <a:noFill/>
          <a:ln/>
        </p:spPr>
        <p:txBody>
          <a:bodyPr wrap="square" lIns="0" tIns="0" rIns="0" bIns="0" rtlCol="0" anchor="ctr"/>
          <a:lstStyle/>
          <a:p>
            <a:pPr marL="0" indent="0">
              <a:buNone/>
            </a:pPr>
            <a:r>
              <a:rPr lang="en-US" sz="1050" dirty="0">
                <a:solidFill>
                  <a:srgbClr val="006BA6"/>
                </a:solidFill>
                <a:latin typeface="Calibri" pitchFamily="34" charset="0"/>
                <a:ea typeface="Calibri" pitchFamily="34" charset="-122"/>
                <a:cs typeface="Calibri" pitchFamily="34" charset="-120"/>
              </a:rPr>
              <a:t>PFIZER INTERVENTION FOCUS: Formulary dossier must be approved before first prescriptions are written. PA support service reduces time-to-treatment. Nurse training ensures safe first infusion. Patient kit and caregiver tools drive adherence.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A7A4A"/>
          </a:solidFill>
          <a:ln w="12700">
            <a:solidFill>
              <a:srgbClr val="1A7A4A"/>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082018"/>
                </a:solidFill>
                <a:latin typeface="Georgia" pitchFamily="34" charset="0"/>
                <a:ea typeface="Georgia" pitchFamily="34" charset="-122"/>
                <a:cs typeface="Georgia" pitchFamily="34" charset="-120"/>
              </a:rPr>
              <a:t>06</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Payer Strategy</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and Access</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6EE7B7"/>
                </a:solidFill>
                <a:latin typeface="Calibri" pitchFamily="34" charset="0"/>
                <a:ea typeface="Calibri" pitchFamily="34" charset="-122"/>
                <a:cs typeface="Calibri" pitchFamily="34" charset="-120"/>
              </a:rPr>
              <a:t>Payer Landscape  |  Formulary Strategy  |  Health Economic Argument  |  Patient Assistance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06 / PAYER STRATEGY</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US Payer Landscape: Who Pays for Padcev and How</a:t>
            </a:r>
            <a:endParaRPr lang="en-US" sz="2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8275320" cy="3429000"/>
        </p:xfrm>
        <a:graphic>
          <a:graphicData uri="http://schemas.openxmlformats.org/drawingml/2006/table">
            <a:tbl>
              <a:tblPr/>
              <a:tblGrid>
                <a:gridCol w="1691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6858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Payer Segment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of la/mUC Patients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Coverage Path</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Key Access Challenge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extLst>
                  <a:ext uri="{0D108BD9-81ED-4DB2-BD59-A6C34878D82A}">
                    <a16:rowId xmlns:a16="http://schemas.microsoft.com/office/drawing/2014/main" val="10000"/>
                  </a:ext>
                </a:extLst>
              </a:tr>
              <a:tr h="6858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Commercial Insurance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35-40%</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P&amp;T committee approval, PA based on FDA label criteria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Speed of formulary update for 1L expansion; prior auth burden</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Medicare Part B (traditional)</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35-40%</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Covers IV drugs including Padcev; ASP+6% reimbursement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20% co-insurance exposure ($70K/yr without Medigap); no Pfizer direct co-pay assistance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Medicare Advantage (managed)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15-20%</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Each plan has own PA requirements; approval rates vary widely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Heterogeneity across 600+ plans; field access team must map by geography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Medicaid / Managed Medicaid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State FFS required to cover FDA-approved drugs; managed Medicaid can add PA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Slow turnaround; managed Medicaid PA requirements vary by state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5010912"/>
            <a:ext cx="8275320" cy="128016"/>
          </a:xfrm>
          <a:prstGeom prst="rect">
            <a:avLst/>
          </a:prstGeom>
          <a:noFill/>
          <a:ln/>
        </p:spPr>
        <p:txBody>
          <a:bodyPr wrap="square" lIns="0" tIns="0" rIns="0" bIns="0" rtlCol="0" anchor="ctr"/>
          <a:lstStyle/>
          <a:p>
            <a:pPr marL="0" indent="0">
              <a:buNone/>
            </a:pPr>
            <a:r>
              <a:rPr lang="en-US" sz="850" dirty="0">
                <a:solidFill>
                  <a:srgbClr val="006BA6"/>
                </a:solidFill>
                <a:latin typeface="Calibri" pitchFamily="34" charset="0"/>
                <a:ea typeface="Calibri" pitchFamily="34" charset="-122"/>
                <a:cs typeface="Calibri" pitchFamily="34" charset="-120"/>
              </a:rPr>
              <a:t>PA CRITERIA TO ACCEPT: Confirmed urothelial carcinoma pathology, la/mUC staging, no prior systemic therapy for metastatic disease, oncologist prescriber.    PA CRITERIA TO REJECT: Any requirement for PD-L1 testing or FGFR testing as a coverage prerequisite — Padcev's benefit is biomarker-independent.</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06 / PAYER STRATEGY</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Health Economic Argument: Lead with QALYs, Not Cost</a:t>
            </a:r>
            <a:endParaRPr lang="en-US" sz="2300" dirty="0"/>
          </a:p>
        </p:txBody>
      </p:sp>
      <p:sp>
        <p:nvSpPr>
          <p:cNvPr id="4" name="Text 2"/>
          <p:cNvSpPr/>
          <p:nvPr/>
        </p:nvSpPr>
        <p:spPr>
          <a:xfrm>
            <a:off x="502920" y="1371600"/>
            <a:ext cx="8229600" cy="36576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Payer conversations that begin with drug cost face resistance. Conversations that begin with survival extension, quality-adjusted life years, and complete responder economics find more receptive audiences.</a:t>
            </a:r>
            <a:endParaRPr lang="en-US" sz="1150" dirty="0"/>
          </a:p>
        </p:txBody>
      </p:sp>
      <p:sp>
        <p:nvSpPr>
          <p:cNvPr id="5" name="Shape 3"/>
          <p:cNvSpPr/>
          <p:nvPr/>
        </p:nvSpPr>
        <p:spPr>
          <a:xfrm>
            <a:off x="457200" y="1874520"/>
            <a:ext cx="4187952" cy="1389888"/>
          </a:xfrm>
          <a:prstGeom prst="rect">
            <a:avLst/>
          </a:prstGeom>
          <a:solidFill>
            <a:srgbClr val="F8FAFC"/>
          </a:solidFill>
          <a:ln w="6350">
            <a:solidFill>
              <a:srgbClr val="E2E8F0"/>
            </a:solidFill>
            <a:prstDash val="solid"/>
          </a:ln>
        </p:spPr>
        <p:txBody>
          <a:bodyPr/>
          <a:lstStyle/>
          <a:p>
            <a:endParaRPr lang="en-IN"/>
          </a:p>
        </p:txBody>
      </p:sp>
      <p:sp>
        <p:nvSpPr>
          <p:cNvPr id="6" name="Shape 4"/>
          <p:cNvSpPr/>
          <p:nvPr/>
        </p:nvSpPr>
        <p:spPr>
          <a:xfrm>
            <a:off x="457200" y="1874520"/>
            <a:ext cx="54864" cy="1389888"/>
          </a:xfrm>
          <a:prstGeom prst="rect">
            <a:avLst/>
          </a:prstGeom>
          <a:solidFill>
            <a:srgbClr val="0093D0"/>
          </a:solidFill>
          <a:ln w="12700">
            <a:solidFill>
              <a:srgbClr val="0093D0"/>
            </a:solidFill>
            <a:prstDash val="solid"/>
          </a:ln>
        </p:spPr>
        <p:txBody>
          <a:bodyPr/>
          <a:lstStyle/>
          <a:p>
            <a:endParaRPr lang="en-IN"/>
          </a:p>
        </p:txBody>
      </p:sp>
      <p:sp>
        <p:nvSpPr>
          <p:cNvPr id="7" name="Shape 5"/>
          <p:cNvSpPr/>
          <p:nvPr/>
        </p:nvSpPr>
        <p:spPr>
          <a:xfrm>
            <a:off x="621792" y="1984248"/>
            <a:ext cx="347472" cy="228600"/>
          </a:xfrm>
          <a:prstGeom prst="rect">
            <a:avLst/>
          </a:prstGeom>
          <a:solidFill>
            <a:srgbClr val="0093D0"/>
          </a:solidFill>
          <a:ln w="12700">
            <a:solidFill>
              <a:srgbClr val="0093D0"/>
            </a:solidFill>
            <a:prstDash val="solid"/>
          </a:ln>
        </p:spPr>
        <p:txBody>
          <a:bodyPr/>
          <a:lstStyle/>
          <a:p>
            <a:endParaRPr lang="en-IN"/>
          </a:p>
        </p:txBody>
      </p:sp>
      <p:sp>
        <p:nvSpPr>
          <p:cNvPr id="8" name="Text 6"/>
          <p:cNvSpPr/>
          <p:nvPr/>
        </p:nvSpPr>
        <p:spPr>
          <a:xfrm>
            <a:off x="621792" y="1984248"/>
            <a:ext cx="347472"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1097280" y="1984248"/>
            <a:ext cx="3383280" cy="256032"/>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QALY Improvement</a:t>
            </a:r>
            <a:endParaRPr lang="en-US" sz="1200" dirty="0"/>
          </a:p>
        </p:txBody>
      </p:sp>
      <p:sp>
        <p:nvSpPr>
          <p:cNvPr id="10" name="Text 8"/>
          <p:cNvSpPr/>
          <p:nvPr/>
        </p:nvSpPr>
        <p:spPr>
          <a:xfrm>
            <a:off x="621792" y="2313432"/>
            <a:ext cx="3794760" cy="80467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The 15.4-month OS improvement translates to approximately 1.2 to 1.4 QALYs. At net price (after mandatory Medicaid rebates and commercial contracting discounts), cost-per-QALY falls within accepted oncology thresholds of $100K to $200K per QALY.</a:t>
            </a:r>
            <a:endParaRPr lang="en-US" sz="1000" dirty="0"/>
          </a:p>
        </p:txBody>
      </p:sp>
      <p:sp>
        <p:nvSpPr>
          <p:cNvPr id="11" name="Shape 9"/>
          <p:cNvSpPr/>
          <p:nvPr/>
        </p:nvSpPr>
        <p:spPr>
          <a:xfrm>
            <a:off x="4828032" y="1874520"/>
            <a:ext cx="4187952" cy="1389888"/>
          </a:xfrm>
          <a:prstGeom prst="rect">
            <a:avLst/>
          </a:prstGeom>
          <a:solidFill>
            <a:srgbClr val="F8FAFC"/>
          </a:solidFill>
          <a:ln w="6350">
            <a:solidFill>
              <a:srgbClr val="E2E8F0"/>
            </a:solidFill>
            <a:prstDash val="solid"/>
          </a:ln>
        </p:spPr>
        <p:txBody>
          <a:bodyPr/>
          <a:lstStyle/>
          <a:p>
            <a:endParaRPr lang="en-IN"/>
          </a:p>
        </p:txBody>
      </p:sp>
      <p:sp>
        <p:nvSpPr>
          <p:cNvPr id="12" name="Shape 10"/>
          <p:cNvSpPr/>
          <p:nvPr/>
        </p:nvSpPr>
        <p:spPr>
          <a:xfrm>
            <a:off x="4828032" y="1874520"/>
            <a:ext cx="54864" cy="1389888"/>
          </a:xfrm>
          <a:prstGeom prst="rect">
            <a:avLst/>
          </a:prstGeom>
          <a:solidFill>
            <a:srgbClr val="1A7A4A"/>
          </a:solidFill>
          <a:ln w="12700">
            <a:solidFill>
              <a:srgbClr val="1A7A4A"/>
            </a:solidFill>
            <a:prstDash val="solid"/>
          </a:ln>
        </p:spPr>
        <p:txBody>
          <a:bodyPr/>
          <a:lstStyle/>
          <a:p>
            <a:endParaRPr lang="en-IN"/>
          </a:p>
        </p:txBody>
      </p:sp>
      <p:sp>
        <p:nvSpPr>
          <p:cNvPr id="13" name="Shape 11"/>
          <p:cNvSpPr/>
          <p:nvPr/>
        </p:nvSpPr>
        <p:spPr>
          <a:xfrm>
            <a:off x="4992624" y="1984248"/>
            <a:ext cx="347472" cy="228600"/>
          </a:xfrm>
          <a:prstGeom prst="rect">
            <a:avLst/>
          </a:prstGeom>
          <a:solidFill>
            <a:srgbClr val="1A7A4A"/>
          </a:solidFill>
          <a:ln w="12700">
            <a:solidFill>
              <a:srgbClr val="1A7A4A"/>
            </a:solidFill>
            <a:prstDash val="solid"/>
          </a:ln>
        </p:spPr>
        <p:txBody>
          <a:bodyPr/>
          <a:lstStyle/>
          <a:p>
            <a:endParaRPr lang="en-IN"/>
          </a:p>
        </p:txBody>
      </p:sp>
      <p:sp>
        <p:nvSpPr>
          <p:cNvPr id="14" name="Text 12"/>
          <p:cNvSpPr/>
          <p:nvPr/>
        </p:nvSpPr>
        <p:spPr>
          <a:xfrm>
            <a:off x="4992624" y="1984248"/>
            <a:ext cx="347472"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5" name="Text 13"/>
          <p:cNvSpPr/>
          <p:nvPr/>
        </p:nvSpPr>
        <p:spPr>
          <a:xfrm>
            <a:off x="5468112" y="1984248"/>
            <a:ext cx="3383280" cy="256032"/>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Complete Responder Economics</a:t>
            </a:r>
            <a:endParaRPr lang="en-US" sz="1200" dirty="0"/>
          </a:p>
        </p:txBody>
      </p:sp>
      <p:sp>
        <p:nvSpPr>
          <p:cNvPr id="16" name="Text 14"/>
          <p:cNvSpPr/>
          <p:nvPr/>
        </p:nvSpPr>
        <p:spPr>
          <a:xfrm>
            <a:off x="4992624" y="2313432"/>
            <a:ext cx="3794760" cy="80467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The 29.1% of patients who achieve complete response and maintain durable responses have dramatically lower long-term treatment costs. Modeled over five years, these complete responders offset some higher upfront drug cost with lower subsequent therapy utilization.</a:t>
            </a:r>
            <a:endParaRPr lang="en-US" sz="1000" dirty="0"/>
          </a:p>
        </p:txBody>
      </p:sp>
      <p:sp>
        <p:nvSpPr>
          <p:cNvPr id="17" name="Shape 15"/>
          <p:cNvSpPr/>
          <p:nvPr/>
        </p:nvSpPr>
        <p:spPr>
          <a:xfrm>
            <a:off x="457200" y="3410712"/>
            <a:ext cx="4187952" cy="1389888"/>
          </a:xfrm>
          <a:prstGeom prst="rect">
            <a:avLst/>
          </a:prstGeom>
          <a:solidFill>
            <a:srgbClr val="F8FAFC"/>
          </a:solidFill>
          <a:ln w="6350">
            <a:solidFill>
              <a:srgbClr val="E2E8F0"/>
            </a:solidFill>
            <a:prstDash val="solid"/>
          </a:ln>
        </p:spPr>
        <p:txBody>
          <a:bodyPr/>
          <a:lstStyle/>
          <a:p>
            <a:endParaRPr lang="en-IN"/>
          </a:p>
        </p:txBody>
      </p:sp>
      <p:sp>
        <p:nvSpPr>
          <p:cNvPr id="18" name="Shape 16"/>
          <p:cNvSpPr/>
          <p:nvPr/>
        </p:nvSpPr>
        <p:spPr>
          <a:xfrm>
            <a:off x="457200" y="3410712"/>
            <a:ext cx="54864" cy="1389888"/>
          </a:xfrm>
          <a:prstGeom prst="rect">
            <a:avLst/>
          </a:prstGeom>
          <a:solidFill>
            <a:srgbClr val="B45309"/>
          </a:solidFill>
          <a:ln w="12700">
            <a:solidFill>
              <a:srgbClr val="B45309"/>
            </a:solidFill>
            <a:prstDash val="solid"/>
          </a:ln>
        </p:spPr>
        <p:txBody>
          <a:bodyPr/>
          <a:lstStyle/>
          <a:p>
            <a:endParaRPr lang="en-IN"/>
          </a:p>
        </p:txBody>
      </p:sp>
      <p:sp>
        <p:nvSpPr>
          <p:cNvPr id="19" name="Shape 17"/>
          <p:cNvSpPr/>
          <p:nvPr/>
        </p:nvSpPr>
        <p:spPr>
          <a:xfrm>
            <a:off x="621792" y="3520440"/>
            <a:ext cx="347472" cy="228600"/>
          </a:xfrm>
          <a:prstGeom prst="rect">
            <a:avLst/>
          </a:prstGeom>
          <a:solidFill>
            <a:srgbClr val="B45309"/>
          </a:solidFill>
          <a:ln w="12700">
            <a:solidFill>
              <a:srgbClr val="B45309"/>
            </a:solidFill>
            <a:prstDash val="solid"/>
          </a:ln>
        </p:spPr>
        <p:txBody>
          <a:bodyPr/>
          <a:lstStyle/>
          <a:p>
            <a:endParaRPr lang="en-IN"/>
          </a:p>
        </p:txBody>
      </p:sp>
      <p:sp>
        <p:nvSpPr>
          <p:cNvPr id="20" name="Text 18"/>
          <p:cNvSpPr/>
          <p:nvPr/>
        </p:nvSpPr>
        <p:spPr>
          <a:xfrm>
            <a:off x="621792" y="3520440"/>
            <a:ext cx="347472"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1" name="Text 19"/>
          <p:cNvSpPr/>
          <p:nvPr/>
        </p:nvSpPr>
        <p:spPr>
          <a:xfrm>
            <a:off x="1097280" y="3520440"/>
            <a:ext cx="3383280" cy="256032"/>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Downstream Treatment Avoidance</a:t>
            </a:r>
            <a:endParaRPr lang="en-US" sz="1200" dirty="0"/>
          </a:p>
        </p:txBody>
      </p:sp>
      <p:sp>
        <p:nvSpPr>
          <p:cNvPr id="22" name="Text 20"/>
          <p:cNvSpPr/>
          <p:nvPr/>
        </p:nvSpPr>
        <p:spPr>
          <a:xfrm>
            <a:off x="621792" y="3849624"/>
            <a:ext cx="3794760" cy="80467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 chemotherapy patient who fails first-line and requires 3+ lines of therapy incurs $120K to $160K in total disease management costs. An EV+K responder who achieves CR and remains in remission significantly reduces that downstream cost trajectory.</a:t>
            </a:r>
            <a:endParaRPr lang="en-US" sz="1000" dirty="0"/>
          </a:p>
        </p:txBody>
      </p:sp>
      <p:sp>
        <p:nvSpPr>
          <p:cNvPr id="23" name="Shape 21"/>
          <p:cNvSpPr/>
          <p:nvPr/>
        </p:nvSpPr>
        <p:spPr>
          <a:xfrm>
            <a:off x="4828032" y="3410712"/>
            <a:ext cx="4187952" cy="1389888"/>
          </a:xfrm>
          <a:prstGeom prst="rect">
            <a:avLst/>
          </a:prstGeom>
          <a:solidFill>
            <a:srgbClr val="F8FAFC"/>
          </a:solidFill>
          <a:ln w="6350">
            <a:solidFill>
              <a:srgbClr val="E2E8F0"/>
            </a:solidFill>
            <a:prstDash val="solid"/>
          </a:ln>
        </p:spPr>
        <p:txBody>
          <a:bodyPr/>
          <a:lstStyle/>
          <a:p>
            <a:endParaRPr lang="en-IN"/>
          </a:p>
        </p:txBody>
      </p:sp>
      <p:sp>
        <p:nvSpPr>
          <p:cNvPr id="24" name="Shape 22"/>
          <p:cNvSpPr/>
          <p:nvPr/>
        </p:nvSpPr>
        <p:spPr>
          <a:xfrm>
            <a:off x="4828032" y="3410712"/>
            <a:ext cx="54864" cy="1389888"/>
          </a:xfrm>
          <a:prstGeom prst="rect">
            <a:avLst/>
          </a:prstGeom>
          <a:solidFill>
            <a:srgbClr val="7C3AED"/>
          </a:solidFill>
          <a:ln w="12700">
            <a:solidFill>
              <a:srgbClr val="7C3AED"/>
            </a:solidFill>
            <a:prstDash val="solid"/>
          </a:ln>
        </p:spPr>
        <p:txBody>
          <a:bodyPr/>
          <a:lstStyle/>
          <a:p>
            <a:endParaRPr lang="en-IN"/>
          </a:p>
        </p:txBody>
      </p:sp>
      <p:sp>
        <p:nvSpPr>
          <p:cNvPr id="25" name="Shape 23"/>
          <p:cNvSpPr/>
          <p:nvPr/>
        </p:nvSpPr>
        <p:spPr>
          <a:xfrm>
            <a:off x="4992624" y="3520440"/>
            <a:ext cx="347472" cy="228600"/>
          </a:xfrm>
          <a:prstGeom prst="rect">
            <a:avLst/>
          </a:prstGeom>
          <a:solidFill>
            <a:srgbClr val="7C3AED"/>
          </a:solidFill>
          <a:ln w="12700">
            <a:solidFill>
              <a:srgbClr val="7C3AED"/>
            </a:solidFill>
            <a:prstDash val="solid"/>
          </a:ln>
        </p:spPr>
        <p:txBody>
          <a:bodyPr/>
          <a:lstStyle/>
          <a:p>
            <a:endParaRPr lang="en-IN"/>
          </a:p>
        </p:txBody>
      </p:sp>
      <p:sp>
        <p:nvSpPr>
          <p:cNvPr id="26" name="Text 24"/>
          <p:cNvSpPr/>
          <p:nvPr/>
        </p:nvSpPr>
        <p:spPr>
          <a:xfrm>
            <a:off x="4992624" y="3520440"/>
            <a:ext cx="347472"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7" name="Text 25"/>
          <p:cNvSpPr/>
          <p:nvPr/>
        </p:nvSpPr>
        <p:spPr>
          <a:xfrm>
            <a:off x="5468112" y="3520440"/>
            <a:ext cx="3383280" cy="256032"/>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Patient Assistance Programs</a:t>
            </a:r>
            <a:endParaRPr lang="en-US" sz="1200" dirty="0"/>
          </a:p>
        </p:txBody>
      </p:sp>
      <p:sp>
        <p:nvSpPr>
          <p:cNvPr id="28" name="Text 26"/>
          <p:cNvSpPr/>
          <p:nvPr/>
        </p:nvSpPr>
        <p:spPr>
          <a:xfrm>
            <a:off x="4992624" y="3849624"/>
            <a:ext cx="3794760" cy="804672"/>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Pfizer Oncology Together: co-pay assistance for commercial patients. For Medicare patients (anti-kickback statute prevents direct co-pay): refer to independent foundations (HealthWell, Patient Advocate Foundation) supported by unrestricted Pfizer grants.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594360" y="868680"/>
            <a:ext cx="2286000" cy="1097280"/>
          </a:xfrm>
          <a:prstGeom prst="rect">
            <a:avLst/>
          </a:prstGeom>
          <a:noFill/>
          <a:ln/>
        </p:spPr>
        <p:txBody>
          <a:bodyPr wrap="square" lIns="0" tIns="0" rIns="0" bIns="0" rtlCol="0" anchor="ctr"/>
          <a:lstStyle/>
          <a:p>
            <a:pPr marL="0" indent="0">
              <a:buNone/>
            </a:pPr>
            <a:r>
              <a:rPr lang="en-US" sz="7000" b="1" dirty="0">
                <a:solidFill>
                  <a:srgbClr val="2A1C00"/>
                </a:solidFill>
                <a:latin typeface="Georgia" pitchFamily="34" charset="0"/>
                <a:ea typeface="Georgia" pitchFamily="34" charset="-122"/>
                <a:cs typeface="Georgia" pitchFamily="34" charset="-120"/>
              </a:rPr>
              <a:t>07</a:t>
            </a:r>
            <a:endParaRPr lang="en-US" sz="7000" dirty="0"/>
          </a:p>
        </p:txBody>
      </p:sp>
      <p:sp>
        <p:nvSpPr>
          <p:cNvPr id="4" name="Text 2"/>
          <p:cNvSpPr/>
          <p:nvPr/>
        </p:nvSpPr>
        <p:spPr>
          <a:xfrm>
            <a:off x="594360" y="1783080"/>
            <a:ext cx="68580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Launch</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Plan</a:t>
            </a:r>
            <a:endParaRPr lang="en-US" sz="3600" dirty="0"/>
          </a:p>
        </p:txBody>
      </p:sp>
      <p:sp>
        <p:nvSpPr>
          <p:cNvPr id="5" name="Shape 3"/>
          <p:cNvSpPr/>
          <p:nvPr/>
        </p:nvSpPr>
        <p:spPr>
          <a:xfrm>
            <a:off x="594360" y="3246120"/>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594360" y="3401568"/>
            <a:ext cx="7772400" cy="274320"/>
          </a:xfrm>
          <a:prstGeom prst="rect">
            <a:avLst/>
          </a:prstGeom>
          <a:noFill/>
          <a:ln/>
        </p:spPr>
        <p:txBody>
          <a:bodyPr wrap="square" rtlCol="0" anchor="ctr"/>
          <a:lstStyle/>
          <a:p>
            <a:pPr marL="0" indent="0">
              <a:buNone/>
            </a:pPr>
            <a:r>
              <a:rPr lang="en-US" sz="1200" dirty="0">
                <a:solidFill>
                  <a:srgbClr val="FDE68A"/>
                </a:solidFill>
                <a:latin typeface="Calibri" pitchFamily="34" charset="0"/>
                <a:ea typeface="Calibri" pitchFamily="34" charset="-122"/>
                <a:cs typeface="Calibri" pitchFamily="34" charset="-120"/>
              </a:rPr>
              <a:t>T-12 Month Timeline  |  Channel Plan  |  Budget Allocation  |  Commercial KPIs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07 / LAUNCH PLAN</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Pre-Approval Readiness to 12-Month Market Penetration</a:t>
            </a:r>
            <a:endParaRPr lang="en-US" sz="2300" dirty="0"/>
          </a:p>
        </p:txBody>
      </p:sp>
      <p:sp>
        <p:nvSpPr>
          <p:cNvPr id="4" name="Shape 2"/>
          <p:cNvSpPr/>
          <p:nvPr/>
        </p:nvSpPr>
        <p:spPr>
          <a:xfrm>
            <a:off x="502920" y="1371600"/>
            <a:ext cx="8138160" cy="27432"/>
          </a:xfrm>
          <a:prstGeom prst="rect">
            <a:avLst/>
          </a:prstGeom>
          <a:solidFill>
            <a:srgbClr val="CBD5E1"/>
          </a:solidFill>
          <a:ln w="12700">
            <a:solidFill>
              <a:srgbClr val="CBD5E1"/>
            </a:solidFill>
            <a:prstDash val="solid"/>
          </a:ln>
        </p:spPr>
        <p:txBody>
          <a:bodyPr/>
          <a:lstStyle/>
          <a:p>
            <a:endParaRPr lang="en-IN"/>
          </a:p>
        </p:txBody>
      </p:sp>
      <p:sp>
        <p:nvSpPr>
          <p:cNvPr id="5" name="Shape 3"/>
          <p:cNvSpPr/>
          <p:nvPr/>
        </p:nvSpPr>
        <p:spPr>
          <a:xfrm>
            <a:off x="484632" y="1280160"/>
            <a:ext cx="219456" cy="219456"/>
          </a:xfrm>
          <a:prstGeom prst="ellipse">
            <a:avLst/>
          </a:prstGeom>
          <a:solidFill>
            <a:srgbClr val="94A3B8"/>
          </a:solidFill>
          <a:ln w="12700">
            <a:solidFill>
              <a:srgbClr val="94A3B8"/>
            </a:solidFill>
            <a:prstDash val="solid"/>
          </a:ln>
        </p:spPr>
        <p:txBody>
          <a:bodyPr/>
          <a:lstStyle/>
          <a:p>
            <a:endParaRPr lang="en-IN"/>
          </a:p>
        </p:txBody>
      </p:sp>
      <p:sp>
        <p:nvSpPr>
          <p:cNvPr id="6" name="Text 4"/>
          <p:cNvSpPr/>
          <p:nvPr/>
        </p:nvSpPr>
        <p:spPr>
          <a:xfrm>
            <a:off x="91440" y="868680"/>
            <a:ext cx="1188720" cy="320040"/>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T-12 MO</a:t>
            </a:r>
            <a:endParaRPr lang="en-US" sz="800" dirty="0"/>
          </a:p>
        </p:txBody>
      </p:sp>
      <p:sp>
        <p:nvSpPr>
          <p:cNvPr id="7" name="Text 5"/>
          <p:cNvSpPr/>
          <p:nvPr/>
        </p:nvSpPr>
        <p:spPr>
          <a:xfrm>
            <a:off x="45720" y="1627632"/>
            <a:ext cx="1280160" cy="292608"/>
          </a:xfrm>
          <a:prstGeom prst="rect">
            <a:avLst/>
          </a:prstGeom>
          <a:noFill/>
          <a:ln/>
        </p:spPr>
        <p:txBody>
          <a:bodyPr wrap="square" lIns="0" tIns="0" rIns="0" bIns="0" rtlCol="0" anchor="ctr"/>
          <a:lstStyle/>
          <a:p>
            <a:pPr marL="0" indent="0" algn="ctr">
              <a:buNone/>
            </a:pPr>
            <a:r>
              <a:rPr lang="en-US" sz="1100" b="1" dirty="0">
                <a:solidFill>
                  <a:srgbClr val="1E3A5F"/>
                </a:solidFill>
                <a:latin typeface="Georgia" pitchFamily="34" charset="0"/>
                <a:ea typeface="Georgia" pitchFamily="34" charset="-122"/>
                <a:cs typeface="Georgia" pitchFamily="34" charset="-120"/>
              </a:rPr>
              <a:t>Sales Training</a:t>
            </a:r>
            <a:endParaRPr lang="en-US" sz="1100" dirty="0"/>
          </a:p>
        </p:txBody>
      </p:sp>
      <p:sp>
        <p:nvSpPr>
          <p:cNvPr id="8" name="Text 6"/>
          <p:cNvSpPr/>
          <p:nvPr/>
        </p:nvSpPr>
        <p:spPr>
          <a:xfrm>
            <a:off x="27432" y="1975104"/>
            <a:ext cx="1325880" cy="1298448"/>
          </a:xfrm>
          <a:prstGeom prst="rect">
            <a:avLst/>
          </a:prstGeom>
          <a:noFill/>
          <a:ln/>
        </p:spPr>
        <p:txBody>
          <a:bodyPr wrap="square" lIns="0" tIns="0" rIns="0" bIns="0"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Disease state education, ADC mechanism, HCP segmentation. No indication-specific materials allowed.</a:t>
            </a:r>
            <a:endParaRPr lang="en-US" sz="950" dirty="0"/>
          </a:p>
        </p:txBody>
      </p:sp>
      <p:sp>
        <p:nvSpPr>
          <p:cNvPr id="9" name="Shape 7"/>
          <p:cNvSpPr/>
          <p:nvPr/>
        </p:nvSpPr>
        <p:spPr>
          <a:xfrm>
            <a:off x="1901952" y="1280160"/>
            <a:ext cx="219456" cy="219456"/>
          </a:xfrm>
          <a:prstGeom prst="ellipse">
            <a:avLst/>
          </a:prstGeom>
          <a:solidFill>
            <a:srgbClr val="475569"/>
          </a:solidFill>
          <a:ln w="12700">
            <a:solidFill>
              <a:srgbClr val="475569"/>
            </a:solidFill>
            <a:prstDash val="solid"/>
          </a:ln>
        </p:spPr>
        <p:txBody>
          <a:bodyPr/>
          <a:lstStyle/>
          <a:p>
            <a:endParaRPr lang="en-IN"/>
          </a:p>
        </p:txBody>
      </p:sp>
      <p:sp>
        <p:nvSpPr>
          <p:cNvPr id="10" name="Text 8"/>
          <p:cNvSpPr/>
          <p:nvPr/>
        </p:nvSpPr>
        <p:spPr>
          <a:xfrm>
            <a:off x="1508760" y="868680"/>
            <a:ext cx="1188720" cy="320040"/>
          </a:xfrm>
          <a:prstGeom prst="rect">
            <a:avLst/>
          </a:prstGeom>
          <a:noFill/>
          <a:ln/>
        </p:spPr>
        <p:txBody>
          <a:bodyPr wrap="square" lIns="0" tIns="0" rIns="0" bIns="0" rtlCol="0" anchor="ctr"/>
          <a:lstStyle/>
          <a:p>
            <a:pPr marL="0" indent="0" algn="ctr">
              <a:buNone/>
            </a:pPr>
            <a:r>
              <a:rPr lang="en-US" sz="800" b="1" dirty="0">
                <a:solidFill>
                  <a:srgbClr val="475569"/>
                </a:solidFill>
                <a:latin typeface="Calibri" pitchFamily="34" charset="0"/>
                <a:ea typeface="Calibri" pitchFamily="34" charset="-122"/>
                <a:cs typeface="Calibri" pitchFamily="34" charset="-120"/>
              </a:rPr>
              <a:t>T-6 MO</a:t>
            </a:r>
            <a:endParaRPr lang="en-US" sz="800" dirty="0"/>
          </a:p>
        </p:txBody>
      </p:sp>
      <p:sp>
        <p:nvSpPr>
          <p:cNvPr id="11" name="Text 9"/>
          <p:cNvSpPr/>
          <p:nvPr/>
        </p:nvSpPr>
        <p:spPr>
          <a:xfrm>
            <a:off x="1463040" y="1627632"/>
            <a:ext cx="1280160" cy="292608"/>
          </a:xfrm>
          <a:prstGeom prst="rect">
            <a:avLst/>
          </a:prstGeom>
          <a:noFill/>
          <a:ln/>
        </p:spPr>
        <p:txBody>
          <a:bodyPr wrap="square" lIns="0" tIns="0" rIns="0" bIns="0" rtlCol="0" anchor="ctr"/>
          <a:lstStyle/>
          <a:p>
            <a:pPr marL="0" indent="0" algn="ctr">
              <a:buNone/>
            </a:pPr>
            <a:r>
              <a:rPr lang="en-US" sz="1100" b="1" dirty="0">
                <a:solidFill>
                  <a:srgbClr val="1E3A5F"/>
                </a:solidFill>
                <a:latin typeface="Georgia" pitchFamily="34" charset="0"/>
                <a:ea typeface="Georgia" pitchFamily="34" charset="-122"/>
                <a:cs typeface="Georgia" pitchFamily="34" charset="-120"/>
              </a:rPr>
              <a:t>MLR Submission</a:t>
            </a:r>
            <a:endParaRPr lang="en-US" sz="1100" dirty="0"/>
          </a:p>
        </p:txBody>
      </p:sp>
      <p:sp>
        <p:nvSpPr>
          <p:cNvPr id="12" name="Text 10"/>
          <p:cNvSpPr/>
          <p:nvPr/>
        </p:nvSpPr>
        <p:spPr>
          <a:xfrm>
            <a:off x="1444752" y="1975104"/>
            <a:ext cx="1325880" cy="1298448"/>
          </a:xfrm>
          <a:prstGeom prst="rect">
            <a:avLst/>
          </a:prstGeom>
          <a:noFill/>
          <a:ln/>
        </p:spPr>
        <p:txBody>
          <a:bodyPr wrap="square" lIns="0" tIns="0" rIns="0" bIns="0"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All launch materials into MLR review. Formulary dossier prep. Payer pre-submission conversations.</a:t>
            </a:r>
            <a:endParaRPr lang="en-US" sz="950" dirty="0"/>
          </a:p>
        </p:txBody>
      </p:sp>
      <p:sp>
        <p:nvSpPr>
          <p:cNvPr id="13" name="Shape 11"/>
          <p:cNvSpPr/>
          <p:nvPr/>
        </p:nvSpPr>
        <p:spPr>
          <a:xfrm>
            <a:off x="3319272" y="1280160"/>
            <a:ext cx="219456" cy="219456"/>
          </a:xfrm>
          <a:prstGeom prst="ellipse">
            <a:avLst/>
          </a:prstGeom>
          <a:solidFill>
            <a:srgbClr val="B45309"/>
          </a:solidFill>
          <a:ln w="12700">
            <a:solidFill>
              <a:srgbClr val="B45309"/>
            </a:solidFill>
            <a:prstDash val="solid"/>
          </a:ln>
        </p:spPr>
        <p:txBody>
          <a:bodyPr/>
          <a:lstStyle/>
          <a:p>
            <a:endParaRPr lang="en-IN"/>
          </a:p>
        </p:txBody>
      </p:sp>
      <p:sp>
        <p:nvSpPr>
          <p:cNvPr id="14" name="Text 12"/>
          <p:cNvSpPr/>
          <p:nvPr/>
        </p:nvSpPr>
        <p:spPr>
          <a:xfrm>
            <a:off x="2926080" y="868680"/>
            <a:ext cx="1188720" cy="320040"/>
          </a:xfrm>
          <a:prstGeom prst="rect">
            <a:avLst/>
          </a:prstGeom>
          <a:noFill/>
          <a:ln/>
        </p:spPr>
        <p:txBody>
          <a:bodyPr wrap="square" lIns="0" tIns="0" rIns="0" bIns="0" rtlCol="0" anchor="ctr"/>
          <a:lstStyle/>
          <a:p>
            <a:pPr marL="0" indent="0" algn="ctr">
              <a:buNone/>
            </a:pPr>
            <a:r>
              <a:rPr lang="en-US" sz="800" b="1" dirty="0">
                <a:solidFill>
                  <a:srgbClr val="B45309"/>
                </a:solidFill>
                <a:latin typeface="Calibri" pitchFamily="34" charset="0"/>
                <a:ea typeface="Calibri" pitchFamily="34" charset="-122"/>
                <a:cs typeface="Calibri" pitchFamily="34" charset="-120"/>
              </a:rPr>
              <a:t>T-3 MO</a:t>
            </a:r>
            <a:endParaRPr lang="en-US" sz="800" dirty="0"/>
          </a:p>
        </p:txBody>
      </p:sp>
      <p:sp>
        <p:nvSpPr>
          <p:cNvPr id="15" name="Text 13"/>
          <p:cNvSpPr/>
          <p:nvPr/>
        </p:nvSpPr>
        <p:spPr>
          <a:xfrm>
            <a:off x="2880360" y="1627632"/>
            <a:ext cx="1280160" cy="292608"/>
          </a:xfrm>
          <a:prstGeom prst="rect">
            <a:avLst/>
          </a:prstGeom>
          <a:noFill/>
          <a:ln/>
        </p:spPr>
        <p:txBody>
          <a:bodyPr wrap="square" lIns="0" tIns="0" rIns="0" bIns="0" rtlCol="0" anchor="ctr"/>
          <a:lstStyle/>
          <a:p>
            <a:pPr marL="0" indent="0" algn="ctr">
              <a:buNone/>
            </a:pPr>
            <a:r>
              <a:rPr lang="en-US" sz="1100" b="1" dirty="0">
                <a:solidFill>
                  <a:srgbClr val="1E3A5F"/>
                </a:solidFill>
                <a:latin typeface="Georgia" pitchFamily="34" charset="0"/>
                <a:ea typeface="Georgia" pitchFamily="34" charset="-122"/>
                <a:cs typeface="Georgia" pitchFamily="34" charset="-120"/>
              </a:rPr>
              <a:t>Final Approvals</a:t>
            </a:r>
            <a:endParaRPr lang="en-US" sz="1100" dirty="0"/>
          </a:p>
        </p:txBody>
      </p:sp>
      <p:sp>
        <p:nvSpPr>
          <p:cNvPr id="16" name="Text 14"/>
          <p:cNvSpPr/>
          <p:nvPr/>
        </p:nvSpPr>
        <p:spPr>
          <a:xfrm>
            <a:off x="2862072" y="1975104"/>
            <a:ext cx="1325880" cy="1298448"/>
          </a:xfrm>
          <a:prstGeom prst="rect">
            <a:avLst/>
          </a:prstGeom>
          <a:noFill/>
          <a:ln/>
        </p:spPr>
        <p:txBody>
          <a:bodyPr wrap="square" lIns="0" tIns="0" rIns="0" bIns="0"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Materials approved. Speaker bureau designed. Specialty pharmacy agreements finalized.</a:t>
            </a:r>
            <a:endParaRPr lang="en-US" sz="950" dirty="0"/>
          </a:p>
        </p:txBody>
      </p:sp>
      <p:sp>
        <p:nvSpPr>
          <p:cNvPr id="17" name="Shape 15"/>
          <p:cNvSpPr/>
          <p:nvPr/>
        </p:nvSpPr>
        <p:spPr>
          <a:xfrm>
            <a:off x="4736592" y="1280160"/>
            <a:ext cx="219456" cy="219456"/>
          </a:xfrm>
          <a:prstGeom prst="ellipse">
            <a:avLst/>
          </a:prstGeom>
          <a:solidFill>
            <a:srgbClr val="006BA6"/>
          </a:solidFill>
          <a:ln w="12700">
            <a:solidFill>
              <a:srgbClr val="006BA6"/>
            </a:solidFill>
            <a:prstDash val="solid"/>
          </a:ln>
        </p:spPr>
        <p:txBody>
          <a:bodyPr/>
          <a:lstStyle/>
          <a:p>
            <a:endParaRPr lang="en-IN"/>
          </a:p>
        </p:txBody>
      </p:sp>
      <p:sp>
        <p:nvSpPr>
          <p:cNvPr id="18" name="Text 16"/>
          <p:cNvSpPr/>
          <p:nvPr/>
        </p:nvSpPr>
        <p:spPr>
          <a:xfrm>
            <a:off x="4343400" y="868680"/>
            <a:ext cx="1188720" cy="320040"/>
          </a:xfrm>
          <a:prstGeom prst="rect">
            <a:avLst/>
          </a:prstGeom>
          <a:noFill/>
          <a:ln/>
        </p:spPr>
        <p:txBody>
          <a:bodyPr wrap="square" lIns="0" tIns="0" rIns="0" bIns="0" rtlCol="0" anchor="ctr"/>
          <a:lstStyle/>
          <a:p>
            <a:pPr marL="0" indent="0" algn="ctr">
              <a:buNone/>
            </a:pPr>
            <a:r>
              <a:rPr lang="en-US" sz="800" b="1" dirty="0">
                <a:solidFill>
                  <a:srgbClr val="006BA6"/>
                </a:solidFill>
                <a:latin typeface="Calibri" pitchFamily="34" charset="0"/>
                <a:ea typeface="Calibri" pitchFamily="34" charset="-122"/>
                <a:cs typeface="Calibri" pitchFamily="34" charset="-120"/>
              </a:rPr>
              <a:t>T-30 DAY</a:t>
            </a:r>
            <a:endParaRPr lang="en-US" sz="800" dirty="0"/>
          </a:p>
        </p:txBody>
      </p:sp>
      <p:sp>
        <p:nvSpPr>
          <p:cNvPr id="19" name="Text 17"/>
          <p:cNvSpPr/>
          <p:nvPr/>
        </p:nvSpPr>
        <p:spPr>
          <a:xfrm>
            <a:off x="4297680" y="1627632"/>
            <a:ext cx="1280160" cy="292608"/>
          </a:xfrm>
          <a:prstGeom prst="rect">
            <a:avLst/>
          </a:prstGeom>
          <a:noFill/>
          <a:ln/>
        </p:spPr>
        <p:txBody>
          <a:bodyPr wrap="square" lIns="0" tIns="0" rIns="0" bIns="0" rtlCol="0" anchor="ctr"/>
          <a:lstStyle/>
          <a:p>
            <a:pPr marL="0" indent="0" algn="ctr">
              <a:buNone/>
            </a:pPr>
            <a:r>
              <a:rPr lang="en-US" sz="1100" b="1" dirty="0">
                <a:solidFill>
                  <a:srgbClr val="1E3A5F"/>
                </a:solidFill>
                <a:latin typeface="Georgia" pitchFamily="34" charset="0"/>
                <a:ea typeface="Georgia" pitchFamily="34" charset="-122"/>
                <a:cs typeface="Georgia" pitchFamily="34" charset="-120"/>
              </a:rPr>
              <a:t>Lock + Load</a:t>
            </a:r>
            <a:endParaRPr lang="en-US" sz="1100" dirty="0"/>
          </a:p>
        </p:txBody>
      </p:sp>
      <p:sp>
        <p:nvSpPr>
          <p:cNvPr id="20" name="Text 18"/>
          <p:cNvSpPr/>
          <p:nvPr/>
        </p:nvSpPr>
        <p:spPr>
          <a:xfrm>
            <a:off x="4279392" y="1975104"/>
            <a:ext cx="1325880" cy="1298448"/>
          </a:xfrm>
          <a:prstGeom prst="rect">
            <a:avLst/>
          </a:prstGeom>
          <a:noFill/>
          <a:ln/>
        </p:spPr>
        <p:txBody>
          <a:bodyPr wrap="square" lIns="0" tIns="0" rIns="0" bIns="0"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All materials ready. Advisory board briefed. Launch week playbook confirmed.</a:t>
            </a:r>
            <a:endParaRPr lang="en-US" sz="950" dirty="0"/>
          </a:p>
        </p:txBody>
      </p:sp>
      <p:sp>
        <p:nvSpPr>
          <p:cNvPr id="21" name="Shape 19"/>
          <p:cNvSpPr/>
          <p:nvPr/>
        </p:nvSpPr>
        <p:spPr>
          <a:xfrm>
            <a:off x="6153912" y="1280160"/>
            <a:ext cx="219456" cy="219456"/>
          </a:xfrm>
          <a:prstGeom prst="ellipse">
            <a:avLst/>
          </a:prstGeom>
          <a:solidFill>
            <a:srgbClr val="0093D0"/>
          </a:solidFill>
          <a:ln w="12700">
            <a:solidFill>
              <a:srgbClr val="0093D0"/>
            </a:solidFill>
            <a:prstDash val="solid"/>
          </a:ln>
        </p:spPr>
        <p:txBody>
          <a:bodyPr/>
          <a:lstStyle/>
          <a:p>
            <a:endParaRPr lang="en-IN"/>
          </a:p>
        </p:txBody>
      </p:sp>
      <p:sp>
        <p:nvSpPr>
          <p:cNvPr id="22" name="Text 20"/>
          <p:cNvSpPr/>
          <p:nvPr/>
        </p:nvSpPr>
        <p:spPr>
          <a:xfrm>
            <a:off x="5760720" y="868680"/>
            <a:ext cx="1188720" cy="320040"/>
          </a:xfrm>
          <a:prstGeom prst="rect">
            <a:avLst/>
          </a:prstGeom>
          <a:noFill/>
          <a:ln/>
        </p:spPr>
        <p:txBody>
          <a:bodyPr wrap="square" lIns="0" tIns="0" rIns="0" bIns="0" rtlCol="0" anchor="ctr"/>
          <a:lstStyle/>
          <a:p>
            <a:pPr marL="0" indent="0" algn="ctr">
              <a:buNone/>
            </a:pPr>
            <a:r>
              <a:rPr lang="en-US" sz="800" b="1" dirty="0">
                <a:solidFill>
                  <a:srgbClr val="0093D0"/>
                </a:solidFill>
                <a:latin typeface="Calibri" pitchFamily="34" charset="0"/>
                <a:ea typeface="Calibri" pitchFamily="34" charset="-122"/>
                <a:cs typeface="Calibri" pitchFamily="34" charset="-120"/>
              </a:rPr>
              <a:t>DAY 0</a:t>
            </a:r>
            <a:endParaRPr lang="en-US" sz="800" dirty="0"/>
          </a:p>
        </p:txBody>
      </p:sp>
      <p:sp>
        <p:nvSpPr>
          <p:cNvPr id="23" name="Text 21"/>
          <p:cNvSpPr/>
          <p:nvPr/>
        </p:nvSpPr>
        <p:spPr>
          <a:xfrm>
            <a:off x="5715000" y="1627632"/>
            <a:ext cx="1280160" cy="292608"/>
          </a:xfrm>
          <a:prstGeom prst="rect">
            <a:avLst/>
          </a:prstGeom>
          <a:noFill/>
          <a:ln/>
        </p:spPr>
        <p:txBody>
          <a:bodyPr wrap="square" lIns="0" tIns="0" rIns="0" bIns="0" rtlCol="0" anchor="ctr"/>
          <a:lstStyle/>
          <a:p>
            <a:pPr marL="0" indent="0" algn="ctr">
              <a:buNone/>
            </a:pPr>
            <a:r>
              <a:rPr lang="en-US" sz="1100" b="1" dirty="0">
                <a:solidFill>
                  <a:srgbClr val="1E3A5F"/>
                </a:solidFill>
                <a:latin typeface="Georgia" pitchFamily="34" charset="0"/>
                <a:ea typeface="Georgia" pitchFamily="34" charset="-122"/>
                <a:cs typeface="Georgia" pitchFamily="34" charset="-120"/>
              </a:rPr>
              <a:t>FDA Approval</a:t>
            </a:r>
            <a:endParaRPr lang="en-US" sz="1100" dirty="0"/>
          </a:p>
        </p:txBody>
      </p:sp>
      <p:sp>
        <p:nvSpPr>
          <p:cNvPr id="24" name="Text 22"/>
          <p:cNvSpPr/>
          <p:nvPr/>
        </p:nvSpPr>
        <p:spPr>
          <a:xfrm>
            <a:off x="5696712" y="1975104"/>
            <a:ext cx="1325880" cy="1298448"/>
          </a:xfrm>
          <a:prstGeom prst="rect">
            <a:avLst/>
          </a:prstGeom>
          <a:noFill/>
          <a:ln/>
        </p:spPr>
        <p:txBody>
          <a:bodyPr wrap="square" lIns="0" tIns="0" rIns="0" bIns="0"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Press release. Branded website live. Sales force notification. Access team activated.</a:t>
            </a:r>
            <a:endParaRPr lang="en-US" sz="950" dirty="0"/>
          </a:p>
        </p:txBody>
      </p:sp>
      <p:sp>
        <p:nvSpPr>
          <p:cNvPr id="25" name="Shape 23"/>
          <p:cNvSpPr/>
          <p:nvPr/>
        </p:nvSpPr>
        <p:spPr>
          <a:xfrm>
            <a:off x="7571232" y="1280160"/>
            <a:ext cx="219456" cy="219456"/>
          </a:xfrm>
          <a:prstGeom prst="ellipse">
            <a:avLst/>
          </a:prstGeom>
          <a:solidFill>
            <a:srgbClr val="1A7A4A"/>
          </a:solidFill>
          <a:ln w="12700">
            <a:solidFill>
              <a:srgbClr val="1A7A4A"/>
            </a:solidFill>
            <a:prstDash val="solid"/>
          </a:ln>
        </p:spPr>
        <p:txBody>
          <a:bodyPr/>
          <a:lstStyle/>
          <a:p>
            <a:endParaRPr lang="en-IN"/>
          </a:p>
        </p:txBody>
      </p:sp>
      <p:sp>
        <p:nvSpPr>
          <p:cNvPr id="26" name="Text 24"/>
          <p:cNvSpPr/>
          <p:nvPr/>
        </p:nvSpPr>
        <p:spPr>
          <a:xfrm>
            <a:off x="7178040" y="868680"/>
            <a:ext cx="1188720" cy="320040"/>
          </a:xfrm>
          <a:prstGeom prst="rect">
            <a:avLst/>
          </a:prstGeom>
          <a:noFill/>
          <a:ln/>
        </p:spPr>
        <p:txBody>
          <a:bodyPr wrap="square" lIns="0" tIns="0" rIns="0" bIns="0" rtlCol="0" anchor="ctr"/>
          <a:lstStyle/>
          <a:p>
            <a:pPr marL="0" indent="0" algn="ctr">
              <a:buNone/>
            </a:pPr>
            <a:r>
              <a:rPr lang="en-US" sz="800" b="1" dirty="0">
                <a:solidFill>
                  <a:srgbClr val="1A7A4A"/>
                </a:solidFill>
                <a:latin typeface="Calibri" pitchFamily="34" charset="0"/>
                <a:ea typeface="Calibri" pitchFamily="34" charset="-122"/>
                <a:cs typeface="Calibri" pitchFamily="34" charset="-120"/>
              </a:rPr>
              <a:t>MONTH 6</a:t>
            </a:r>
            <a:endParaRPr lang="en-US" sz="800" dirty="0"/>
          </a:p>
        </p:txBody>
      </p:sp>
      <p:sp>
        <p:nvSpPr>
          <p:cNvPr id="27" name="Text 25"/>
          <p:cNvSpPr/>
          <p:nvPr/>
        </p:nvSpPr>
        <p:spPr>
          <a:xfrm>
            <a:off x="7132320" y="1627632"/>
            <a:ext cx="1280160" cy="292608"/>
          </a:xfrm>
          <a:prstGeom prst="rect">
            <a:avLst/>
          </a:prstGeom>
          <a:noFill/>
          <a:ln/>
        </p:spPr>
        <p:txBody>
          <a:bodyPr wrap="square" lIns="0" tIns="0" rIns="0" bIns="0" rtlCol="0" anchor="ctr"/>
          <a:lstStyle/>
          <a:p>
            <a:pPr marL="0" indent="0" algn="ctr">
              <a:buNone/>
            </a:pPr>
            <a:r>
              <a:rPr lang="en-US" sz="1100" b="1" dirty="0">
                <a:solidFill>
                  <a:srgbClr val="1E3A5F"/>
                </a:solidFill>
                <a:latin typeface="Georgia" pitchFamily="34" charset="0"/>
                <a:ea typeface="Georgia" pitchFamily="34" charset="-122"/>
                <a:cs typeface="Georgia" pitchFamily="34" charset="-120"/>
              </a:rPr>
              <a:t>Penetration Push</a:t>
            </a:r>
            <a:endParaRPr lang="en-US" sz="1100" dirty="0"/>
          </a:p>
        </p:txBody>
      </p:sp>
      <p:sp>
        <p:nvSpPr>
          <p:cNvPr id="28" name="Text 26"/>
          <p:cNvSpPr/>
          <p:nvPr/>
        </p:nvSpPr>
        <p:spPr>
          <a:xfrm>
            <a:off x="7114032" y="1975104"/>
            <a:ext cx="1325880" cy="1298448"/>
          </a:xfrm>
          <a:prstGeom prst="rect">
            <a:avLst/>
          </a:prstGeom>
          <a:noFill/>
          <a:ln/>
        </p:spPr>
        <p:txBody>
          <a:bodyPr wrap="square" lIns="0" tIns="0" rIns="0" bIns="0"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Community oncology expansion. First KPI review. Congress season investment.</a:t>
            </a:r>
            <a:endParaRPr lang="en-US" sz="950" dirty="0"/>
          </a:p>
        </p:txBody>
      </p:sp>
      <p:sp>
        <p:nvSpPr>
          <p:cNvPr id="29" name="Shape 27"/>
          <p:cNvSpPr/>
          <p:nvPr/>
        </p:nvSpPr>
        <p:spPr>
          <a:xfrm>
            <a:off x="502920" y="3401568"/>
            <a:ext cx="8138160" cy="18288"/>
          </a:xfrm>
          <a:prstGeom prst="rect">
            <a:avLst/>
          </a:prstGeom>
          <a:solidFill>
            <a:srgbClr val="E2E8F0"/>
          </a:solidFill>
          <a:ln w="12700">
            <a:solidFill>
              <a:srgbClr val="E2E8F0"/>
            </a:solidFill>
            <a:prstDash val="solid"/>
          </a:ln>
        </p:spPr>
        <p:txBody>
          <a:bodyPr/>
          <a:lstStyle/>
          <a:p>
            <a:endParaRPr lang="en-IN"/>
          </a:p>
        </p:txBody>
      </p:sp>
      <p:sp>
        <p:nvSpPr>
          <p:cNvPr id="30" name="Text 28"/>
          <p:cNvSpPr/>
          <p:nvPr/>
        </p:nvSpPr>
        <p:spPr>
          <a:xfrm>
            <a:off x="502920" y="3520440"/>
            <a:ext cx="8229600" cy="1417320"/>
          </a:xfrm>
          <a:prstGeom prst="rect">
            <a:avLst/>
          </a:prstGeom>
          <a:noFill/>
          <a:ln/>
        </p:spPr>
        <p:txBody>
          <a:bodyPr wrap="square" rtlCol="0" anchor="ctr"/>
          <a:lstStyle/>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Phase 1 (M1-M3): Academic center formulary push. Segment A KOL detailing. Speaker bureau launch in priority geographies.</a:t>
            </a:r>
            <a:endParaRPr lang="en-US" sz="1050" dirty="0"/>
          </a:p>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Phase 2 (M4-M6): Community oncology expansion. Digital campaigns to Segments B and C. First commercial KPI review.</a:t>
            </a:r>
            <a:endParaRPr lang="en-US" sz="1050" dirty="0"/>
          </a:p>
          <a:p>
            <a:pPr marL="342900" indent="-342900">
              <a:buSzPct val="100000"/>
              <a:buChar char="•"/>
            </a:pPr>
            <a:r>
              <a:rPr lang="en-US" sz="1050" dirty="0">
                <a:solidFill>
                  <a:srgbClr val="1E3A5F"/>
                </a:solidFill>
                <a:latin typeface="Calibri" pitchFamily="34" charset="0"/>
                <a:ea typeface="Calibri" pitchFamily="34" charset="-122"/>
                <a:cs typeface="Calibri" pitchFamily="34" charset="-120"/>
              </a:rPr>
              <a:t>Phase 3 (M7-M12): Congress season investment. Updated data dissemination. Community standard-of-care conversion.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07 / LAUNCH PLAN</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Promotional Channel Plan and Budget Allocation</a:t>
            </a:r>
            <a:endParaRPr lang="en-US" sz="2300" dirty="0"/>
          </a:p>
        </p:txBody>
      </p:sp>
      <p:sp>
        <p:nvSpPr>
          <p:cNvPr id="4" name="Text 2"/>
          <p:cNvSpPr/>
          <p:nvPr/>
        </p:nvSpPr>
        <p:spPr>
          <a:xfrm>
            <a:off x="457200" y="1389888"/>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Personal Promotion (Field Force)</a:t>
            </a:r>
            <a:endParaRPr lang="en-US" sz="1050" dirty="0"/>
          </a:p>
        </p:txBody>
      </p:sp>
      <p:sp>
        <p:nvSpPr>
          <p:cNvPr id="5" name="Text 3"/>
          <p:cNvSpPr/>
          <p:nvPr/>
        </p:nvSpPr>
        <p:spPr>
          <a:xfrm>
            <a:off x="457200" y="1645920"/>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Highest ROI channel. Specialty reps for Segments A/B. National accounts for IDN formulary.</a:t>
            </a:r>
            <a:endParaRPr lang="en-US" sz="850" dirty="0"/>
          </a:p>
        </p:txBody>
      </p:sp>
      <p:sp>
        <p:nvSpPr>
          <p:cNvPr id="6" name="Shape 4"/>
          <p:cNvSpPr/>
          <p:nvPr/>
        </p:nvSpPr>
        <p:spPr>
          <a:xfrm>
            <a:off x="3520440" y="1435608"/>
            <a:ext cx="2080260" cy="274320"/>
          </a:xfrm>
          <a:prstGeom prst="rect">
            <a:avLst/>
          </a:prstGeom>
          <a:solidFill>
            <a:srgbClr val="012C5E"/>
          </a:solidFill>
          <a:ln w="12700">
            <a:solidFill>
              <a:srgbClr val="012C5E"/>
            </a:solidFill>
            <a:prstDash val="solid"/>
          </a:ln>
        </p:spPr>
        <p:txBody>
          <a:bodyPr/>
          <a:lstStyle/>
          <a:p>
            <a:endParaRPr lang="en-IN"/>
          </a:p>
        </p:txBody>
      </p:sp>
      <p:sp>
        <p:nvSpPr>
          <p:cNvPr id="7" name="Text 5"/>
          <p:cNvSpPr/>
          <p:nvPr/>
        </p:nvSpPr>
        <p:spPr>
          <a:xfrm>
            <a:off x="5673852" y="1389888"/>
            <a:ext cx="548640" cy="365760"/>
          </a:xfrm>
          <a:prstGeom prst="rect">
            <a:avLst/>
          </a:prstGeom>
          <a:noFill/>
          <a:ln/>
        </p:spPr>
        <p:txBody>
          <a:bodyPr wrap="square" lIns="0" tIns="0" rIns="0" bIns="0" rtlCol="0" anchor="ctr"/>
          <a:lstStyle/>
          <a:p>
            <a:pPr marL="0" indent="0">
              <a:buNone/>
            </a:pPr>
            <a:r>
              <a:rPr lang="en-US" sz="1200" b="1" dirty="0">
                <a:solidFill>
                  <a:srgbClr val="012C5E"/>
                </a:solidFill>
                <a:latin typeface="Georgia" pitchFamily="34" charset="0"/>
                <a:ea typeface="Georgia" pitchFamily="34" charset="-122"/>
                <a:cs typeface="Georgia" pitchFamily="34" charset="-120"/>
              </a:rPr>
              <a:t>35%</a:t>
            </a:r>
            <a:endParaRPr lang="en-US" sz="1200" dirty="0"/>
          </a:p>
        </p:txBody>
      </p:sp>
      <p:sp>
        <p:nvSpPr>
          <p:cNvPr id="8" name="Text 6"/>
          <p:cNvSpPr/>
          <p:nvPr/>
        </p:nvSpPr>
        <p:spPr>
          <a:xfrm>
            <a:off x="457200" y="1901952"/>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Market Access Team</a:t>
            </a:r>
            <a:endParaRPr lang="en-US" sz="1050" dirty="0"/>
          </a:p>
        </p:txBody>
      </p:sp>
      <p:sp>
        <p:nvSpPr>
          <p:cNvPr id="9" name="Text 7"/>
          <p:cNvSpPr/>
          <p:nvPr/>
        </p:nvSpPr>
        <p:spPr>
          <a:xfrm>
            <a:off x="457200" y="2157984"/>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Formulary submissions, PA support service, patient assistance enrollment.</a:t>
            </a:r>
            <a:endParaRPr lang="en-US" sz="850" dirty="0"/>
          </a:p>
        </p:txBody>
      </p:sp>
      <p:sp>
        <p:nvSpPr>
          <p:cNvPr id="10" name="Shape 8"/>
          <p:cNvSpPr/>
          <p:nvPr/>
        </p:nvSpPr>
        <p:spPr>
          <a:xfrm>
            <a:off x="3520440" y="1947672"/>
            <a:ext cx="1188720" cy="274320"/>
          </a:xfrm>
          <a:prstGeom prst="rect">
            <a:avLst/>
          </a:prstGeom>
          <a:solidFill>
            <a:srgbClr val="006BA6"/>
          </a:solidFill>
          <a:ln w="12700">
            <a:solidFill>
              <a:srgbClr val="006BA6"/>
            </a:solidFill>
            <a:prstDash val="solid"/>
          </a:ln>
        </p:spPr>
        <p:txBody>
          <a:bodyPr/>
          <a:lstStyle/>
          <a:p>
            <a:endParaRPr lang="en-IN"/>
          </a:p>
        </p:txBody>
      </p:sp>
      <p:sp>
        <p:nvSpPr>
          <p:cNvPr id="11" name="Text 9"/>
          <p:cNvSpPr/>
          <p:nvPr/>
        </p:nvSpPr>
        <p:spPr>
          <a:xfrm>
            <a:off x="4782312" y="1901952"/>
            <a:ext cx="548640" cy="365760"/>
          </a:xfrm>
          <a:prstGeom prst="rect">
            <a:avLst/>
          </a:prstGeom>
          <a:noFill/>
          <a:ln/>
        </p:spPr>
        <p:txBody>
          <a:bodyPr wrap="square" lIns="0" tIns="0" rIns="0" bIns="0" rtlCol="0" anchor="ctr"/>
          <a:lstStyle/>
          <a:p>
            <a:pPr marL="0" indent="0">
              <a:buNone/>
            </a:pPr>
            <a:r>
              <a:rPr lang="en-US" sz="1200" b="1" dirty="0">
                <a:solidFill>
                  <a:srgbClr val="006BA6"/>
                </a:solidFill>
                <a:latin typeface="Georgia" pitchFamily="34" charset="0"/>
                <a:ea typeface="Georgia" pitchFamily="34" charset="-122"/>
                <a:cs typeface="Georgia" pitchFamily="34" charset="-120"/>
              </a:rPr>
              <a:t>20%</a:t>
            </a:r>
            <a:endParaRPr lang="en-US" sz="1200" dirty="0"/>
          </a:p>
        </p:txBody>
      </p:sp>
      <p:sp>
        <p:nvSpPr>
          <p:cNvPr id="12" name="Text 10"/>
          <p:cNvSpPr/>
          <p:nvPr/>
        </p:nvSpPr>
        <p:spPr>
          <a:xfrm>
            <a:off x="457200" y="2414016"/>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Medical Education + Speaker Bureau</a:t>
            </a:r>
            <a:endParaRPr lang="en-US" sz="1050" dirty="0"/>
          </a:p>
        </p:txBody>
      </p:sp>
      <p:sp>
        <p:nvSpPr>
          <p:cNvPr id="13" name="Text 11"/>
          <p:cNvSpPr/>
          <p:nvPr/>
        </p:nvSpPr>
        <p:spPr>
          <a:xfrm>
            <a:off x="457200" y="2670048"/>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Peer-to-peer KOL programs. Most effective behavior change mechanism in oncology.</a:t>
            </a:r>
            <a:endParaRPr lang="en-US" sz="850" dirty="0"/>
          </a:p>
        </p:txBody>
      </p:sp>
      <p:sp>
        <p:nvSpPr>
          <p:cNvPr id="14" name="Shape 12"/>
          <p:cNvSpPr/>
          <p:nvPr/>
        </p:nvSpPr>
        <p:spPr>
          <a:xfrm>
            <a:off x="3520440" y="2459736"/>
            <a:ext cx="891540" cy="274320"/>
          </a:xfrm>
          <a:prstGeom prst="rect">
            <a:avLst/>
          </a:prstGeom>
          <a:solidFill>
            <a:srgbClr val="0093D0"/>
          </a:solidFill>
          <a:ln w="12700">
            <a:solidFill>
              <a:srgbClr val="0093D0"/>
            </a:solidFill>
            <a:prstDash val="solid"/>
          </a:ln>
        </p:spPr>
        <p:txBody>
          <a:bodyPr/>
          <a:lstStyle/>
          <a:p>
            <a:endParaRPr lang="en-IN"/>
          </a:p>
        </p:txBody>
      </p:sp>
      <p:sp>
        <p:nvSpPr>
          <p:cNvPr id="15" name="Text 13"/>
          <p:cNvSpPr/>
          <p:nvPr/>
        </p:nvSpPr>
        <p:spPr>
          <a:xfrm>
            <a:off x="4485132" y="2414016"/>
            <a:ext cx="548640" cy="365760"/>
          </a:xfrm>
          <a:prstGeom prst="rect">
            <a:avLst/>
          </a:prstGeom>
          <a:noFill/>
          <a:ln/>
        </p:spPr>
        <p:txBody>
          <a:bodyPr wrap="square" lIns="0" tIns="0" rIns="0" bIns="0" rtlCol="0" anchor="ctr"/>
          <a:lstStyle/>
          <a:p>
            <a:pPr marL="0" indent="0">
              <a:buNone/>
            </a:pPr>
            <a:r>
              <a:rPr lang="en-US" sz="1200" b="1" dirty="0">
                <a:solidFill>
                  <a:srgbClr val="0093D0"/>
                </a:solidFill>
                <a:latin typeface="Georgia" pitchFamily="34" charset="0"/>
                <a:ea typeface="Georgia" pitchFamily="34" charset="-122"/>
                <a:cs typeface="Georgia" pitchFamily="34" charset="-120"/>
              </a:rPr>
              <a:t>15%</a:t>
            </a:r>
            <a:endParaRPr lang="en-US" sz="1200" dirty="0"/>
          </a:p>
        </p:txBody>
      </p:sp>
      <p:sp>
        <p:nvSpPr>
          <p:cNvPr id="16" name="Text 14"/>
          <p:cNvSpPr/>
          <p:nvPr/>
        </p:nvSpPr>
        <p:spPr>
          <a:xfrm>
            <a:off x="457200" y="2926080"/>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Digital HCP Advertising</a:t>
            </a:r>
            <a:endParaRPr lang="en-US" sz="1050" dirty="0"/>
          </a:p>
        </p:txBody>
      </p:sp>
      <p:sp>
        <p:nvSpPr>
          <p:cNvPr id="17" name="Text 15"/>
          <p:cNvSpPr/>
          <p:nvPr/>
        </p:nvSpPr>
        <p:spPr>
          <a:xfrm>
            <a:off x="457200" y="3182112"/>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Doceree, Epocrates, Healio. Efficient reach for Segments B and C prescribers.</a:t>
            </a:r>
            <a:endParaRPr lang="en-US" sz="850" dirty="0"/>
          </a:p>
        </p:txBody>
      </p:sp>
      <p:sp>
        <p:nvSpPr>
          <p:cNvPr id="18" name="Shape 16"/>
          <p:cNvSpPr/>
          <p:nvPr/>
        </p:nvSpPr>
        <p:spPr>
          <a:xfrm>
            <a:off x="3520440" y="2971800"/>
            <a:ext cx="713232" cy="274320"/>
          </a:xfrm>
          <a:prstGeom prst="rect">
            <a:avLst/>
          </a:prstGeom>
          <a:solidFill>
            <a:srgbClr val="3B82F6"/>
          </a:solidFill>
          <a:ln w="12700">
            <a:solidFill>
              <a:srgbClr val="3B82F6"/>
            </a:solidFill>
            <a:prstDash val="solid"/>
          </a:ln>
        </p:spPr>
        <p:txBody>
          <a:bodyPr/>
          <a:lstStyle/>
          <a:p>
            <a:endParaRPr lang="en-IN"/>
          </a:p>
        </p:txBody>
      </p:sp>
      <p:sp>
        <p:nvSpPr>
          <p:cNvPr id="19" name="Text 17"/>
          <p:cNvSpPr/>
          <p:nvPr/>
        </p:nvSpPr>
        <p:spPr>
          <a:xfrm>
            <a:off x="4306824" y="2926080"/>
            <a:ext cx="548640" cy="365760"/>
          </a:xfrm>
          <a:prstGeom prst="rect">
            <a:avLst/>
          </a:prstGeom>
          <a:noFill/>
          <a:ln/>
        </p:spPr>
        <p:txBody>
          <a:bodyPr wrap="square" lIns="0" tIns="0" rIns="0" bIns="0" rtlCol="0" anchor="ctr"/>
          <a:lstStyle/>
          <a:p>
            <a:pPr marL="0" indent="0">
              <a:buNone/>
            </a:pPr>
            <a:r>
              <a:rPr lang="en-US" sz="1200" b="1" dirty="0">
                <a:solidFill>
                  <a:srgbClr val="3B82F6"/>
                </a:solidFill>
                <a:latin typeface="Georgia" pitchFamily="34" charset="0"/>
                <a:ea typeface="Georgia" pitchFamily="34" charset="-122"/>
                <a:cs typeface="Georgia" pitchFamily="34" charset="-120"/>
              </a:rPr>
              <a:t>12%</a:t>
            </a:r>
            <a:endParaRPr lang="en-US" sz="1200" dirty="0"/>
          </a:p>
        </p:txBody>
      </p:sp>
      <p:sp>
        <p:nvSpPr>
          <p:cNvPr id="20" name="Text 18"/>
          <p:cNvSpPr/>
          <p:nvPr/>
        </p:nvSpPr>
        <p:spPr>
          <a:xfrm>
            <a:off x="457200" y="3438144"/>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Congress Presence + Satellite Symposia</a:t>
            </a:r>
            <a:endParaRPr lang="en-US" sz="1050" dirty="0"/>
          </a:p>
        </p:txBody>
      </p:sp>
      <p:sp>
        <p:nvSpPr>
          <p:cNvPr id="21" name="Text 19"/>
          <p:cNvSpPr/>
          <p:nvPr/>
        </p:nvSpPr>
        <p:spPr>
          <a:xfrm>
            <a:off x="457200" y="3694176"/>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ASCO, ESMO, AUA, SUO. Credibility, visibility, and EV-302 data dissemination.</a:t>
            </a:r>
            <a:endParaRPr lang="en-US" sz="850" dirty="0"/>
          </a:p>
        </p:txBody>
      </p:sp>
      <p:sp>
        <p:nvSpPr>
          <p:cNvPr id="22" name="Shape 20"/>
          <p:cNvSpPr/>
          <p:nvPr/>
        </p:nvSpPr>
        <p:spPr>
          <a:xfrm>
            <a:off x="3520440" y="3483864"/>
            <a:ext cx="475488" cy="274320"/>
          </a:xfrm>
          <a:prstGeom prst="rect">
            <a:avLst/>
          </a:prstGeom>
          <a:solidFill>
            <a:srgbClr val="475569"/>
          </a:solidFill>
          <a:ln w="12700">
            <a:solidFill>
              <a:srgbClr val="475569"/>
            </a:solidFill>
            <a:prstDash val="solid"/>
          </a:ln>
        </p:spPr>
        <p:txBody>
          <a:bodyPr/>
          <a:lstStyle/>
          <a:p>
            <a:endParaRPr lang="en-IN"/>
          </a:p>
        </p:txBody>
      </p:sp>
      <p:sp>
        <p:nvSpPr>
          <p:cNvPr id="23" name="Text 21"/>
          <p:cNvSpPr/>
          <p:nvPr/>
        </p:nvSpPr>
        <p:spPr>
          <a:xfrm>
            <a:off x="4069080" y="3438144"/>
            <a:ext cx="548640" cy="365760"/>
          </a:xfrm>
          <a:prstGeom prst="rect">
            <a:avLst/>
          </a:prstGeom>
          <a:noFill/>
          <a:ln/>
        </p:spPr>
        <p:txBody>
          <a:bodyPr wrap="square" lIns="0" tIns="0" rIns="0" bIns="0" rtlCol="0" anchor="ctr"/>
          <a:lstStyle/>
          <a:p>
            <a:pPr marL="0" indent="0">
              <a:buNone/>
            </a:pPr>
            <a:r>
              <a:rPr lang="en-US" sz="1200" b="1" dirty="0">
                <a:solidFill>
                  <a:srgbClr val="475569"/>
                </a:solidFill>
                <a:latin typeface="Georgia" pitchFamily="34" charset="0"/>
                <a:ea typeface="Georgia" pitchFamily="34" charset="-122"/>
                <a:cs typeface="Georgia" pitchFamily="34" charset="-120"/>
              </a:rPr>
              <a:t>8%</a:t>
            </a:r>
            <a:endParaRPr lang="en-US" sz="1200" dirty="0"/>
          </a:p>
        </p:txBody>
      </p:sp>
      <p:sp>
        <p:nvSpPr>
          <p:cNvPr id="24" name="Text 22"/>
          <p:cNvSpPr/>
          <p:nvPr/>
        </p:nvSpPr>
        <p:spPr>
          <a:xfrm>
            <a:off x="457200" y="3950208"/>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Patient Support Programs</a:t>
            </a:r>
            <a:endParaRPr lang="en-US" sz="1050" dirty="0"/>
          </a:p>
        </p:txBody>
      </p:sp>
      <p:sp>
        <p:nvSpPr>
          <p:cNvPr id="25" name="Text 23"/>
          <p:cNvSpPr/>
          <p:nvPr/>
        </p:nvSpPr>
        <p:spPr>
          <a:xfrm>
            <a:off x="457200" y="4206240"/>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Co-pay support, patient navigation, BCAN partnership.</a:t>
            </a:r>
            <a:endParaRPr lang="en-US" sz="850" dirty="0"/>
          </a:p>
        </p:txBody>
      </p:sp>
      <p:sp>
        <p:nvSpPr>
          <p:cNvPr id="26" name="Shape 24"/>
          <p:cNvSpPr/>
          <p:nvPr/>
        </p:nvSpPr>
        <p:spPr>
          <a:xfrm>
            <a:off x="3520440" y="3995928"/>
            <a:ext cx="356616" cy="274320"/>
          </a:xfrm>
          <a:prstGeom prst="rect">
            <a:avLst/>
          </a:prstGeom>
          <a:solidFill>
            <a:srgbClr val="1A7A4A"/>
          </a:solidFill>
          <a:ln w="12700">
            <a:solidFill>
              <a:srgbClr val="1A7A4A"/>
            </a:solidFill>
            <a:prstDash val="solid"/>
          </a:ln>
        </p:spPr>
        <p:txBody>
          <a:bodyPr/>
          <a:lstStyle/>
          <a:p>
            <a:endParaRPr lang="en-IN"/>
          </a:p>
        </p:txBody>
      </p:sp>
      <p:sp>
        <p:nvSpPr>
          <p:cNvPr id="27" name="Text 25"/>
          <p:cNvSpPr/>
          <p:nvPr/>
        </p:nvSpPr>
        <p:spPr>
          <a:xfrm>
            <a:off x="3950208" y="3950208"/>
            <a:ext cx="548640" cy="365760"/>
          </a:xfrm>
          <a:prstGeom prst="rect">
            <a:avLst/>
          </a:prstGeom>
          <a:noFill/>
          <a:ln/>
        </p:spPr>
        <p:txBody>
          <a:bodyPr wrap="square" lIns="0" tIns="0" rIns="0" bIns="0" rtlCol="0" anchor="ctr"/>
          <a:lstStyle/>
          <a:p>
            <a:pPr marL="0" indent="0">
              <a:buNone/>
            </a:pPr>
            <a:r>
              <a:rPr lang="en-US" sz="1200" b="1" dirty="0">
                <a:solidFill>
                  <a:srgbClr val="1A7A4A"/>
                </a:solidFill>
                <a:latin typeface="Georgia" pitchFamily="34" charset="0"/>
                <a:ea typeface="Georgia" pitchFamily="34" charset="-122"/>
                <a:cs typeface="Georgia" pitchFamily="34" charset="-120"/>
              </a:rPr>
              <a:t>6%</a:t>
            </a:r>
            <a:endParaRPr lang="en-US" sz="1200" dirty="0"/>
          </a:p>
        </p:txBody>
      </p:sp>
      <p:sp>
        <p:nvSpPr>
          <p:cNvPr id="28" name="Text 26"/>
          <p:cNvSpPr/>
          <p:nvPr/>
        </p:nvSpPr>
        <p:spPr>
          <a:xfrm>
            <a:off x="457200" y="4462272"/>
            <a:ext cx="2926080" cy="256032"/>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Journal Advertising and Print</a:t>
            </a:r>
            <a:endParaRPr lang="en-US" sz="1050" dirty="0"/>
          </a:p>
        </p:txBody>
      </p:sp>
      <p:sp>
        <p:nvSpPr>
          <p:cNvPr id="29" name="Text 27"/>
          <p:cNvSpPr/>
          <p:nvPr/>
        </p:nvSpPr>
        <p:spPr>
          <a:xfrm>
            <a:off x="457200" y="4718304"/>
            <a:ext cx="292608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JCO, Lancet Oncology, European Urology, Cancer.</a:t>
            </a:r>
            <a:endParaRPr lang="en-US" sz="850" dirty="0"/>
          </a:p>
        </p:txBody>
      </p:sp>
      <p:sp>
        <p:nvSpPr>
          <p:cNvPr id="30" name="Shape 28"/>
          <p:cNvSpPr/>
          <p:nvPr/>
        </p:nvSpPr>
        <p:spPr>
          <a:xfrm>
            <a:off x="3520440" y="4507992"/>
            <a:ext cx="237744" cy="274320"/>
          </a:xfrm>
          <a:prstGeom prst="rect">
            <a:avLst/>
          </a:prstGeom>
          <a:solidFill>
            <a:srgbClr val="94A3B8"/>
          </a:solidFill>
          <a:ln w="12700">
            <a:solidFill>
              <a:srgbClr val="94A3B8"/>
            </a:solidFill>
            <a:prstDash val="solid"/>
          </a:ln>
        </p:spPr>
        <p:txBody>
          <a:bodyPr/>
          <a:lstStyle/>
          <a:p>
            <a:endParaRPr lang="en-IN"/>
          </a:p>
        </p:txBody>
      </p:sp>
      <p:sp>
        <p:nvSpPr>
          <p:cNvPr id="31" name="Text 29"/>
          <p:cNvSpPr/>
          <p:nvPr/>
        </p:nvSpPr>
        <p:spPr>
          <a:xfrm>
            <a:off x="3831336" y="4462272"/>
            <a:ext cx="548640" cy="365760"/>
          </a:xfrm>
          <a:prstGeom prst="rect">
            <a:avLst/>
          </a:prstGeom>
          <a:noFill/>
          <a:ln/>
        </p:spPr>
        <p:txBody>
          <a:bodyPr wrap="square" lIns="0" tIns="0" rIns="0" bIns="0" rtlCol="0" anchor="ctr"/>
          <a:lstStyle/>
          <a:p>
            <a:pPr marL="0" indent="0">
              <a:buNone/>
            </a:pPr>
            <a:r>
              <a:rPr lang="en-US" sz="1200" b="1" dirty="0">
                <a:solidFill>
                  <a:srgbClr val="94A3B8"/>
                </a:solidFill>
                <a:latin typeface="Georgia" pitchFamily="34" charset="0"/>
                <a:ea typeface="Georgia" pitchFamily="34" charset="-122"/>
                <a:cs typeface="Georgia" pitchFamily="34" charset="-120"/>
              </a:rPr>
              <a:t>4%</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07 / LAUNCH PLAN</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Commercial KPIs: What Success Looks Like at Month 3, 6, and 12</a:t>
            </a:r>
            <a:endParaRPr lang="en-US" sz="2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75320" cy="3511296"/>
        </p:xfrm>
        <a:graphic>
          <a:graphicData uri="http://schemas.openxmlformats.org/drawingml/2006/table">
            <a:tbl>
              <a:tblPr/>
              <a:tblGrid>
                <a:gridCol w="18288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3891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KPI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Definition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Month 3 Target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Month 6 Target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Month 12 Target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12C5E"/>
                    </a:solidFill>
                  </a:tcPr>
                </a:tc>
                <a:extLst>
                  <a:ext uri="{0D108BD9-81ED-4DB2-BD59-A6C34878D82A}">
                    <a16:rowId xmlns:a16="http://schemas.microsoft.com/office/drawing/2014/main" val="10000"/>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NBRx (New-to-Brand Rx)</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New patient starts on Padcev 1L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150/month</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350/month</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600/month</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1L Market Share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 of eligible new patient starts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Formulary Coverage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 covered lives with favorable status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Time to Treatment Start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Days: prescription to first infusion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Less than 10 days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Less than 7 days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Less than 5 days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PA Denial Rate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 of PA submissions resulting in final denial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Less than 15%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Less than 12%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Less than 10%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Top 100 IDN Formulary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 with Padcev on hospital formulary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Unaided Brand Awareness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 target prescribers aware of 1L approval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480060" y="4942684"/>
            <a:ext cx="8275320" cy="146304"/>
          </a:xfrm>
          <a:prstGeom prst="rect">
            <a:avLst/>
          </a:prstGeom>
          <a:noFill/>
          <a:ln/>
        </p:spPr>
        <p:txBody>
          <a:bodyPr wrap="square" lIns="0" tIns="0" rIns="0" bIns="0" rtlCol="0" anchor="ctr"/>
          <a:lstStyle/>
          <a:p>
            <a:pPr marL="0" indent="0">
              <a:buNone/>
            </a:pPr>
            <a:r>
              <a:rPr lang="en-US" sz="950" i="1" dirty="0">
                <a:solidFill>
                  <a:srgbClr val="006BA6"/>
                </a:solidFill>
                <a:latin typeface="Calibri" pitchFamily="34" charset="0"/>
                <a:ea typeface="Calibri" pitchFamily="34" charset="-122"/>
                <a:cs typeface="Calibri" pitchFamily="34" charset="-120"/>
              </a:rPr>
              <a:t>Single overarching success metric: within 12 months of approval, does EV plus pembrolizumab become the standard of care for 1L la/mUC as reflected in prescribing data, NCCN guideline listing, and oncologist survey research?</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01168"/>
          </a:xfrm>
          <a:prstGeom prst="rect">
            <a:avLst/>
          </a:prstGeom>
          <a:noFill/>
          <a:ln/>
        </p:spPr>
        <p:txBody>
          <a:bodyPr wrap="square" lIns="0" tIns="0" rIns="0" bIns="0" rtlCol="0" anchor="ctr"/>
          <a:lstStyle/>
          <a:p>
            <a:pPr marL="0" indent="0">
              <a:buNone/>
            </a:pPr>
            <a:r>
              <a:rPr lang="en-US" sz="850" b="1" kern="0" spc="300" dirty="0">
                <a:solidFill>
                  <a:srgbClr val="0093D0"/>
                </a:solidFill>
                <a:latin typeface="Calibri" pitchFamily="34" charset="0"/>
                <a:ea typeface="Calibri" pitchFamily="34" charset="-122"/>
                <a:cs typeface="Calibri" pitchFamily="34" charset="-120"/>
              </a:rPr>
              <a:t>STRATEGIC SUMMARY</a:t>
            </a:r>
            <a:endParaRPr lang="en-US" sz="850" dirty="0"/>
          </a:p>
        </p:txBody>
      </p:sp>
      <p:sp>
        <p:nvSpPr>
          <p:cNvPr id="3" name="Text 1"/>
          <p:cNvSpPr/>
          <p:nvPr/>
        </p:nvSpPr>
        <p:spPr>
          <a:xfrm>
            <a:off x="502920" y="530352"/>
            <a:ext cx="8229600" cy="685800"/>
          </a:xfrm>
          <a:prstGeom prst="rect">
            <a:avLst/>
          </a:prstGeom>
          <a:noFill/>
          <a:ln/>
        </p:spPr>
        <p:txBody>
          <a:bodyPr wrap="square" lIns="0" tIns="0" rIns="0" bIns="0" rtlCol="0" anchor="ctr"/>
          <a:lstStyle/>
          <a:p>
            <a:pPr marL="0" indent="0">
              <a:buNone/>
            </a:pPr>
            <a:r>
              <a:rPr lang="en-US" sz="2300" b="1" dirty="0">
                <a:solidFill>
                  <a:srgbClr val="1E3A5F"/>
                </a:solidFill>
                <a:latin typeface="Georgia" pitchFamily="34" charset="0"/>
                <a:ea typeface="Georgia" pitchFamily="34" charset="-122"/>
                <a:cs typeface="Georgia" pitchFamily="34" charset="-120"/>
              </a:rPr>
              <a:t>The Four Tensions This Launch Must Resolve</a:t>
            </a:r>
            <a:endParaRPr lang="en-US" sz="2300" dirty="0"/>
          </a:p>
        </p:txBody>
      </p:sp>
      <p:sp>
        <p:nvSpPr>
          <p:cNvPr id="4" name="Shape 2"/>
          <p:cNvSpPr/>
          <p:nvPr/>
        </p:nvSpPr>
        <p:spPr>
          <a:xfrm>
            <a:off x="457200" y="1389888"/>
            <a:ext cx="4187952" cy="1691640"/>
          </a:xfrm>
          <a:prstGeom prst="rect">
            <a:avLst/>
          </a:prstGeom>
          <a:solidFill>
            <a:srgbClr val="F8FAFC"/>
          </a:solidFill>
          <a:ln w="6350">
            <a:solidFill>
              <a:srgbClr val="E2E8F0"/>
            </a:solidFill>
            <a:prstDash val="solid"/>
          </a:ln>
        </p:spPr>
        <p:txBody>
          <a:bodyPr/>
          <a:lstStyle/>
          <a:p>
            <a:endParaRPr lang="en-IN"/>
          </a:p>
        </p:txBody>
      </p:sp>
      <p:sp>
        <p:nvSpPr>
          <p:cNvPr id="5" name="Shape 3"/>
          <p:cNvSpPr/>
          <p:nvPr/>
        </p:nvSpPr>
        <p:spPr>
          <a:xfrm>
            <a:off x="457200" y="1389888"/>
            <a:ext cx="54864" cy="1691640"/>
          </a:xfrm>
          <a:prstGeom prst="rect">
            <a:avLst/>
          </a:prstGeom>
          <a:solidFill>
            <a:srgbClr val="B45309"/>
          </a:solidFill>
          <a:ln w="12700">
            <a:solidFill>
              <a:srgbClr val="B45309"/>
            </a:solidFill>
            <a:prstDash val="solid"/>
          </a:ln>
        </p:spPr>
        <p:txBody>
          <a:bodyPr/>
          <a:lstStyle/>
          <a:p>
            <a:endParaRPr lang="en-IN"/>
          </a:p>
        </p:txBody>
      </p:sp>
      <p:sp>
        <p:nvSpPr>
          <p:cNvPr id="6" name="Shape 4"/>
          <p:cNvSpPr/>
          <p:nvPr/>
        </p:nvSpPr>
        <p:spPr>
          <a:xfrm>
            <a:off x="621792" y="1499616"/>
            <a:ext cx="347472" cy="256032"/>
          </a:xfrm>
          <a:prstGeom prst="rect">
            <a:avLst/>
          </a:prstGeom>
          <a:solidFill>
            <a:srgbClr val="B45309"/>
          </a:solidFill>
          <a:ln w="12700">
            <a:solidFill>
              <a:srgbClr val="B45309"/>
            </a:solidFill>
            <a:prstDash val="solid"/>
          </a:ln>
        </p:spPr>
        <p:txBody>
          <a:bodyPr/>
          <a:lstStyle/>
          <a:p>
            <a:endParaRPr lang="en-IN"/>
          </a:p>
        </p:txBody>
      </p:sp>
      <p:sp>
        <p:nvSpPr>
          <p:cNvPr id="7" name="Text 5"/>
          <p:cNvSpPr/>
          <p:nvPr/>
        </p:nvSpPr>
        <p:spPr>
          <a:xfrm>
            <a:off x="621792" y="1499616"/>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T1</a:t>
            </a:r>
            <a:endParaRPr lang="en-US" sz="900" dirty="0"/>
          </a:p>
        </p:txBody>
      </p:sp>
      <p:sp>
        <p:nvSpPr>
          <p:cNvPr id="8" name="Text 6"/>
          <p:cNvSpPr/>
          <p:nvPr/>
        </p:nvSpPr>
        <p:spPr>
          <a:xfrm>
            <a:off x="1097280" y="1481328"/>
            <a:ext cx="3383280" cy="411480"/>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Your partner is also your competitor</a:t>
            </a:r>
            <a:endParaRPr lang="en-US" sz="1200" dirty="0"/>
          </a:p>
        </p:txBody>
      </p:sp>
      <p:sp>
        <p:nvSpPr>
          <p:cNvPr id="9" name="Text 7"/>
          <p:cNvSpPr/>
          <p:nvPr/>
        </p:nvSpPr>
        <p:spPr>
          <a:xfrm>
            <a:off x="621792" y="1984248"/>
            <a:ext cx="3822192" cy="10058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Keytruda is Padcev's combination partner and the incumbent drug oncologists already use. Who captures the prescribing frame — 'Padcev with Keytruda' or 'Keytruda with Padcev' — determines long-term brand equity for both companies.</a:t>
            </a:r>
            <a:endParaRPr lang="en-US" sz="1050" dirty="0"/>
          </a:p>
        </p:txBody>
      </p:sp>
      <p:sp>
        <p:nvSpPr>
          <p:cNvPr id="10" name="Shape 8"/>
          <p:cNvSpPr/>
          <p:nvPr/>
        </p:nvSpPr>
        <p:spPr>
          <a:xfrm>
            <a:off x="4828032" y="1389888"/>
            <a:ext cx="4187952" cy="1691640"/>
          </a:xfrm>
          <a:prstGeom prst="rect">
            <a:avLst/>
          </a:prstGeom>
          <a:solidFill>
            <a:srgbClr val="F8FAFC"/>
          </a:solidFill>
          <a:ln w="6350">
            <a:solidFill>
              <a:srgbClr val="E2E8F0"/>
            </a:solidFill>
            <a:prstDash val="solid"/>
          </a:ln>
        </p:spPr>
        <p:txBody>
          <a:bodyPr/>
          <a:lstStyle/>
          <a:p>
            <a:endParaRPr lang="en-IN"/>
          </a:p>
        </p:txBody>
      </p:sp>
      <p:sp>
        <p:nvSpPr>
          <p:cNvPr id="11" name="Shape 9"/>
          <p:cNvSpPr/>
          <p:nvPr/>
        </p:nvSpPr>
        <p:spPr>
          <a:xfrm>
            <a:off x="4828032" y="1389888"/>
            <a:ext cx="54864" cy="1691640"/>
          </a:xfrm>
          <a:prstGeom prst="rect">
            <a:avLst/>
          </a:prstGeom>
          <a:solidFill>
            <a:srgbClr val="B91C1C"/>
          </a:solidFill>
          <a:ln w="12700">
            <a:solidFill>
              <a:srgbClr val="B91C1C"/>
            </a:solidFill>
            <a:prstDash val="solid"/>
          </a:ln>
        </p:spPr>
        <p:txBody>
          <a:bodyPr/>
          <a:lstStyle/>
          <a:p>
            <a:endParaRPr lang="en-IN"/>
          </a:p>
        </p:txBody>
      </p:sp>
      <p:sp>
        <p:nvSpPr>
          <p:cNvPr id="12" name="Shape 10"/>
          <p:cNvSpPr/>
          <p:nvPr/>
        </p:nvSpPr>
        <p:spPr>
          <a:xfrm>
            <a:off x="4992624" y="1499616"/>
            <a:ext cx="347472" cy="256032"/>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4992624" y="1499616"/>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T2</a:t>
            </a:r>
            <a:endParaRPr lang="en-US" sz="900" dirty="0"/>
          </a:p>
        </p:txBody>
      </p:sp>
      <p:sp>
        <p:nvSpPr>
          <p:cNvPr id="14" name="Text 12"/>
          <p:cNvSpPr/>
          <p:nvPr/>
        </p:nvSpPr>
        <p:spPr>
          <a:xfrm>
            <a:off x="5468112" y="1481328"/>
            <a:ext cx="3383280" cy="411480"/>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Justifying a premium price to resistant payers</a:t>
            </a:r>
            <a:endParaRPr lang="en-US" sz="1200" dirty="0"/>
          </a:p>
        </p:txBody>
      </p:sp>
      <p:sp>
        <p:nvSpPr>
          <p:cNvPr id="15" name="Text 13"/>
          <p:cNvSpPr/>
          <p:nvPr/>
        </p:nvSpPr>
        <p:spPr>
          <a:xfrm>
            <a:off x="4992624" y="1984248"/>
            <a:ext cx="3822192" cy="10058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The combination costs significantly more than platinum-based chemotherapy. The health economic argument must lead with QALY improvement and complete responder durability, not cost justification.</a:t>
            </a:r>
            <a:endParaRPr lang="en-US" sz="1050" dirty="0"/>
          </a:p>
        </p:txBody>
      </p:sp>
      <p:sp>
        <p:nvSpPr>
          <p:cNvPr id="16" name="Shape 14"/>
          <p:cNvSpPr/>
          <p:nvPr/>
        </p:nvSpPr>
        <p:spPr>
          <a:xfrm>
            <a:off x="457200" y="3236976"/>
            <a:ext cx="4187952" cy="1691640"/>
          </a:xfrm>
          <a:prstGeom prst="rect">
            <a:avLst/>
          </a:prstGeom>
          <a:solidFill>
            <a:srgbClr val="F8FAFC"/>
          </a:solidFill>
          <a:ln w="6350">
            <a:solidFill>
              <a:srgbClr val="E2E8F0"/>
            </a:solidFill>
            <a:prstDash val="solid"/>
          </a:ln>
        </p:spPr>
        <p:txBody>
          <a:bodyPr/>
          <a:lstStyle/>
          <a:p>
            <a:endParaRPr lang="en-IN"/>
          </a:p>
        </p:txBody>
      </p:sp>
      <p:sp>
        <p:nvSpPr>
          <p:cNvPr id="17" name="Shape 15"/>
          <p:cNvSpPr/>
          <p:nvPr/>
        </p:nvSpPr>
        <p:spPr>
          <a:xfrm>
            <a:off x="457200" y="3236976"/>
            <a:ext cx="54864" cy="1691640"/>
          </a:xfrm>
          <a:prstGeom prst="rect">
            <a:avLst/>
          </a:prstGeom>
          <a:solidFill>
            <a:srgbClr val="0093D0"/>
          </a:solidFill>
          <a:ln w="12700">
            <a:solidFill>
              <a:srgbClr val="0093D0"/>
            </a:solidFill>
            <a:prstDash val="solid"/>
          </a:ln>
        </p:spPr>
        <p:txBody>
          <a:bodyPr/>
          <a:lstStyle/>
          <a:p>
            <a:endParaRPr lang="en-IN"/>
          </a:p>
        </p:txBody>
      </p:sp>
      <p:sp>
        <p:nvSpPr>
          <p:cNvPr id="18" name="Shape 16"/>
          <p:cNvSpPr/>
          <p:nvPr/>
        </p:nvSpPr>
        <p:spPr>
          <a:xfrm>
            <a:off x="621792" y="3346704"/>
            <a:ext cx="347472" cy="256032"/>
          </a:xfrm>
          <a:prstGeom prst="rect">
            <a:avLst/>
          </a:prstGeom>
          <a:solidFill>
            <a:srgbClr val="0093D0"/>
          </a:solidFill>
          <a:ln w="12700">
            <a:solidFill>
              <a:srgbClr val="0093D0"/>
            </a:solidFill>
            <a:prstDash val="solid"/>
          </a:ln>
        </p:spPr>
        <p:txBody>
          <a:bodyPr/>
          <a:lstStyle/>
          <a:p>
            <a:endParaRPr lang="en-IN"/>
          </a:p>
        </p:txBody>
      </p:sp>
      <p:sp>
        <p:nvSpPr>
          <p:cNvPr id="19" name="Text 17"/>
          <p:cNvSpPr/>
          <p:nvPr/>
        </p:nvSpPr>
        <p:spPr>
          <a:xfrm>
            <a:off x="621792" y="3346704"/>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T3</a:t>
            </a:r>
            <a:endParaRPr lang="en-US" sz="900" dirty="0"/>
          </a:p>
        </p:txBody>
      </p:sp>
      <p:sp>
        <p:nvSpPr>
          <p:cNvPr id="20" name="Text 18"/>
          <p:cNvSpPr/>
          <p:nvPr/>
        </p:nvSpPr>
        <p:spPr>
          <a:xfrm>
            <a:off x="1097280" y="3328416"/>
            <a:ext cx="3383280" cy="411480"/>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Reaching a specialty prescriber with ADC unfamiliarity</a:t>
            </a:r>
            <a:endParaRPr lang="en-US" sz="1200" dirty="0"/>
          </a:p>
        </p:txBody>
      </p:sp>
      <p:sp>
        <p:nvSpPr>
          <p:cNvPr id="21" name="Text 19"/>
          <p:cNvSpPr/>
          <p:nvPr/>
        </p:nvSpPr>
        <p:spPr>
          <a:xfrm>
            <a:off x="621792" y="3831336"/>
            <a:ext cx="3822192" cy="10058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Bladder cancer is treated by urologic oncologists who may have less ADC familiarity than hematologic oncologists. The educational and promotional burden is higher and spans multiple specialty types.</a:t>
            </a:r>
            <a:endParaRPr lang="en-US" sz="1050" dirty="0"/>
          </a:p>
        </p:txBody>
      </p:sp>
      <p:sp>
        <p:nvSpPr>
          <p:cNvPr id="22" name="Shape 20"/>
          <p:cNvSpPr/>
          <p:nvPr/>
        </p:nvSpPr>
        <p:spPr>
          <a:xfrm>
            <a:off x="4828032" y="3236976"/>
            <a:ext cx="4187952" cy="1691640"/>
          </a:xfrm>
          <a:prstGeom prst="rect">
            <a:avLst/>
          </a:prstGeom>
          <a:solidFill>
            <a:srgbClr val="F8FAFC"/>
          </a:solidFill>
          <a:ln w="6350">
            <a:solidFill>
              <a:srgbClr val="E2E8F0"/>
            </a:solidFill>
            <a:prstDash val="solid"/>
          </a:ln>
        </p:spPr>
        <p:txBody>
          <a:bodyPr/>
          <a:lstStyle/>
          <a:p>
            <a:endParaRPr lang="en-IN"/>
          </a:p>
        </p:txBody>
      </p:sp>
      <p:sp>
        <p:nvSpPr>
          <p:cNvPr id="23" name="Shape 21"/>
          <p:cNvSpPr/>
          <p:nvPr/>
        </p:nvSpPr>
        <p:spPr>
          <a:xfrm>
            <a:off x="4828032" y="3236976"/>
            <a:ext cx="54864" cy="1691640"/>
          </a:xfrm>
          <a:prstGeom prst="rect">
            <a:avLst/>
          </a:prstGeom>
          <a:solidFill>
            <a:srgbClr val="7C3AED"/>
          </a:solidFill>
          <a:ln w="12700">
            <a:solidFill>
              <a:srgbClr val="7C3AED"/>
            </a:solidFill>
            <a:prstDash val="solid"/>
          </a:ln>
        </p:spPr>
        <p:txBody>
          <a:bodyPr/>
          <a:lstStyle/>
          <a:p>
            <a:endParaRPr lang="en-IN"/>
          </a:p>
        </p:txBody>
      </p:sp>
      <p:sp>
        <p:nvSpPr>
          <p:cNvPr id="24" name="Shape 22"/>
          <p:cNvSpPr/>
          <p:nvPr/>
        </p:nvSpPr>
        <p:spPr>
          <a:xfrm>
            <a:off x="4992624" y="3346704"/>
            <a:ext cx="347472" cy="256032"/>
          </a:xfrm>
          <a:prstGeom prst="rect">
            <a:avLst/>
          </a:prstGeom>
          <a:solidFill>
            <a:srgbClr val="7C3AED"/>
          </a:solidFill>
          <a:ln w="12700">
            <a:solidFill>
              <a:srgbClr val="7C3AED"/>
            </a:solidFill>
            <a:prstDash val="solid"/>
          </a:ln>
        </p:spPr>
        <p:txBody>
          <a:bodyPr/>
          <a:lstStyle/>
          <a:p>
            <a:endParaRPr lang="en-IN"/>
          </a:p>
        </p:txBody>
      </p:sp>
      <p:sp>
        <p:nvSpPr>
          <p:cNvPr id="25" name="Text 23"/>
          <p:cNvSpPr/>
          <p:nvPr/>
        </p:nvSpPr>
        <p:spPr>
          <a:xfrm>
            <a:off x="4992624" y="3346704"/>
            <a:ext cx="34747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T4</a:t>
            </a:r>
            <a:endParaRPr lang="en-US" sz="900" dirty="0"/>
          </a:p>
        </p:txBody>
      </p:sp>
      <p:sp>
        <p:nvSpPr>
          <p:cNvPr id="26" name="Text 24"/>
          <p:cNvSpPr/>
          <p:nvPr/>
        </p:nvSpPr>
        <p:spPr>
          <a:xfrm>
            <a:off x="5468112" y="3328416"/>
            <a:ext cx="3383280" cy="411480"/>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The $43B acquisition must be commercially justified</a:t>
            </a:r>
            <a:endParaRPr lang="en-US" sz="1200" dirty="0"/>
          </a:p>
        </p:txBody>
      </p:sp>
      <p:sp>
        <p:nvSpPr>
          <p:cNvPr id="27" name="Text 25"/>
          <p:cNvSpPr/>
          <p:nvPr/>
        </p:nvSpPr>
        <p:spPr>
          <a:xfrm>
            <a:off x="4992624" y="3831336"/>
            <a:ext cx="3822192" cy="10058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Pfizer paid 22x Seagen's revenue. Investors and the board are watching Padcev's commercial trajectory as the primary signal of whether that bet will generate the promised returns.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12C5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93D0"/>
          </a:solidFill>
          <a:ln w="12700">
            <a:solidFill>
              <a:srgbClr val="0093D0"/>
            </a:solidFill>
            <a:prstDash val="solid"/>
          </a:ln>
        </p:spPr>
        <p:txBody>
          <a:bodyPr/>
          <a:lstStyle/>
          <a:p>
            <a:endParaRPr lang="en-IN"/>
          </a:p>
        </p:txBody>
      </p:sp>
      <p:sp>
        <p:nvSpPr>
          <p:cNvPr id="3" name="Text 1"/>
          <p:cNvSpPr/>
          <p:nvPr/>
        </p:nvSpPr>
        <p:spPr>
          <a:xfrm>
            <a:off x="594360" y="384048"/>
            <a:ext cx="8229600" cy="219456"/>
          </a:xfrm>
          <a:prstGeom prst="rect">
            <a:avLst/>
          </a:prstGeom>
          <a:noFill/>
          <a:ln/>
        </p:spPr>
        <p:txBody>
          <a:bodyPr wrap="square" lIns="0" tIns="0" rIns="0" bIns="0" rtlCol="0" anchor="ctr"/>
          <a:lstStyle/>
          <a:p>
            <a:pPr marL="0" indent="0">
              <a:buNone/>
            </a:pPr>
            <a:r>
              <a:rPr lang="en-US" sz="850" b="1" kern="0" spc="300" dirty="0">
                <a:solidFill>
                  <a:srgbClr val="3A7A9C"/>
                </a:solidFill>
                <a:latin typeface="Calibri" pitchFamily="34" charset="0"/>
                <a:ea typeface="Calibri" pitchFamily="34" charset="-122"/>
                <a:cs typeface="Calibri" pitchFamily="34" charset="-120"/>
              </a:rPr>
              <a:t>SKILLS DEMONSTRATED IN THIS PROJECT</a:t>
            </a:r>
            <a:endParaRPr lang="en-US" sz="850" dirty="0"/>
          </a:p>
        </p:txBody>
      </p:sp>
      <p:sp>
        <p:nvSpPr>
          <p:cNvPr id="4" name="Text 2"/>
          <p:cNvSpPr/>
          <p:nvPr/>
        </p:nvSpPr>
        <p:spPr>
          <a:xfrm>
            <a:off x="594360" y="713232"/>
            <a:ext cx="8229600" cy="914400"/>
          </a:xfrm>
          <a:prstGeom prst="rect">
            <a:avLst/>
          </a:prstGeom>
          <a:noFill/>
          <a:ln/>
        </p:spPr>
        <p:txBody>
          <a:bodyPr wrap="square" lIns="0" tIns="0" rIns="0" bIns="0" rtlCol="0" anchor="ctr"/>
          <a:lstStyle/>
          <a:p>
            <a:pPr marL="0" indent="0">
              <a:buNone/>
            </a:pPr>
            <a:r>
              <a:rPr lang="en-US" sz="3200" dirty="0">
                <a:solidFill>
                  <a:srgbClr val="FFFFFF"/>
                </a:solidFill>
                <a:latin typeface="Georgia" pitchFamily="34" charset="0"/>
                <a:ea typeface="Georgia" pitchFamily="34" charset="-122"/>
                <a:cs typeface="Georgia" pitchFamily="34" charset="-120"/>
              </a:rPr>
              <a:t>Complete Pharmaceutical</a:t>
            </a:r>
            <a:endParaRPr lang="en-US" sz="3200" dirty="0"/>
          </a:p>
          <a:p>
            <a:pPr marL="0" indent="0">
              <a:buNone/>
            </a:pPr>
            <a:r>
              <a:rPr lang="en-US" sz="3200" dirty="0">
                <a:solidFill>
                  <a:srgbClr val="FFFFFF"/>
                </a:solidFill>
                <a:latin typeface="Georgia" pitchFamily="34" charset="0"/>
                <a:ea typeface="Georgia" pitchFamily="34" charset="-122"/>
                <a:cs typeface="Georgia" pitchFamily="34" charset="-120"/>
              </a:rPr>
              <a:t>Product Marketing</a:t>
            </a:r>
            <a:endParaRPr lang="en-US" sz="3200" dirty="0"/>
          </a:p>
        </p:txBody>
      </p:sp>
      <p:sp>
        <p:nvSpPr>
          <p:cNvPr id="5" name="Shape 3"/>
          <p:cNvSpPr/>
          <p:nvPr/>
        </p:nvSpPr>
        <p:spPr>
          <a:xfrm>
            <a:off x="594360" y="1755648"/>
            <a:ext cx="8046720" cy="18288"/>
          </a:xfrm>
          <a:prstGeom prst="rect">
            <a:avLst/>
          </a:prstGeom>
          <a:solidFill>
            <a:srgbClr val="0E2E5A"/>
          </a:solidFill>
          <a:ln w="12700">
            <a:solidFill>
              <a:srgbClr val="0E2E5A"/>
            </a:solidFill>
            <a:prstDash val="solid"/>
          </a:ln>
        </p:spPr>
        <p:txBody>
          <a:bodyPr/>
          <a:lstStyle/>
          <a:p>
            <a:endParaRPr lang="en-IN"/>
          </a:p>
        </p:txBody>
      </p:sp>
      <p:sp>
        <p:nvSpPr>
          <p:cNvPr id="6" name="Text 4"/>
          <p:cNvSpPr/>
          <p:nvPr/>
        </p:nvSpPr>
        <p:spPr>
          <a:xfrm>
            <a:off x="643595" y="1889994"/>
            <a:ext cx="4114800" cy="420624"/>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Scientific fluency: ADC mechanism, clinical trial endpoints, hazard ratios, complete response interpretation</a:t>
            </a:r>
            <a:endParaRPr lang="en-US" sz="1050" dirty="0"/>
          </a:p>
        </p:txBody>
      </p:sp>
      <p:sp>
        <p:nvSpPr>
          <p:cNvPr id="7" name="Shape 5"/>
          <p:cNvSpPr/>
          <p:nvPr/>
        </p:nvSpPr>
        <p:spPr>
          <a:xfrm>
            <a:off x="594360" y="1993392"/>
            <a:ext cx="36576" cy="164592"/>
          </a:xfrm>
          <a:prstGeom prst="rect">
            <a:avLst/>
          </a:prstGeom>
          <a:solidFill>
            <a:srgbClr val="0093D0"/>
          </a:solidFill>
          <a:ln w="12700">
            <a:solidFill>
              <a:srgbClr val="0093D0"/>
            </a:solidFill>
            <a:prstDash val="solid"/>
          </a:ln>
        </p:spPr>
        <p:txBody>
          <a:bodyPr/>
          <a:lstStyle/>
          <a:p>
            <a:endParaRPr lang="en-IN"/>
          </a:p>
        </p:txBody>
      </p:sp>
      <p:sp>
        <p:nvSpPr>
          <p:cNvPr id="8" name="Text 6"/>
          <p:cNvSpPr/>
          <p:nvPr/>
        </p:nvSpPr>
        <p:spPr>
          <a:xfrm>
            <a:off x="643598" y="2402058"/>
            <a:ext cx="411480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Regulatory compliance: FDA promotional regulations, MLR process, fair balance, permissible vs. impermissible claims</a:t>
            </a:r>
            <a:endParaRPr lang="en-US" sz="1050" dirty="0"/>
          </a:p>
        </p:txBody>
      </p:sp>
      <p:sp>
        <p:nvSpPr>
          <p:cNvPr id="9" name="Shape 7"/>
          <p:cNvSpPr/>
          <p:nvPr/>
        </p:nvSpPr>
        <p:spPr>
          <a:xfrm>
            <a:off x="594360" y="2496312"/>
            <a:ext cx="36576" cy="164592"/>
          </a:xfrm>
          <a:prstGeom prst="rect">
            <a:avLst/>
          </a:prstGeom>
          <a:solidFill>
            <a:srgbClr val="0093D0"/>
          </a:solidFill>
          <a:ln w="12700">
            <a:solidFill>
              <a:srgbClr val="0093D0"/>
            </a:solidFill>
            <a:prstDash val="solid"/>
          </a:ln>
        </p:spPr>
        <p:txBody>
          <a:bodyPr/>
          <a:lstStyle/>
          <a:p>
            <a:endParaRPr lang="en-IN"/>
          </a:p>
        </p:txBody>
      </p:sp>
      <p:sp>
        <p:nvSpPr>
          <p:cNvPr id="10" name="Text 8"/>
          <p:cNvSpPr/>
          <p:nvPr/>
        </p:nvSpPr>
        <p:spPr>
          <a:xfrm>
            <a:off x="650632" y="2904978"/>
            <a:ext cx="411480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HCP segmentation: multi-specialty prescriber universe, academic-to-community diffusion, KOL engagement strategy</a:t>
            </a:r>
            <a:endParaRPr lang="en-US" sz="1050" dirty="0"/>
          </a:p>
        </p:txBody>
      </p:sp>
      <p:sp>
        <p:nvSpPr>
          <p:cNvPr id="11" name="Shape 9"/>
          <p:cNvSpPr/>
          <p:nvPr/>
        </p:nvSpPr>
        <p:spPr>
          <a:xfrm>
            <a:off x="594360" y="2999232"/>
            <a:ext cx="36576" cy="164592"/>
          </a:xfrm>
          <a:prstGeom prst="rect">
            <a:avLst/>
          </a:prstGeom>
          <a:solidFill>
            <a:srgbClr val="0093D0"/>
          </a:solidFill>
          <a:ln w="12700">
            <a:solidFill>
              <a:srgbClr val="0093D0"/>
            </a:solidFill>
            <a:prstDash val="solid"/>
          </a:ln>
        </p:spPr>
        <p:txBody>
          <a:bodyPr/>
          <a:lstStyle/>
          <a:p>
            <a:endParaRPr lang="en-IN"/>
          </a:p>
        </p:txBody>
      </p:sp>
      <p:sp>
        <p:nvSpPr>
          <p:cNvPr id="12" name="Text 10"/>
          <p:cNvSpPr/>
          <p:nvPr/>
        </p:nvSpPr>
        <p:spPr>
          <a:xfrm>
            <a:off x="650632" y="3414932"/>
            <a:ext cx="411480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Payer literacy: commercial and Medicare Part B/Advantage dynamics, P&amp;T committee process, QALY-based health economic argument</a:t>
            </a:r>
            <a:endParaRPr lang="en-US" sz="1050" dirty="0"/>
          </a:p>
        </p:txBody>
      </p:sp>
      <p:sp>
        <p:nvSpPr>
          <p:cNvPr id="13" name="Shape 11"/>
          <p:cNvSpPr/>
          <p:nvPr/>
        </p:nvSpPr>
        <p:spPr>
          <a:xfrm>
            <a:off x="594360" y="3502152"/>
            <a:ext cx="36576" cy="164592"/>
          </a:xfrm>
          <a:prstGeom prst="rect">
            <a:avLst/>
          </a:prstGeom>
          <a:solidFill>
            <a:srgbClr val="0093D0"/>
          </a:solidFill>
          <a:ln w="12700">
            <a:solidFill>
              <a:srgbClr val="0093D0"/>
            </a:solidFill>
            <a:prstDash val="solid"/>
          </a:ln>
        </p:spPr>
        <p:txBody>
          <a:bodyPr/>
          <a:lstStyle/>
          <a:p>
            <a:endParaRPr lang="en-IN"/>
          </a:p>
        </p:txBody>
      </p:sp>
      <p:sp>
        <p:nvSpPr>
          <p:cNvPr id="14" name="Text 12"/>
          <p:cNvSpPr/>
          <p:nvPr/>
        </p:nvSpPr>
        <p:spPr>
          <a:xfrm>
            <a:off x="4948312" y="1885070"/>
            <a:ext cx="384048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Patient journey mapping: five-stage journey with commercial intervention points, caregiver lens, digital touchpoint optimization</a:t>
            </a:r>
            <a:endParaRPr lang="en-US" sz="1050" dirty="0"/>
          </a:p>
        </p:txBody>
      </p:sp>
      <p:sp>
        <p:nvSpPr>
          <p:cNvPr id="15" name="Shape 13"/>
          <p:cNvSpPr/>
          <p:nvPr/>
        </p:nvSpPr>
        <p:spPr>
          <a:xfrm>
            <a:off x="4892040" y="1993392"/>
            <a:ext cx="36576" cy="164592"/>
          </a:xfrm>
          <a:prstGeom prst="rect">
            <a:avLst/>
          </a:prstGeom>
          <a:solidFill>
            <a:srgbClr val="0093D0"/>
          </a:solidFill>
          <a:ln w="12700">
            <a:solidFill>
              <a:srgbClr val="0093D0"/>
            </a:solidFill>
            <a:prstDash val="solid"/>
          </a:ln>
        </p:spPr>
        <p:txBody>
          <a:bodyPr/>
          <a:lstStyle/>
          <a:p>
            <a:endParaRPr lang="en-IN"/>
          </a:p>
        </p:txBody>
      </p:sp>
      <p:sp>
        <p:nvSpPr>
          <p:cNvPr id="16" name="Text 14"/>
          <p:cNvSpPr/>
          <p:nvPr/>
        </p:nvSpPr>
        <p:spPr>
          <a:xfrm>
            <a:off x="4941278" y="2402058"/>
            <a:ext cx="384048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Pharmaceutical launch excellence: T-12 pre-approval readiness through 12-month penetration, cross-functional coordination</a:t>
            </a:r>
            <a:endParaRPr lang="en-US" sz="1050" dirty="0"/>
          </a:p>
        </p:txBody>
      </p:sp>
      <p:sp>
        <p:nvSpPr>
          <p:cNvPr id="17" name="Shape 15"/>
          <p:cNvSpPr/>
          <p:nvPr/>
        </p:nvSpPr>
        <p:spPr>
          <a:xfrm>
            <a:off x="4892040" y="2496312"/>
            <a:ext cx="36576" cy="164592"/>
          </a:xfrm>
          <a:prstGeom prst="rect">
            <a:avLst/>
          </a:prstGeom>
          <a:solidFill>
            <a:srgbClr val="0093D0"/>
          </a:solidFill>
          <a:ln w="12700">
            <a:solidFill>
              <a:srgbClr val="0093D0"/>
            </a:solidFill>
            <a:prstDash val="solid"/>
          </a:ln>
        </p:spPr>
        <p:txBody>
          <a:bodyPr/>
          <a:lstStyle/>
          <a:p>
            <a:endParaRPr lang="en-IN"/>
          </a:p>
        </p:txBody>
      </p:sp>
      <p:sp>
        <p:nvSpPr>
          <p:cNvPr id="18" name="Text 16"/>
          <p:cNvSpPr/>
          <p:nvPr/>
        </p:nvSpPr>
        <p:spPr>
          <a:xfrm>
            <a:off x="4941278" y="2890910"/>
            <a:ext cx="384048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Market access strategy: formulary dossier, PA criteria negotiation, patient assistance program design including Medicare constraints</a:t>
            </a:r>
            <a:endParaRPr lang="en-US" sz="1050" dirty="0"/>
          </a:p>
        </p:txBody>
      </p:sp>
      <p:sp>
        <p:nvSpPr>
          <p:cNvPr id="19" name="Shape 17"/>
          <p:cNvSpPr/>
          <p:nvPr/>
        </p:nvSpPr>
        <p:spPr>
          <a:xfrm>
            <a:off x="4892040" y="2999232"/>
            <a:ext cx="36576" cy="164592"/>
          </a:xfrm>
          <a:prstGeom prst="rect">
            <a:avLst/>
          </a:prstGeom>
          <a:solidFill>
            <a:srgbClr val="0093D0"/>
          </a:solidFill>
          <a:ln w="12700">
            <a:solidFill>
              <a:srgbClr val="0093D0"/>
            </a:solidFill>
            <a:prstDash val="solid"/>
          </a:ln>
        </p:spPr>
        <p:txBody>
          <a:bodyPr/>
          <a:lstStyle/>
          <a:p>
            <a:endParaRPr lang="en-IN"/>
          </a:p>
        </p:txBody>
      </p:sp>
      <p:sp>
        <p:nvSpPr>
          <p:cNvPr id="20" name="Text 18"/>
          <p:cNvSpPr/>
          <p:nvPr/>
        </p:nvSpPr>
        <p:spPr>
          <a:xfrm>
            <a:off x="4948312" y="3407898"/>
            <a:ext cx="3840480" cy="411480"/>
          </a:xfrm>
          <a:prstGeom prst="rect">
            <a:avLst/>
          </a:prstGeom>
          <a:noFill/>
          <a:ln/>
        </p:spPr>
        <p:txBody>
          <a:bodyPr wrap="square" lIns="0" tIns="0" rIns="0" bIns="0" rtlCol="0" anchor="ctr"/>
          <a:lstStyle/>
          <a:p>
            <a:pPr marL="0" indent="0">
              <a:buNone/>
            </a:pPr>
            <a:r>
              <a:rPr lang="en-US" sz="1050" dirty="0">
                <a:solidFill>
                  <a:srgbClr val="5A8A9A"/>
                </a:solidFill>
                <a:latin typeface="Calibri" pitchFamily="34" charset="0"/>
                <a:ea typeface="Calibri" pitchFamily="34" charset="-122"/>
                <a:cs typeface="Calibri" pitchFamily="34" charset="-120"/>
              </a:rPr>
              <a:t>Competitive intelligence in regulated environment: permissible comparative messaging, battle card design with compliance guardrails</a:t>
            </a:r>
            <a:endParaRPr lang="en-US" sz="1050" dirty="0"/>
          </a:p>
        </p:txBody>
      </p:sp>
      <p:sp>
        <p:nvSpPr>
          <p:cNvPr id="21" name="Shape 19"/>
          <p:cNvSpPr/>
          <p:nvPr/>
        </p:nvSpPr>
        <p:spPr>
          <a:xfrm>
            <a:off x="4892040" y="3502152"/>
            <a:ext cx="36576" cy="164592"/>
          </a:xfrm>
          <a:prstGeom prst="rect">
            <a:avLst/>
          </a:prstGeom>
          <a:solidFill>
            <a:srgbClr val="0093D0"/>
          </a:solidFill>
          <a:ln w="12700">
            <a:solidFill>
              <a:srgbClr val="0093D0"/>
            </a:solidFill>
            <a:prstDash val="solid"/>
          </a:ln>
        </p:spPr>
        <p:txBody>
          <a:bodyPr/>
          <a:lstStyle/>
          <a:p>
            <a:endParaRPr lang="en-IN"/>
          </a:p>
        </p:txBody>
      </p:sp>
      <p:sp>
        <p:nvSpPr>
          <p:cNvPr id="22" name="Shape 20"/>
          <p:cNvSpPr/>
          <p:nvPr/>
        </p:nvSpPr>
        <p:spPr>
          <a:xfrm>
            <a:off x="594360" y="3950208"/>
            <a:ext cx="8046720" cy="18288"/>
          </a:xfrm>
          <a:prstGeom prst="rect">
            <a:avLst/>
          </a:prstGeom>
          <a:solidFill>
            <a:srgbClr val="0E2E5A"/>
          </a:solidFill>
          <a:ln w="12700">
            <a:solidFill>
              <a:srgbClr val="0E2E5A"/>
            </a:solidFill>
            <a:prstDash val="solid"/>
          </a:ln>
        </p:spPr>
        <p:txBody>
          <a:bodyPr/>
          <a:lstStyle/>
          <a:p>
            <a:endParaRPr lang="en-IN"/>
          </a:p>
        </p:txBody>
      </p:sp>
      <p:sp>
        <p:nvSpPr>
          <p:cNvPr id="23" name="Text 21"/>
          <p:cNvSpPr/>
          <p:nvPr/>
        </p:nvSpPr>
        <p:spPr>
          <a:xfrm>
            <a:off x="594360" y="4096512"/>
            <a:ext cx="8046720" cy="347472"/>
          </a:xfrm>
          <a:prstGeom prst="rect">
            <a:avLst/>
          </a:prstGeom>
          <a:noFill/>
          <a:ln/>
        </p:spPr>
        <p:txBody>
          <a:bodyPr wrap="square" lIns="0" tIns="0" rIns="0" bIns="0" rtlCol="0" anchor="ctr"/>
          <a:lstStyle/>
          <a:p>
            <a:pPr marL="0" indent="0">
              <a:buNone/>
            </a:pPr>
            <a:r>
              <a:rPr lang="en-US" sz="900" i="1" dirty="0">
                <a:solidFill>
                  <a:srgbClr val="2A5A7A"/>
                </a:solidFill>
                <a:latin typeface="Calibri" pitchFamily="34" charset="0"/>
                <a:ea typeface="Calibri" pitchFamily="34" charset="-122"/>
                <a:cs typeface="Calibri" pitchFamily="34" charset="-120"/>
              </a:rPr>
              <a:t>All clinical data drawn from FDA prescribing information, EV-302/KEYNOTE-A39 (NEJM 2024), and Pfizer/Astellas public disclosures. Strategic recommendations are illustrative for portfolio purposes.</a:t>
            </a:r>
            <a:endParaRPr lang="en-US" sz="900" dirty="0"/>
          </a:p>
        </p:txBody>
      </p:sp>
      <p:sp>
        <p:nvSpPr>
          <p:cNvPr id="24" name="Shape 22"/>
          <p:cNvSpPr/>
          <p:nvPr/>
        </p:nvSpPr>
        <p:spPr>
          <a:xfrm>
            <a:off x="7132320" y="4553712"/>
            <a:ext cx="1600200" cy="347472"/>
          </a:xfrm>
          <a:prstGeom prst="rect">
            <a:avLst/>
          </a:prstGeom>
          <a:solidFill>
            <a:srgbClr val="006BA6"/>
          </a:solidFill>
          <a:ln w="12700">
            <a:solidFill>
              <a:srgbClr val="006BA6"/>
            </a:solidFill>
            <a:prstDash val="solid"/>
          </a:ln>
        </p:spPr>
        <p:txBody>
          <a:bodyPr/>
          <a:lstStyle/>
          <a:p>
            <a:endParaRPr lang="en-IN"/>
          </a:p>
        </p:txBody>
      </p:sp>
      <p:sp>
        <p:nvSpPr>
          <p:cNvPr id="25" name="Text 23"/>
          <p:cNvSpPr/>
          <p:nvPr/>
        </p:nvSpPr>
        <p:spPr>
          <a:xfrm>
            <a:off x="7132320" y="4553712"/>
            <a:ext cx="1600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PMM PORTFOLIO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4023</Words>
  <Application>Microsoft Office PowerPoint</Application>
  <PresentationFormat>On-screen Show (16:9)</PresentationFormat>
  <Paragraphs>500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Pfizer Oncology: Padcev 1L Launch Strategy</dc:title>
  <dc:subject>PptxGenJS Presentation</dc:subject>
  <dc:creator>PptxGenJS</dc:creator>
  <cp:lastModifiedBy>Singh, Soniya</cp:lastModifiedBy>
  <cp:revision>2</cp:revision>
  <dcterms:created xsi:type="dcterms:W3CDTF">2026-06-09T01:21:21Z</dcterms:created>
  <dcterms:modified xsi:type="dcterms:W3CDTF">2026-06-09T01:26:45Z</dcterms:modified>
</cp:coreProperties>
</file>